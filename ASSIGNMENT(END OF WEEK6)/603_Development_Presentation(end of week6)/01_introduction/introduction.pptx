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3"/>
    <p:sldId id="257" r:id="rId5"/>
    <p:sldId id="258" r:id="rId6"/>
    <p:sldId id="259" r:id="rId7"/>
    <p:sldId id="260" r:id="rId8"/>
    <p:sldId id="262" r:id="rId9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685800" y="6858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93C5FD"/>
                </a:solidFill>
              </a:defRPr>
            </a:defPPr>
          </a:lstStyle>
          <a:p>
            <a:pPr>
              <a:defRPr sz="1350" b="1">
                <a:solidFill>
                  <a:srgbClr val="93C5FD"/>
                </a:solidFill>
              </a:defRPr>
            </a:pPr>
            <a:r>
              <a:rPr sz="1350" b="1">
                <a:solidFill>
                  <a:srgbClr val="93C5FD"/>
                </a:solidFill>
              </a:rPr>
              <a:t>UFCEP6 0 3</a:t>
            </a:r>
            <a:endParaRPr sz="1350" b="1">
              <a:solidFill>
                <a:srgbClr val="93C5FD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1390650"/>
            <a:ext cx="7620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FFFFFF"/>
                </a:solidFill>
              </a:defRPr>
            </a:defPPr>
          </a:lstStyle>
          <a:p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Release 2 Integrated</a:t>
            </a:r>
            <a:endParaRPr sz="3300" b="1">
              <a:solidFill>
                <a:srgbClr val="FFFFFF"/>
              </a:solidFill>
            </a:endParaRPr>
          </a:p>
          <a:p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Hospital Patient Pathway</a:t>
            </a:r>
            <a:endParaRPr sz="330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3114675"/>
            <a:ext cx="7239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DCE9F7"/>
                </a:solidFill>
              </a:defRPr>
            </a:defPPr>
          </a:lstStyle>
          <a:p>
            <a:pPr>
              <a:defRPr sz="1725" b="0">
                <a:solidFill>
                  <a:srgbClr val="DCE9F7"/>
                </a:solidFill>
              </a:defRPr>
            </a:pPr>
            <a:r>
              <a:rPr sz="1725" b="0">
                <a:solidFill>
                  <a:srgbClr val="DCE9F7"/>
                </a:solidFill>
              </a:rPr>
              <a:t>Operational BPMN, Camunda Forms, external workers and persistence</a:t>
            </a:r>
            <a:endParaRPr sz="1725" b="0">
              <a:solidFill>
                <a:srgbClr val="DCE9F7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85800" y="4552950"/>
            <a:ext cx="10001250" cy="1047750"/>
          </a:xfrm>
          <a:prstGeom prst="roundRect">
            <a:avLst>
              <a:gd name="adj" fmla="val 10909"/>
            </a:avLst>
          </a:prstGeom>
          <a:solidFill>
            <a:srgbClr val="234864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14400" y="483870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FFFFFF"/>
                </a:solidFill>
              </a:defRPr>
            </a:defPPr>
          </a:lstStyle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Submission package includes presentation, evidence documents, executable BPMN, forms, worker source and run instructions.</a:t>
            </a:r>
            <a:endParaRPr sz="1500" b="0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0960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93C5FD"/>
                </a:solidFill>
              </a:defRPr>
            </a:defPPr>
          </a:lstStyle>
          <a:p>
            <a:pPr>
              <a:defRPr sz="1125" b="1">
                <a:solidFill>
                  <a:srgbClr val="93C5FD"/>
                </a:solidFill>
              </a:defRPr>
            </a:pPr>
            <a:r>
              <a:rPr sz="1125" b="1">
                <a:solidFill>
                  <a:srgbClr val="93C5FD"/>
                </a:solidFill>
              </a:rPr>
              <a:t>20 October 2026</a:t>
            </a:r>
            <a:endParaRPr sz="1125" b="1">
              <a:solidFill>
                <a:srgbClr val="93C5F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609600" y="3048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0F766E"/>
                </a:solidFill>
              </a:defRPr>
            </a:defPPr>
          </a:lstStyle>
          <a:p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UFCEP6 0 3  Release 2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0485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18324A"/>
                </a:solidFill>
              </a:defRPr>
            </a:defPPr>
          </a:lstStyle>
          <a:p>
            <a:pPr>
              <a:defRPr sz="2400" b="1">
                <a:solidFill>
                  <a:srgbClr val="18324A"/>
                </a:solidFill>
              </a:defRPr>
            </a:pPr>
            <a:r>
              <a:rPr sz="2400" b="1">
                <a:solidFill>
                  <a:srgbClr val="18324A"/>
                </a:solidFill>
              </a:rPr>
              <a:t>Release 2 system scope</a:t>
            </a:r>
            <a:endParaRPr sz="2400" b="1">
              <a:solidFill>
                <a:srgbClr val="18324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619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526276"/>
                </a:solidFill>
              </a:defRPr>
            </a:defPPr>
          </a:lstStyle>
          <a:p>
            <a:pPr>
              <a:defRPr sz="1050" b="1">
                <a:solidFill>
                  <a:srgbClr val="526276"/>
                </a:solidFill>
              </a:defRPr>
            </a:pPr>
            <a:r>
              <a:rPr sz="1050" b="1">
                <a:solidFill>
                  <a:srgbClr val="526276"/>
                </a:solidFill>
              </a:rPr>
              <a:t>02</a:t>
            </a:r>
            <a:endParaRPr sz="1050" b="1">
              <a:solidFill>
                <a:srgbClr val="526276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314450"/>
            <a:ext cx="109728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1952625"/>
            <a:ext cx="1952625" cy="238125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171700"/>
            <a:ext cx="1609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18324A"/>
                </a:solidFill>
              </a:defRPr>
            </a:defPPr>
          </a:lstStyle>
          <a:p>
            <a:pPr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Referral</a:t>
            </a:r>
            <a:endParaRPr sz="1425" b="1">
              <a:solidFill>
                <a:srgbClr val="18324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647950"/>
            <a:ext cx="1609725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276"/>
                </a:solidFill>
              </a:defRPr>
            </a:defPPr>
          </a:lstStyle>
          <a:p>
            <a:pPr>
              <a:defRPr sz="1200" b="0">
                <a:solidFill>
                  <a:srgbClr val="526276"/>
                </a:solidFill>
              </a:defRPr>
            </a:pPr>
            <a:r>
              <a:rPr sz="1200" b="0">
                <a:solidFill>
                  <a:srgbClr val="526276"/>
                </a:solidFill>
              </a:rPr>
              <a:t>Validate referral and record consultant decision</a:t>
            </a:r>
            <a:endParaRPr sz="1200" b="0">
              <a:solidFill>
                <a:srgbClr val="526276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752725" y="1952625"/>
            <a:ext cx="1952625" cy="238125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924175" y="2171700"/>
            <a:ext cx="1609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18324A"/>
                </a:solidFill>
              </a:defRPr>
            </a:defPPr>
          </a:lstStyle>
          <a:p>
            <a:pPr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Appointment</a:t>
            </a:r>
            <a:endParaRPr sz="1425" b="1">
              <a:solidFill>
                <a:srgbClr val="18324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924175" y="2647950"/>
            <a:ext cx="1609725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276"/>
                </a:solidFill>
              </a:defRPr>
            </a:defPPr>
          </a:lstStyle>
          <a:p>
            <a:pPr>
              <a:defRPr sz="1200" b="0">
                <a:solidFill>
                  <a:srgbClr val="526276"/>
                </a:solidFill>
              </a:defRPr>
            </a:pPr>
            <a:r>
              <a:rPr sz="1200" b="0">
                <a:solidFill>
                  <a:srgbClr val="526276"/>
                </a:solidFill>
              </a:rPr>
              <a:t>Search slots, confirm contact and handle exceptions</a:t>
            </a:r>
            <a:endParaRPr sz="1200" b="0">
              <a:solidFill>
                <a:srgbClr val="526276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895850" y="1952625"/>
            <a:ext cx="1952625" cy="238125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067300" y="2171700"/>
            <a:ext cx="1609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18324A"/>
                </a:solidFill>
              </a:defRPr>
            </a:defPPr>
          </a:lstStyle>
          <a:p>
            <a:pPr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Finance</a:t>
            </a:r>
            <a:endParaRPr sz="1425" b="1">
              <a:solidFill>
                <a:srgbClr val="18324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067300" y="2647950"/>
            <a:ext cx="1609725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276"/>
                </a:solidFill>
              </a:defRPr>
            </a:defPPr>
          </a:lstStyle>
          <a:p>
            <a:pPr>
              <a:defRPr sz="1200" b="0">
                <a:solidFill>
                  <a:srgbClr val="526276"/>
                </a:solidFill>
              </a:defRPr>
            </a:pPr>
            <a:r>
              <a:rPr sz="1200" b="0">
                <a:solidFill>
                  <a:srgbClr val="526276"/>
                </a:solidFill>
              </a:rPr>
              <a:t>Determine funding, payment or refund and clearance</a:t>
            </a:r>
            <a:endParaRPr sz="1200" b="0">
              <a:solidFill>
                <a:srgbClr val="526276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038975" y="1952625"/>
            <a:ext cx="1952625" cy="238125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210425" y="2171700"/>
            <a:ext cx="1609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18324A"/>
                </a:solidFill>
              </a:defRPr>
            </a:defPPr>
          </a:lstStyle>
          <a:p>
            <a:pPr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Treatment</a:t>
            </a:r>
            <a:endParaRPr sz="1425" b="1">
              <a:solidFill>
                <a:srgbClr val="18324A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210425" y="2647950"/>
            <a:ext cx="1609725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276"/>
                </a:solidFill>
              </a:defRPr>
            </a:defPPr>
          </a:lstStyle>
          <a:p>
            <a:pPr>
              <a:defRPr sz="1200" b="0">
                <a:solidFill>
                  <a:srgbClr val="526276"/>
                </a:solidFill>
              </a:defRPr>
            </a:pPr>
            <a:r>
              <a:rPr sz="1200" b="0">
                <a:solidFill>
                  <a:srgbClr val="526276"/>
                </a:solidFill>
              </a:rPr>
              <a:t>Assess treatment, review cycle and record actions</a:t>
            </a:r>
            <a:endParaRPr sz="1200" b="0">
              <a:solidFill>
                <a:srgbClr val="526276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9182100" y="1952625"/>
            <a:ext cx="1952625" cy="238125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353550" y="2171700"/>
            <a:ext cx="1609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18324A"/>
                </a:solidFill>
              </a:defRPr>
            </a:defPPr>
          </a:lstStyle>
          <a:p>
            <a:pPr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Enquiry and letter</a:t>
            </a:r>
            <a:endParaRPr sz="1425" b="1">
              <a:solidFill>
                <a:srgbClr val="18324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353550" y="2647950"/>
            <a:ext cx="1609725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276"/>
                </a:solidFill>
              </a:defRPr>
            </a:defPPr>
          </a:lstStyle>
          <a:p>
            <a:pPr>
              <a:defRPr sz="1200" b="0">
                <a:solidFill>
                  <a:srgbClr val="526276"/>
                </a:solidFill>
              </a:defRPr>
            </a:pPr>
            <a:r>
              <a:rPr sz="1200" b="0">
                <a:solidFill>
                  <a:srgbClr val="526276"/>
                </a:solidFill>
              </a:rPr>
              <a:t>Route enquiries, approve letters and monitor follow up</a:t>
            </a:r>
            <a:endParaRPr sz="1200" b="0">
              <a:solidFill>
                <a:srgbClr val="526276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9600" y="500062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F766E"/>
                </a:solidFill>
              </a:defRPr>
            </a:defPPr>
          </a:lstStyle>
          <a:p>
            <a:pPr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The executable Hospital Master Process coordinates all five child BPMN processes.</a:t>
            </a:r>
            <a:endParaRPr sz="1725" b="1">
              <a:solidFill>
                <a:srgbClr val="0F766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9600" y="6343650"/>
            <a:ext cx="1095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526276"/>
                </a:solidFill>
              </a:defRPr>
            </a:defPPr>
          </a:lstStyle>
          <a:p>
            <a:pPr>
              <a:defRPr sz="900" b="0">
                <a:solidFill>
                  <a:srgbClr val="526276"/>
                </a:solidFill>
              </a:defRPr>
            </a:pPr>
            <a:r>
              <a:rPr sz="900" b="0">
                <a:solidFill>
                  <a:srgbClr val="526276"/>
                </a:solidFill>
              </a:rPr>
              <a:t>Supporting evidence: 02_Release2_Integrated_BPMN/00_Integration/Hospital_Master_Process.bpmn</a:t>
            </a:r>
            <a:endParaRPr sz="900" b="0">
              <a:solidFill>
                <a:srgbClr val="52627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609600" y="3048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0F766E"/>
                </a:solidFill>
              </a:defRPr>
            </a:defPPr>
          </a:lstStyle>
          <a:p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UFCEP6 0 3  Release 2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0485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18324A"/>
                </a:solidFill>
              </a:defRPr>
            </a:defPPr>
          </a:lstStyle>
          <a:p>
            <a:pPr>
              <a:defRPr sz="2400" b="1">
                <a:solidFill>
                  <a:srgbClr val="18324A"/>
                </a:solidFill>
              </a:defRPr>
            </a:pPr>
            <a:r>
              <a:rPr sz="2400" b="1">
                <a:solidFill>
                  <a:srgbClr val="18324A"/>
                </a:solidFill>
              </a:rPr>
              <a:t>Response to tutor feedback</a:t>
            </a:r>
            <a:endParaRPr sz="2400" b="1">
              <a:solidFill>
                <a:srgbClr val="18324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619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526276"/>
                </a:solidFill>
              </a:defRPr>
            </a:defPPr>
          </a:lstStyle>
          <a:p>
            <a:pPr>
              <a:defRPr sz="1050" b="1">
                <a:solidFill>
                  <a:srgbClr val="526276"/>
                </a:solidFill>
              </a:defRPr>
            </a:pPr>
            <a:r>
              <a:rPr sz="1050" b="1">
                <a:solidFill>
                  <a:srgbClr val="526276"/>
                </a:solidFill>
              </a:rPr>
              <a:t>03</a:t>
            </a:r>
            <a:endParaRPr sz="1050" b="1">
              <a:solidFill>
                <a:srgbClr val="526276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314450"/>
            <a:ext cx="109728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1762125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193357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18324A"/>
                </a:solidFill>
              </a:defRPr>
            </a:defPPr>
          </a:lstStyle>
          <a:p>
            <a:pPr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Form validation</a:t>
            </a:r>
            <a:endParaRPr sz="1275" b="1">
              <a:solidFill>
                <a:srgbClr val="18324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048000" y="193357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72033"/>
                </a:solidFill>
              </a:defRPr>
            </a:defPPr>
          </a:lstStyle>
          <a:p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Required fields and conditional choices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524750" y="1933575"/>
            <a:ext cx="3667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0F766E"/>
                </a:solidFill>
              </a:defRPr>
            </a:defPPr>
          </a:lstStyle>
          <a:p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All critical forms use validation</a:t>
            </a:r>
            <a:endParaRPr sz="1200" b="1">
              <a:solidFill>
                <a:srgbClr val="0F766E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09600" y="2752725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292417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18324A"/>
                </a:solidFill>
              </a:defRPr>
            </a:defPPr>
          </a:lstStyle>
          <a:p>
            <a:pPr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Merging gateways</a:t>
            </a:r>
            <a:endParaRPr sz="1275" b="1">
              <a:solidFill>
                <a:srgbClr val="18324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048000" y="292417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72033"/>
                </a:solidFill>
              </a:defRPr>
            </a:defPPr>
          </a:lstStyle>
          <a:p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Converging gateways and controlled retry loops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524750" y="2924175"/>
            <a:ext cx="3667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0F766E"/>
                </a:solidFill>
              </a:defRPr>
            </a:defPPr>
          </a:lstStyle>
          <a:p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Clearer path rejoining</a:t>
            </a:r>
            <a:endParaRPr sz="1200" b="1">
              <a:solidFill>
                <a:srgbClr val="0F766E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09600" y="3743325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19150" y="391477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18324A"/>
                </a:solidFill>
              </a:defRPr>
            </a:defPPr>
          </a:lstStyle>
          <a:p>
            <a:pPr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Scenario coverage</a:t>
            </a:r>
            <a:endParaRPr sz="1275" b="1">
              <a:solidFill>
                <a:srgbClr val="18324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048000" y="391477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72033"/>
                </a:solidFill>
              </a:defRPr>
            </a:defPPr>
          </a:lstStyle>
          <a:p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New action and exception forms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524750" y="3914775"/>
            <a:ext cx="3667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0F766E"/>
                </a:solidFill>
              </a:defRPr>
            </a:defPPr>
          </a:lstStyle>
          <a:p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Referral, appointment, treatment, enquiry and letter cases</a:t>
            </a:r>
            <a:endParaRPr sz="1200" b="1">
              <a:solidFill>
                <a:srgbClr val="0F766E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09600" y="4733925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19150" y="490537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18324A"/>
                </a:solidFill>
              </a:defRPr>
            </a:defPPr>
          </a:lstStyle>
          <a:p>
            <a:pPr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Data persistence</a:t>
            </a:r>
            <a:endParaRPr sz="1275" b="1">
              <a:solidFill>
                <a:srgbClr val="18324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048000" y="490537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72033"/>
                </a:solidFill>
              </a:defRPr>
            </a:defPPr>
          </a:lstStyle>
          <a:p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H2 repository with load and save behaviour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524750" y="4905375"/>
            <a:ext cx="3667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0F766E"/>
                </a:solidFill>
              </a:defRPr>
            </a:defPPr>
          </a:lstStyle>
          <a:p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Data can be retrieved by application identifiers</a:t>
            </a:r>
            <a:endParaRPr sz="1200" b="1">
              <a:solidFill>
                <a:srgbClr val="0F766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9600" y="6343650"/>
            <a:ext cx="1095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526276"/>
                </a:solidFill>
              </a:defRPr>
            </a:defPPr>
          </a:lstStyle>
          <a:p>
            <a:pPr>
              <a:defRPr sz="900" b="0">
                <a:solidFill>
                  <a:srgbClr val="526276"/>
                </a:solidFill>
              </a:defRPr>
            </a:pPr>
            <a:r>
              <a:rPr sz="900" b="0">
                <a:solidFill>
                  <a:srgbClr val="526276"/>
                </a:solidFill>
              </a:rPr>
              <a:t>Supporting evidence: 05_Evidence_Documents/Teacher_Feedback_Implementation_Evidence.docx</a:t>
            </a:r>
            <a:endParaRPr sz="900" b="0">
              <a:solidFill>
                <a:srgbClr val="52627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609600" y="3048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0F766E"/>
                </a:solidFill>
              </a:defRPr>
            </a:defPPr>
          </a:lstStyle>
          <a:p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UFCEP6 0 3  Release 2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0485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18324A"/>
                </a:solidFill>
              </a:defRPr>
            </a:defPPr>
          </a:lstStyle>
          <a:p>
            <a:pPr>
              <a:defRPr sz="2400" b="1">
                <a:solidFill>
                  <a:srgbClr val="18324A"/>
                </a:solidFill>
              </a:defRPr>
            </a:pPr>
            <a:r>
              <a:rPr sz="2400" b="1">
                <a:solidFill>
                  <a:srgbClr val="18324A"/>
                </a:solidFill>
              </a:rPr>
              <a:t>Forms and operational validation</a:t>
            </a:r>
            <a:endParaRPr sz="2400" b="1">
              <a:solidFill>
                <a:srgbClr val="18324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619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526276"/>
                </a:solidFill>
              </a:defRPr>
            </a:defPPr>
          </a:lstStyle>
          <a:p>
            <a:pPr>
              <a:defRPr sz="1050" b="1">
                <a:solidFill>
                  <a:srgbClr val="526276"/>
                </a:solidFill>
              </a:defRPr>
            </a:pPr>
            <a:r>
              <a:rPr sz="1050" b="1">
                <a:solidFill>
                  <a:srgbClr val="526276"/>
                </a:solidFill>
              </a:rPr>
              <a:t>04</a:t>
            </a:r>
            <a:endParaRPr sz="1050" b="1">
              <a:solidFill>
                <a:srgbClr val="526276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314450"/>
            <a:ext cx="109728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1790700"/>
            <a:ext cx="5048250" cy="32385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2047875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8324A"/>
                </a:solidFill>
              </a:defRPr>
            </a:defPPr>
          </a:lstStyle>
          <a:p>
            <a:pPr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Form improvements</a:t>
            </a:r>
            <a:endParaRPr sz="1650" b="1">
              <a:solidFill>
                <a:srgbClr val="18324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2571750"/>
            <a:ext cx="428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172033"/>
                </a:solidFill>
              </a:defRPr>
            </a:defPPr>
          </a:lstStyle>
          <a:p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  24 Camunda form definitions grouped by process owner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3086100"/>
            <a:ext cx="428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172033"/>
                </a:solidFill>
              </a:defRPr>
            </a:defPPr>
          </a:lstStyle>
          <a:p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  Required inputs and bounded options for decisions and outcomes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3600450"/>
            <a:ext cx="428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172033"/>
                </a:solidFill>
              </a:defRPr>
            </a:defPPr>
          </a:lstStyle>
          <a:p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  Added exception forms for referral action, appointment resolution, treatment action, enquiry route and clinic letter administration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5981700" y="1790700"/>
            <a:ext cx="5600700" cy="32385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248400" y="204787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8324A"/>
                </a:solidFill>
              </a:defRPr>
            </a:defPPr>
          </a:lstStyle>
          <a:p>
            <a:pPr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Operational checks</a:t>
            </a:r>
            <a:endParaRPr sz="1650" b="1">
              <a:solidFill>
                <a:srgbClr val="18324A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48400" y="257175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172033"/>
                </a:solidFill>
              </a:defRPr>
            </a:defPPr>
          </a:lstStyle>
          <a:p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  Task to form bindings are consistent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248400" y="30861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172033"/>
                </a:solidFill>
              </a:defRPr>
            </a:defPPr>
          </a:lstStyle>
          <a:p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  All child BPMN flow references pass validation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248400" y="360045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172033"/>
                </a:solidFill>
              </a:defRPr>
            </a:defPPr>
          </a:lstStyle>
          <a:p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  Normal and exception scenarios can be demonstrated through the master process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9600" y="6343650"/>
            <a:ext cx="1095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526276"/>
                </a:solidFill>
              </a:defRPr>
            </a:defPPr>
          </a:lstStyle>
          <a:p>
            <a:pPr>
              <a:defRPr sz="900" b="0">
                <a:solidFill>
                  <a:srgbClr val="526276"/>
                </a:solidFill>
              </a:defRPr>
            </a:pPr>
            <a:r>
              <a:rPr sz="900" b="0">
                <a:solidFill>
                  <a:srgbClr val="526276"/>
                </a:solidFill>
              </a:rPr>
              <a:t>Supporting evidence: 03_Camunda_Forms and 02_Release2_Integrated_BPMN</a:t>
            </a:r>
            <a:endParaRPr sz="900" b="0">
              <a:solidFill>
                <a:srgbClr val="52627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609600" y="3048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0F766E"/>
                </a:solidFill>
              </a:defRPr>
            </a:defPPr>
          </a:lstStyle>
          <a:p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UFCEP6 0 3  Release 2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0485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18324A"/>
                </a:solidFill>
              </a:defRPr>
            </a:defPPr>
          </a:lstStyle>
          <a:p>
            <a:pPr>
              <a:defRPr sz="2400" b="1">
                <a:solidFill>
                  <a:srgbClr val="18324A"/>
                </a:solidFill>
              </a:defRPr>
            </a:pPr>
            <a:r>
              <a:rPr sz="2400" b="1">
                <a:solidFill>
                  <a:srgbClr val="18324A"/>
                </a:solidFill>
              </a:rPr>
              <a:t>External workers and data persistence</a:t>
            </a:r>
            <a:endParaRPr sz="2400" b="1">
              <a:solidFill>
                <a:srgbClr val="18324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619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526276"/>
                </a:solidFill>
              </a:defRPr>
            </a:defPPr>
          </a:lstStyle>
          <a:p>
            <a:pPr>
              <a:defRPr sz="1050" b="1">
                <a:solidFill>
                  <a:srgbClr val="526276"/>
                </a:solidFill>
              </a:defRPr>
            </a:pPr>
            <a:r>
              <a:rPr sz="1050" b="1">
                <a:solidFill>
                  <a:srgbClr val="526276"/>
                </a:solidFill>
              </a:rPr>
              <a:t>05</a:t>
            </a:r>
            <a:endParaRPr sz="1050" b="1">
              <a:solidFill>
                <a:srgbClr val="526276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314450"/>
            <a:ext cx="109728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2381250"/>
            <a:ext cx="190500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571750"/>
            <a:ext cx="333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563EB"/>
                </a:solidFill>
              </a:defRPr>
            </a:defPPr>
          </a:lstStyle>
          <a:p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1</a:t>
            </a:r>
            <a:endParaRPr sz="1800" b="1">
              <a:solidFill>
                <a:srgbClr val="2563E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3000375"/>
            <a:ext cx="1571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72033"/>
                </a:solidFill>
              </a:defRPr>
            </a:defPPr>
          </a:lstStyle>
          <a:p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Form and process variables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800350" y="2381250"/>
            <a:ext cx="190500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971800" y="2571750"/>
            <a:ext cx="333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563EB"/>
                </a:solidFill>
              </a:defRPr>
            </a:defPPr>
          </a:lstStyle>
          <a:p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2</a:t>
            </a:r>
            <a:endParaRPr sz="1800" b="1">
              <a:solidFill>
                <a:srgbClr val="2563EB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971800" y="3000375"/>
            <a:ext cx="1571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72033"/>
                </a:solidFill>
              </a:defRPr>
            </a:defPPr>
          </a:lstStyle>
          <a:p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Worker receives job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991100" y="2381250"/>
            <a:ext cx="1905000" cy="1381125"/>
          </a:xfrm>
          <a:prstGeom prst="roundRect">
            <a:avLst>
              <a:gd name="adj" fmla="val 8276"/>
            </a:avLst>
          </a:prstGeom>
          <a:solidFill>
            <a:srgbClr val="DCFCE7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162550" y="2571750"/>
            <a:ext cx="333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563EB"/>
                </a:solidFill>
              </a:defRPr>
            </a:defPPr>
          </a:lstStyle>
          <a:p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3</a:t>
            </a:r>
            <a:endParaRPr sz="1800" b="1">
              <a:solidFill>
                <a:srgbClr val="2563EB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162550" y="3000375"/>
            <a:ext cx="1571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72033"/>
                </a:solidFill>
              </a:defRPr>
            </a:defPPr>
          </a:lstStyle>
          <a:p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Repository loads and merges application record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181850" y="2381250"/>
            <a:ext cx="1905000" cy="1381125"/>
          </a:xfrm>
          <a:prstGeom prst="roundRect">
            <a:avLst>
              <a:gd name="adj" fmla="val 8276"/>
            </a:avLst>
          </a:prstGeom>
          <a:solidFill>
            <a:srgbClr val="DCFCE7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353300" y="2571750"/>
            <a:ext cx="333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563EB"/>
                </a:solidFill>
              </a:defRPr>
            </a:defPPr>
          </a:lstStyle>
          <a:p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4</a:t>
            </a:r>
            <a:endParaRPr sz="1800" b="1">
              <a:solidFill>
                <a:srgbClr val="2563EB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353300" y="3000375"/>
            <a:ext cx="1571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72033"/>
                </a:solidFill>
              </a:defRPr>
            </a:defPPr>
          </a:lstStyle>
          <a:p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Repository saves updated state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9372600" y="2381250"/>
            <a:ext cx="190500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544050" y="2571750"/>
            <a:ext cx="333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563EB"/>
                </a:solidFill>
              </a:defRPr>
            </a:defPPr>
          </a:lstStyle>
          <a:p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5</a:t>
            </a:r>
            <a:endParaRPr sz="1800" b="1">
              <a:solidFill>
                <a:srgbClr val="2563EB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544050" y="3000375"/>
            <a:ext cx="1571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72033"/>
                </a:solidFill>
              </a:defRPr>
            </a:defPPr>
          </a:lstStyle>
          <a:p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Process continues with persisted status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9600" y="4524375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0F766E"/>
                </a:solidFill>
              </a:defRPr>
            </a:defPPr>
          </a:lstStyle>
          <a:p>
            <a:pPr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ApplicationDataRepository provides embedded H2 persistence for patient, referral, appointment, finance and treatment data.</a:t>
            </a:r>
            <a:endParaRPr sz="1575" b="1">
              <a:solidFill>
                <a:srgbClr val="0F766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9600" y="6343650"/>
            <a:ext cx="1095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526276"/>
                </a:solidFill>
              </a:defRPr>
            </a:defPPr>
          </a:lstStyle>
          <a:p>
            <a:pPr>
              <a:defRPr sz="900" b="0">
                <a:solidFill>
                  <a:srgbClr val="526276"/>
                </a:solidFill>
              </a:defRPr>
            </a:pPr>
            <a:r>
              <a:rPr sz="900" b="0">
                <a:solidFill>
                  <a:srgbClr val="526276"/>
                </a:solidFill>
              </a:rPr>
              <a:t>Supporting evidence: 04_External_Workers/src/main/java/org/hospital/workers/ApplicationDataRepository.java</a:t>
            </a:r>
            <a:endParaRPr sz="900" b="0">
              <a:solidFill>
                <a:srgbClr val="52627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609600" y="3048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0F766E"/>
                </a:solidFill>
              </a:defRPr>
            </a:defPPr>
          </a:lstStyle>
          <a:p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UFCEP6 0 3  Release 2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0485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18324A"/>
                </a:solidFill>
              </a:defRPr>
            </a:defPPr>
          </a:lstStyle>
          <a:p>
            <a:pPr>
              <a:defRPr sz="2400" b="1">
                <a:solidFill>
                  <a:srgbClr val="18324A"/>
                </a:solidFill>
              </a:defRPr>
            </a:pPr>
            <a:r>
              <a:rPr sz="2400" b="1">
                <a:solidFill>
                  <a:srgbClr val="18324A"/>
                </a:solidFill>
              </a:rPr>
              <a:t>Project plan evaluation</a:t>
            </a:r>
            <a:endParaRPr sz="2400" b="1">
              <a:solidFill>
                <a:srgbClr val="18324A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049000" y="3619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526276"/>
                </a:solidFill>
              </a:defRPr>
            </a:defPPr>
          </a:lstStyle>
          <a:p>
            <a:pPr>
              <a:defRPr sz="1050" b="1">
                <a:solidFill>
                  <a:srgbClr val="526276"/>
                </a:solidFill>
              </a:defRPr>
            </a:pPr>
            <a:r>
              <a:rPr sz="1050" b="1">
                <a:solidFill>
                  <a:srgbClr val="526276"/>
                </a:solidFill>
              </a:rPr>
              <a:t>07</a:t>
            </a:r>
            <a:endParaRPr sz="1050" b="1">
              <a:solidFill>
                <a:srgbClr val="526276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314450"/>
            <a:ext cx="109728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1952625"/>
            <a:ext cx="2524125" cy="2905125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21907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18324A"/>
                </a:solidFill>
              </a:defRPr>
            </a:defPPr>
          </a:lstStyle>
          <a:p>
            <a:pPr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Initial plan</a:t>
            </a:r>
            <a:endParaRPr sz="1425" b="1">
              <a:solidFill>
                <a:srgbClr val="18324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0100" y="2724150"/>
            <a:ext cx="20955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72033"/>
                </a:solidFill>
              </a:defRPr>
            </a:defPPr>
          </a:lstStyle>
          <a:p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Operational process decomposition and base forms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324225" y="1952625"/>
            <a:ext cx="2524125" cy="2905125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514725" y="21907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18324A"/>
                </a:solidFill>
              </a:defRPr>
            </a:defPPr>
          </a:lstStyle>
          <a:p>
            <a:pPr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Actual progress</a:t>
            </a:r>
            <a:endParaRPr sz="1425" b="1">
              <a:solidFill>
                <a:srgbClr val="18324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514725" y="2724150"/>
            <a:ext cx="20955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72033"/>
                </a:solidFill>
              </a:defRPr>
            </a:defPPr>
          </a:lstStyle>
          <a:p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Implemented child processes, integration and executable worker logic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038850" y="1952625"/>
            <a:ext cx="2524125" cy="2905125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229350" y="21907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18324A"/>
                </a:solidFill>
              </a:defRPr>
            </a:defPPr>
          </a:lstStyle>
          <a:p>
            <a:pPr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Revised plan</a:t>
            </a:r>
            <a:endParaRPr sz="1425" b="1">
              <a:solidFill>
                <a:srgbClr val="18324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229350" y="2724150"/>
            <a:ext cx="20955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72033"/>
                </a:solidFill>
              </a:defRPr>
            </a:defPPr>
          </a:lstStyle>
          <a:p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Tutor feedback drove validation, gateways, missing form options and persistence work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753475" y="1952625"/>
            <a:ext cx="2524125" cy="2905125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943975" y="21907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18324A"/>
                </a:solidFill>
              </a:defRPr>
            </a:defPPr>
          </a:lstStyle>
          <a:p>
            <a:pPr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Remaining evidence</a:t>
            </a:r>
            <a:endParaRPr sz="1425" b="1">
              <a:solidFill>
                <a:srgbClr val="18324A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43975" y="2724150"/>
            <a:ext cx="20955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72033"/>
                </a:solidFill>
              </a:defRPr>
            </a:defPPr>
          </a:lstStyle>
          <a:p>
            <a:pPr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Capture final user interface screenshots for normal, exception and persisted data retrieval paths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6343650"/>
            <a:ext cx="1095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526276"/>
                </a:solidFill>
              </a:defRPr>
            </a:defPPr>
          </a:lstStyle>
          <a:p>
            <a:pPr>
              <a:defRPr sz="900" b="0">
                <a:solidFill>
                  <a:srgbClr val="526276"/>
                </a:solidFill>
              </a:defRPr>
            </a:pPr>
            <a:r>
              <a:rPr sz="900" b="0">
                <a:solidFill>
                  <a:srgbClr val="526276"/>
                </a:solidFill>
              </a:rPr>
              <a:t>Supporting evidence: 05_Evidence_Documents/Plan _Test_Results.docx</a:t>
            </a:r>
            <a:endParaRPr sz="900" b="0">
              <a:solidFill>
                <a:srgbClr val="52627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2791</Words>
  <Application>WPS 演示</Application>
  <PresentationFormat>Converted Presentation</PresentationFormat>
  <Paragraphs>151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Aptos</vt:lpstr>
      <vt:lpstr>Segoe UI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going</cp:lastModifiedBy>
  <cp:revision>2</cp:revision>
  <dcterms:created xsi:type="dcterms:W3CDTF">2026-10-15T07:47:00Z</dcterms:created>
  <dcterms:modified xsi:type="dcterms:W3CDTF">2026-10-19T01:42:17Z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6904621C35DE4044BE2FE33BF1AC4C91_12</vt:lpwstr>
  </property>
  <property fmtid="{D5CDD505-2E9C-101B-9397-08002B2CF9AE}" pid="3" name="KSOProductBuildVer">
    <vt:lpwstr>2052-12.1.0.28505</vt:lpwstr>
  </property>
</Properties>
</file>