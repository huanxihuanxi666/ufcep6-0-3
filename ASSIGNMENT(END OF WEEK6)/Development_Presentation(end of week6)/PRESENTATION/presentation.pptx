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矩形 16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09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210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Project Plan: Baseline, Actual Progress and Changes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01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52450" y="1581150"/>
            <a:ext cx="342900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975" b="1">
                <a:solidFill>
                  <a:srgbClr val="008C95"/>
                </a:solidFill>
              </a:defRPr>
            </a:pPr>
            <a:r>
              <a:rPr sz="975" b="1">
                <a:solidFill>
                  <a:srgbClr val="008C95"/>
                </a:solidFill>
              </a:rPr>
              <a:t>Project plan evaluation for the final presentation</a:t>
            </a:r>
            <a:endParaRPr sz="1050" b="1">
              <a:solidFill>
                <a:srgbClr val="008C95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2171700"/>
            <a:ext cx="2286000" cy="685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102A43"/>
                </a:solidFill>
              </a:defRPr>
            </a:defPPr>
            <a:lvl1pPr algn="ctr">
              <a:buNone/>
              <a:defRPr sz="1275" b="1">
                <a:solidFill>
                  <a:srgbClr val="102A43"/>
                </a:solidFill>
              </a:defRPr>
            </a:lvl1pPr>
            <a:lvl2pPr algn="ctr">
              <a:buNone/>
              <a:defRPr sz="1275" b="1">
                <a:solidFill>
                  <a:srgbClr val="102A43"/>
                </a:solidFill>
              </a:defRPr>
            </a:lvl2pPr>
            <a:lvl3pPr algn="ctr">
              <a:buNone/>
              <a:defRPr sz="1275" b="1">
                <a:solidFill>
                  <a:srgbClr val="102A43"/>
                </a:solidFill>
              </a:defRPr>
            </a:lvl3pPr>
            <a:lvl4pPr algn="ctr">
              <a:buNone/>
              <a:defRPr sz="1275" b="1">
                <a:solidFill>
                  <a:srgbClr val="102A43"/>
                </a:solidFill>
              </a:defRPr>
            </a:lvl4pPr>
            <a:lvl5pPr algn="ctr">
              <a:buNone/>
              <a:defRPr sz="1275" b="1">
                <a:solidFill>
                  <a:srgbClr val="102A43"/>
                </a:solidFill>
              </a:defRPr>
            </a:lvl5pPr>
            <a:lvl6pPr algn="ctr">
              <a:buNone/>
              <a:defRPr sz="1275" b="1">
                <a:solidFill>
                  <a:srgbClr val="102A43"/>
                </a:solidFill>
              </a:defRPr>
            </a:lvl6pPr>
            <a:lvl7pPr algn="ctr">
              <a:buNone/>
              <a:defRPr sz="1275" b="1">
                <a:solidFill>
                  <a:srgbClr val="102A43"/>
                </a:solidFill>
              </a:defRPr>
            </a:lvl7pPr>
            <a:lvl8pPr algn="ctr">
              <a:buNone/>
              <a:defRPr sz="1275" b="1">
                <a:solidFill>
                  <a:srgbClr val="102A43"/>
                </a:solidFill>
              </a:defRPr>
            </a:lvl8pPr>
            <a:lvl9pPr algn="ctr">
              <a:buNone/>
              <a:defRPr sz="1275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Sprint 1 baseline</a:t>
            </a:r>
            <a:endParaRPr sz="1275" b="1">
              <a:solidFill>
                <a:srgbClr val="102A4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238500" y="220980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172B4D"/>
                </a:solidFill>
              </a:defRPr>
            </a:defPPr>
            <a:lvl1pPr algn="l">
              <a:buNone/>
              <a:defRPr sz="1275" b="0">
                <a:solidFill>
                  <a:srgbClr val="172B4D"/>
                </a:solidFill>
              </a:defRPr>
            </a:lvl1pPr>
            <a:lvl2pPr algn="l">
              <a:buNone/>
              <a:defRPr sz="1275" b="0">
                <a:solidFill>
                  <a:srgbClr val="172B4D"/>
                </a:solidFill>
              </a:defRPr>
            </a:lvl2pPr>
            <a:lvl3pPr algn="l">
              <a:buNone/>
              <a:defRPr sz="1275" b="0">
                <a:solidFill>
                  <a:srgbClr val="172B4D"/>
                </a:solidFill>
              </a:defRPr>
            </a:lvl3pPr>
            <a:lvl4pPr algn="l">
              <a:buNone/>
              <a:defRPr sz="1275" b="0">
                <a:solidFill>
                  <a:srgbClr val="172B4D"/>
                </a:solidFill>
              </a:defRPr>
            </a:lvl4pPr>
            <a:lvl5pPr algn="l">
              <a:buNone/>
              <a:defRPr sz="1275" b="0">
                <a:solidFill>
                  <a:srgbClr val="172B4D"/>
                </a:solidFill>
              </a:defRPr>
            </a:lvl5pPr>
            <a:lvl6pPr algn="l">
              <a:buNone/>
              <a:defRPr sz="1275" b="0">
                <a:solidFill>
                  <a:srgbClr val="172B4D"/>
                </a:solidFill>
              </a:defRPr>
            </a:lvl6pPr>
            <a:lvl7pPr algn="l">
              <a:buNone/>
              <a:defRPr sz="1275" b="0">
                <a:solidFill>
                  <a:srgbClr val="172B4D"/>
                </a:solidFill>
              </a:defRPr>
            </a:lvl7pPr>
            <a:lvl8pPr algn="l">
              <a:buNone/>
              <a:defRPr sz="1275" b="0">
                <a:solidFill>
                  <a:srgbClr val="172B4D"/>
                </a:solidFill>
              </a:defRPr>
            </a:lvl8pPr>
            <a:lvl9pPr algn="l">
              <a:buNone/>
              <a:defRPr sz="1275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Plan: define the referral to treatment journey, assign pathway ownership and agree how the pathways depend on each other.</a:t>
            </a:r>
            <a:endParaRPr sz="1275" b="0">
              <a:solidFill>
                <a:srgbClr val="172B4D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524750" y="2209800"/>
            <a:ext cx="3476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52616B"/>
                </a:solidFill>
              </a:defRPr>
            </a:defPPr>
            <a:lvl1pPr algn="l">
              <a:buNone/>
              <a:defRPr sz="1275" b="0">
                <a:solidFill>
                  <a:srgbClr val="52616B"/>
                </a:solidFill>
              </a:defRPr>
            </a:lvl1pPr>
            <a:lvl2pPr algn="l">
              <a:buNone/>
              <a:defRPr sz="1275" b="0">
                <a:solidFill>
                  <a:srgbClr val="52616B"/>
                </a:solidFill>
              </a:defRPr>
            </a:lvl2pPr>
            <a:lvl3pPr algn="l">
              <a:buNone/>
              <a:defRPr sz="1275" b="0">
                <a:solidFill>
                  <a:srgbClr val="52616B"/>
                </a:solidFill>
              </a:defRPr>
            </a:lvl3pPr>
            <a:lvl4pPr algn="l">
              <a:buNone/>
              <a:defRPr sz="1275" b="0">
                <a:solidFill>
                  <a:srgbClr val="52616B"/>
                </a:solidFill>
              </a:defRPr>
            </a:lvl4pPr>
            <a:lvl5pPr algn="l">
              <a:buNone/>
              <a:defRPr sz="1275" b="0">
                <a:solidFill>
                  <a:srgbClr val="52616B"/>
                </a:solidFill>
              </a:defRPr>
            </a:lvl5pPr>
            <a:lvl6pPr algn="l">
              <a:buNone/>
              <a:defRPr sz="1275" b="0">
                <a:solidFill>
                  <a:srgbClr val="52616B"/>
                </a:solidFill>
              </a:defRPr>
            </a:lvl6pPr>
            <a:lvl7pPr algn="l">
              <a:buNone/>
              <a:defRPr sz="1275" b="0">
                <a:solidFill>
                  <a:srgbClr val="52616B"/>
                </a:solidFill>
              </a:defRPr>
            </a:lvl7pPr>
            <a:lvl8pPr algn="l">
              <a:buNone/>
              <a:defRPr sz="1275" b="0">
                <a:solidFill>
                  <a:srgbClr val="52616B"/>
                </a:solidFill>
              </a:defRPr>
            </a:lvl8pPr>
            <a:lvl9pPr algn="l">
              <a:buNone/>
              <a:defRPr sz="1275" b="0">
                <a:solidFill>
                  <a:srgbClr val="52616B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52616B"/>
                </a:solidFill>
              </a:defRPr>
            </a:pPr>
            <a:r>
              <a:rPr sz="1050" b="0">
                <a:solidFill>
                  <a:srgbClr val="52616B"/>
                </a:solidFill>
              </a:rPr>
              <a:t>Progress: the group established the shared process architecture before each member developed their own pathway.</a:t>
            </a:r>
            <a:endParaRPr sz="1275" b="0">
              <a:solidFill>
                <a:srgbClr val="52616B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66750" y="3105150"/>
            <a:ext cx="2286000" cy="685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102A43"/>
                </a:solidFill>
              </a:defRPr>
            </a:defPPr>
            <a:lvl1pPr algn="ctr">
              <a:buNone/>
              <a:defRPr sz="1275" b="1">
                <a:solidFill>
                  <a:srgbClr val="102A43"/>
                </a:solidFill>
              </a:defRPr>
            </a:lvl1pPr>
            <a:lvl2pPr algn="ctr">
              <a:buNone/>
              <a:defRPr sz="1275" b="1">
                <a:solidFill>
                  <a:srgbClr val="102A43"/>
                </a:solidFill>
              </a:defRPr>
            </a:lvl2pPr>
            <a:lvl3pPr algn="ctr">
              <a:buNone/>
              <a:defRPr sz="1275" b="1">
                <a:solidFill>
                  <a:srgbClr val="102A43"/>
                </a:solidFill>
              </a:defRPr>
            </a:lvl3pPr>
            <a:lvl4pPr algn="ctr">
              <a:buNone/>
              <a:defRPr sz="1275" b="1">
                <a:solidFill>
                  <a:srgbClr val="102A43"/>
                </a:solidFill>
              </a:defRPr>
            </a:lvl4pPr>
            <a:lvl5pPr algn="ctr">
              <a:buNone/>
              <a:defRPr sz="1275" b="1">
                <a:solidFill>
                  <a:srgbClr val="102A43"/>
                </a:solidFill>
              </a:defRPr>
            </a:lvl5pPr>
            <a:lvl6pPr algn="ctr">
              <a:buNone/>
              <a:defRPr sz="1275" b="1">
                <a:solidFill>
                  <a:srgbClr val="102A43"/>
                </a:solidFill>
              </a:defRPr>
            </a:lvl6pPr>
            <a:lvl7pPr algn="ctr">
              <a:buNone/>
              <a:defRPr sz="1275" b="1">
                <a:solidFill>
                  <a:srgbClr val="102A43"/>
                </a:solidFill>
              </a:defRPr>
            </a:lvl7pPr>
            <a:lvl8pPr algn="ctr">
              <a:buNone/>
              <a:defRPr sz="1275" b="1">
                <a:solidFill>
                  <a:srgbClr val="102A43"/>
                </a:solidFill>
              </a:defRPr>
            </a:lvl8pPr>
            <a:lvl9pPr algn="ctr">
              <a:buNone/>
              <a:defRPr sz="1275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Sprint 2 and Release 1</a:t>
            </a:r>
            <a:endParaRPr sz="1275" b="1">
              <a:solidFill>
                <a:srgbClr val="102A43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238500" y="314325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172B4D"/>
                </a:solidFill>
              </a:defRPr>
            </a:defPPr>
            <a:lvl1pPr algn="l">
              <a:buNone/>
              <a:defRPr sz="1275" b="0">
                <a:solidFill>
                  <a:srgbClr val="172B4D"/>
                </a:solidFill>
              </a:defRPr>
            </a:lvl1pPr>
            <a:lvl2pPr algn="l">
              <a:buNone/>
              <a:defRPr sz="1275" b="0">
                <a:solidFill>
                  <a:srgbClr val="172B4D"/>
                </a:solidFill>
              </a:defRPr>
            </a:lvl2pPr>
            <a:lvl3pPr algn="l">
              <a:buNone/>
              <a:defRPr sz="1275" b="0">
                <a:solidFill>
                  <a:srgbClr val="172B4D"/>
                </a:solidFill>
              </a:defRPr>
            </a:lvl3pPr>
            <a:lvl4pPr algn="l">
              <a:buNone/>
              <a:defRPr sz="1275" b="0">
                <a:solidFill>
                  <a:srgbClr val="172B4D"/>
                </a:solidFill>
              </a:defRPr>
            </a:lvl4pPr>
            <a:lvl5pPr algn="l">
              <a:buNone/>
              <a:defRPr sz="1275" b="0">
                <a:solidFill>
                  <a:srgbClr val="172B4D"/>
                </a:solidFill>
              </a:defRPr>
            </a:lvl5pPr>
            <a:lvl6pPr algn="l">
              <a:buNone/>
              <a:defRPr sz="1275" b="0">
                <a:solidFill>
                  <a:srgbClr val="172B4D"/>
                </a:solidFill>
              </a:defRPr>
            </a:lvl6pPr>
            <a:lvl7pPr algn="l">
              <a:buNone/>
              <a:defRPr sz="1275" b="0">
                <a:solidFill>
                  <a:srgbClr val="172B4D"/>
                </a:solidFill>
              </a:defRPr>
            </a:lvl7pPr>
            <a:lvl8pPr algn="l">
              <a:buNone/>
              <a:defRPr sz="1275" b="0">
                <a:solidFill>
                  <a:srgbClr val="172B4D"/>
                </a:solidFill>
              </a:defRPr>
            </a:lvl8pPr>
            <a:lvl9pPr algn="l">
              <a:buNone/>
              <a:defRPr sz="1275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Plan: connect forms, worker logic and gateway conditions so the separate pathways can run as one patient journey.</a:t>
            </a:r>
            <a:endParaRPr sz="1275" b="0">
              <a:solidFill>
                <a:srgbClr val="172B4D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524750" y="3143250"/>
            <a:ext cx="3476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52616B"/>
                </a:solidFill>
              </a:defRPr>
            </a:defPPr>
            <a:lvl1pPr algn="l">
              <a:buNone/>
              <a:defRPr sz="1275" b="0">
                <a:solidFill>
                  <a:srgbClr val="52616B"/>
                </a:solidFill>
              </a:defRPr>
            </a:lvl1pPr>
            <a:lvl2pPr algn="l">
              <a:buNone/>
              <a:defRPr sz="1275" b="0">
                <a:solidFill>
                  <a:srgbClr val="52616B"/>
                </a:solidFill>
              </a:defRPr>
            </a:lvl2pPr>
            <a:lvl3pPr algn="l">
              <a:buNone/>
              <a:defRPr sz="1275" b="0">
                <a:solidFill>
                  <a:srgbClr val="52616B"/>
                </a:solidFill>
              </a:defRPr>
            </a:lvl3pPr>
            <a:lvl4pPr algn="l">
              <a:buNone/>
              <a:defRPr sz="1275" b="0">
                <a:solidFill>
                  <a:srgbClr val="52616B"/>
                </a:solidFill>
              </a:defRPr>
            </a:lvl4pPr>
            <a:lvl5pPr algn="l">
              <a:buNone/>
              <a:defRPr sz="1275" b="0">
                <a:solidFill>
                  <a:srgbClr val="52616B"/>
                </a:solidFill>
              </a:defRPr>
            </a:lvl5pPr>
            <a:lvl6pPr algn="l">
              <a:buNone/>
              <a:defRPr sz="1275" b="0">
                <a:solidFill>
                  <a:srgbClr val="52616B"/>
                </a:solidFill>
              </a:defRPr>
            </a:lvl6pPr>
            <a:lvl7pPr algn="l">
              <a:buNone/>
              <a:defRPr sz="1275" b="0">
                <a:solidFill>
                  <a:srgbClr val="52616B"/>
                </a:solidFill>
              </a:defRPr>
            </a:lvl7pPr>
            <a:lvl8pPr algn="l">
              <a:buNone/>
              <a:defRPr sz="1275" b="0">
                <a:solidFill>
                  <a:srgbClr val="52616B"/>
                </a:solidFill>
              </a:defRPr>
            </a:lvl8pPr>
            <a:lvl9pPr algn="l">
              <a:buNone/>
              <a:defRPr sz="1275" b="0">
                <a:solidFill>
                  <a:srgbClr val="52616B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52616B"/>
                </a:solidFill>
              </a:defRPr>
            </a:pPr>
            <a:r>
              <a:rPr sz="1050" b="0">
                <a:solidFill>
                  <a:srgbClr val="52616B"/>
                </a:solidFill>
              </a:rPr>
              <a:t>Progress: integration exposed where a user decision, a form value or a process path needed clearer control.</a:t>
            </a:r>
            <a:endParaRPr sz="1275" b="0">
              <a:solidFill>
                <a:srgbClr val="52616B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66750" y="4038600"/>
            <a:ext cx="2286000" cy="685800"/>
          </a:xfrm>
          <a:prstGeom prst="roundRect">
            <a:avLst>
              <a:gd name="adj" fmla="val 6250"/>
            </a:avLst>
          </a:prstGeom>
          <a:solidFill>
            <a:srgbClr val="D8F3F0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008C95"/>
                </a:solidFill>
              </a:defRPr>
            </a:defPPr>
            <a:lvl1pPr algn="ctr">
              <a:buNone/>
              <a:defRPr sz="1275" b="1">
                <a:solidFill>
                  <a:srgbClr val="008C95"/>
                </a:solidFill>
              </a:defRPr>
            </a:lvl1pPr>
            <a:lvl2pPr algn="ctr">
              <a:buNone/>
              <a:defRPr sz="1275" b="1">
                <a:solidFill>
                  <a:srgbClr val="008C95"/>
                </a:solidFill>
              </a:defRPr>
            </a:lvl2pPr>
            <a:lvl3pPr algn="ctr">
              <a:buNone/>
              <a:defRPr sz="1275" b="1">
                <a:solidFill>
                  <a:srgbClr val="008C95"/>
                </a:solidFill>
              </a:defRPr>
            </a:lvl3pPr>
            <a:lvl4pPr algn="ctr">
              <a:buNone/>
              <a:defRPr sz="1275" b="1">
                <a:solidFill>
                  <a:srgbClr val="008C95"/>
                </a:solidFill>
              </a:defRPr>
            </a:lvl4pPr>
            <a:lvl5pPr algn="ctr">
              <a:buNone/>
              <a:defRPr sz="1275" b="1">
                <a:solidFill>
                  <a:srgbClr val="008C95"/>
                </a:solidFill>
              </a:defRPr>
            </a:lvl5pPr>
            <a:lvl6pPr algn="ctr">
              <a:buNone/>
              <a:defRPr sz="1275" b="1">
                <a:solidFill>
                  <a:srgbClr val="008C95"/>
                </a:solidFill>
              </a:defRPr>
            </a:lvl6pPr>
            <a:lvl7pPr algn="ctr">
              <a:buNone/>
              <a:defRPr sz="1275" b="1">
                <a:solidFill>
                  <a:srgbClr val="008C95"/>
                </a:solidFill>
              </a:defRPr>
            </a:lvl7pPr>
            <a:lvl8pPr algn="ctr">
              <a:buNone/>
              <a:defRPr sz="1275" b="1">
                <a:solidFill>
                  <a:srgbClr val="008C95"/>
                </a:solidFill>
              </a:defRPr>
            </a:lvl8pPr>
            <a:lvl9pPr algn="ctr">
              <a:buNone/>
              <a:defRPr sz="1275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Actual Release 2</a:t>
            </a:r>
            <a:endParaRPr sz="1275" b="1">
              <a:solidFill>
                <a:srgbClr val="008C9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238500" y="403860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172B4D"/>
                </a:solidFill>
              </a:defRPr>
            </a:defPPr>
            <a:lvl1pPr algn="l">
              <a:buNone/>
              <a:defRPr sz="1275" b="0">
                <a:solidFill>
                  <a:srgbClr val="172B4D"/>
                </a:solidFill>
              </a:defRPr>
            </a:lvl1pPr>
            <a:lvl2pPr algn="l">
              <a:buNone/>
              <a:defRPr sz="1275" b="0">
                <a:solidFill>
                  <a:srgbClr val="172B4D"/>
                </a:solidFill>
              </a:defRPr>
            </a:lvl2pPr>
            <a:lvl3pPr algn="l">
              <a:buNone/>
              <a:defRPr sz="1275" b="0">
                <a:solidFill>
                  <a:srgbClr val="172B4D"/>
                </a:solidFill>
              </a:defRPr>
            </a:lvl3pPr>
            <a:lvl4pPr algn="l">
              <a:buNone/>
              <a:defRPr sz="1275" b="0">
                <a:solidFill>
                  <a:srgbClr val="172B4D"/>
                </a:solidFill>
              </a:defRPr>
            </a:lvl4pPr>
            <a:lvl5pPr algn="l">
              <a:buNone/>
              <a:defRPr sz="1275" b="0">
                <a:solidFill>
                  <a:srgbClr val="172B4D"/>
                </a:solidFill>
              </a:defRPr>
            </a:lvl5pPr>
            <a:lvl6pPr algn="l">
              <a:buNone/>
              <a:defRPr sz="1275" b="0">
                <a:solidFill>
                  <a:srgbClr val="172B4D"/>
                </a:solidFill>
              </a:defRPr>
            </a:lvl6pPr>
            <a:lvl7pPr algn="l">
              <a:buNone/>
              <a:defRPr sz="1275" b="0">
                <a:solidFill>
                  <a:srgbClr val="172B4D"/>
                </a:solidFill>
              </a:defRPr>
            </a:lvl7pPr>
            <a:lvl8pPr algn="l">
              <a:buNone/>
              <a:defRPr sz="1275" b="0">
                <a:solidFill>
                  <a:srgbClr val="172B4D"/>
                </a:solidFill>
              </a:defRPr>
            </a:lvl8pPr>
            <a:lvl9pPr algn="l">
              <a:buNone/>
              <a:defRPr sz="1275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Change: tutor feedback moved validation, route merging, missing business choices and persistent patient data to the top priority.</a:t>
            </a:r>
            <a:endParaRPr sz="1275" b="0">
              <a:solidFill>
                <a:srgbClr val="172B4D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524750" y="4038600"/>
            <a:ext cx="3476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52616B"/>
                </a:solidFill>
              </a:defRPr>
            </a:defPPr>
            <a:lvl1pPr algn="l">
              <a:buNone/>
              <a:defRPr sz="1275" b="0">
                <a:solidFill>
                  <a:srgbClr val="52616B"/>
                </a:solidFill>
              </a:defRPr>
            </a:lvl1pPr>
            <a:lvl2pPr algn="l">
              <a:buNone/>
              <a:defRPr sz="1275" b="0">
                <a:solidFill>
                  <a:srgbClr val="52616B"/>
                </a:solidFill>
              </a:defRPr>
            </a:lvl2pPr>
            <a:lvl3pPr algn="l">
              <a:buNone/>
              <a:defRPr sz="1275" b="0">
                <a:solidFill>
                  <a:srgbClr val="52616B"/>
                </a:solidFill>
              </a:defRPr>
            </a:lvl3pPr>
            <a:lvl4pPr algn="l">
              <a:buNone/>
              <a:defRPr sz="1275" b="0">
                <a:solidFill>
                  <a:srgbClr val="52616B"/>
                </a:solidFill>
              </a:defRPr>
            </a:lvl4pPr>
            <a:lvl5pPr algn="l">
              <a:buNone/>
              <a:defRPr sz="1275" b="0">
                <a:solidFill>
                  <a:srgbClr val="52616B"/>
                </a:solidFill>
              </a:defRPr>
            </a:lvl5pPr>
            <a:lvl6pPr algn="l">
              <a:buNone/>
              <a:defRPr sz="1275" b="0">
                <a:solidFill>
                  <a:srgbClr val="52616B"/>
                </a:solidFill>
              </a:defRPr>
            </a:lvl6pPr>
            <a:lvl7pPr algn="l">
              <a:buNone/>
              <a:defRPr sz="1275" b="0">
                <a:solidFill>
                  <a:srgbClr val="52616B"/>
                </a:solidFill>
              </a:defRPr>
            </a:lvl7pPr>
            <a:lvl8pPr algn="l">
              <a:buNone/>
              <a:defRPr sz="1275" b="0">
                <a:solidFill>
                  <a:srgbClr val="52616B"/>
                </a:solidFill>
              </a:defRPr>
            </a:lvl8pPr>
            <a:lvl9pPr algn="l">
              <a:buNone/>
              <a:defRPr sz="1275" b="0">
                <a:solidFill>
                  <a:srgbClr val="52616B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52616B"/>
                </a:solidFill>
              </a:defRPr>
            </a:pPr>
            <a:r>
              <a:rPr sz="1050" b="0">
                <a:solidFill>
                  <a:srgbClr val="52616B"/>
                </a:solidFill>
              </a:rPr>
              <a:t>Result: the final release supports safer input, clearer process flow and patient information that remains available after a worker restarts.</a:t>
            </a:r>
            <a:endParaRPr sz="1275" b="0">
              <a:solidFill>
                <a:srgbClr val="52616B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6750" y="5105400"/>
            <a:ext cx="10287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008C95"/>
                </a:solidFill>
              </a:defRPr>
            </a:defPPr>
            <a:lvl1pPr algn="l">
              <a:buNone/>
              <a:defRPr sz="1200" b="1">
                <a:solidFill>
                  <a:srgbClr val="008C95"/>
                </a:solidFill>
              </a:defRPr>
            </a:lvl1pPr>
            <a:lvl2pPr algn="l">
              <a:buNone/>
              <a:defRPr sz="1200" b="1">
                <a:solidFill>
                  <a:srgbClr val="008C95"/>
                </a:solidFill>
              </a:defRPr>
            </a:lvl2pPr>
            <a:lvl3pPr algn="l">
              <a:buNone/>
              <a:defRPr sz="1200" b="1">
                <a:solidFill>
                  <a:srgbClr val="008C95"/>
                </a:solidFill>
              </a:defRPr>
            </a:lvl3pPr>
            <a:lvl4pPr algn="l">
              <a:buNone/>
              <a:defRPr sz="1200" b="1">
                <a:solidFill>
                  <a:srgbClr val="008C95"/>
                </a:solidFill>
              </a:defRPr>
            </a:lvl4pPr>
            <a:lvl5pPr algn="l">
              <a:buNone/>
              <a:defRPr sz="1200" b="1">
                <a:solidFill>
                  <a:srgbClr val="008C95"/>
                </a:solidFill>
              </a:defRPr>
            </a:lvl5pPr>
            <a:lvl6pPr algn="l">
              <a:buNone/>
              <a:defRPr sz="1200" b="1">
                <a:solidFill>
                  <a:srgbClr val="008C95"/>
                </a:solidFill>
              </a:defRPr>
            </a:lvl6pPr>
            <a:lvl7pPr algn="l">
              <a:buNone/>
              <a:defRPr sz="1200" b="1">
                <a:solidFill>
                  <a:srgbClr val="008C95"/>
                </a:solidFill>
              </a:defRPr>
            </a:lvl7pPr>
            <a:lvl8pPr algn="l">
              <a:buNone/>
              <a:defRPr sz="1200" b="1">
                <a:solidFill>
                  <a:srgbClr val="008C95"/>
                </a:solidFill>
              </a:defRPr>
            </a:lvl8pPr>
            <a:lvl9pPr algn="l">
              <a:buNone/>
              <a:defRPr sz="1200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008C95"/>
                </a:solidFill>
              </a:defRPr>
            </a:pPr>
            <a:r>
              <a:rPr lang="en-US" sz="1050" b="1">
                <a:solidFill>
                  <a:srgbClr val="008C95"/>
                </a:solidFill>
              </a:rPr>
              <a:t>P</a:t>
            </a:r>
            <a:r>
              <a:rPr sz="1050" b="1">
                <a:solidFill>
                  <a:srgbClr val="008C95"/>
                </a:solidFill>
              </a:rPr>
              <a:t>lan changed: after initial integration, we prioritised the issues that decide whether a patient journey can run safely. Valid form input comes first, then alternative paths rejoin cleanly, then the system keeps patient data after a restart. This order keeps human choices under control and gives later tasks the information they need.</a:t>
            </a:r>
            <a:endParaRPr sz="1200" b="1">
              <a:solidFill>
                <a:srgbClr val="008C95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66750" y="19240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</a:defRPr>
            </a:defPPr>
            <a:lvl1pPr algn="ctr">
              <a:buNone/>
              <a:defRPr sz="900" b="1">
                <a:solidFill>
                  <a:srgbClr val="008C95"/>
                </a:solidFill>
              </a:defRPr>
            </a:lvl1pPr>
            <a:lvl2pPr algn="ctr">
              <a:buNone/>
              <a:defRPr sz="900" b="1">
                <a:solidFill>
                  <a:srgbClr val="008C95"/>
                </a:solidFill>
              </a:defRPr>
            </a:lvl2pPr>
            <a:lvl3pPr algn="ctr">
              <a:buNone/>
              <a:defRPr sz="900" b="1">
                <a:solidFill>
                  <a:srgbClr val="008C95"/>
                </a:solidFill>
              </a:defRPr>
            </a:lvl3pPr>
            <a:lvl4pPr algn="ctr">
              <a:buNone/>
              <a:defRPr sz="900" b="1">
                <a:solidFill>
                  <a:srgbClr val="008C95"/>
                </a:solidFill>
              </a:defRPr>
            </a:lvl4pPr>
            <a:lvl5pPr algn="ctr">
              <a:buNone/>
              <a:defRPr sz="900" b="1">
                <a:solidFill>
                  <a:srgbClr val="008C95"/>
                </a:solidFill>
              </a:defRPr>
            </a:lvl5pPr>
            <a:lvl6pPr algn="ctr">
              <a:buNone/>
              <a:defRPr sz="900" b="1">
                <a:solidFill>
                  <a:srgbClr val="008C95"/>
                </a:solidFill>
              </a:defRPr>
            </a:lvl6pPr>
            <a:lvl7pPr algn="ctr">
              <a:buNone/>
              <a:defRPr sz="900" b="1">
                <a:solidFill>
                  <a:srgbClr val="008C95"/>
                </a:solidFill>
              </a:defRPr>
            </a:lvl7pPr>
            <a:lvl8pPr algn="ctr">
              <a:buNone/>
              <a:defRPr sz="900" b="1">
                <a:solidFill>
                  <a:srgbClr val="008C95"/>
                </a:solidFill>
              </a:defRPr>
            </a:lvl8pPr>
            <a:lvl9pPr algn="ctr">
              <a:buNone/>
              <a:defRPr sz="90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MILESTONE</a:t>
            </a:r>
            <a:endParaRPr sz="900" b="1">
              <a:solidFill>
                <a:srgbClr val="008C95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238500" y="19240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900" b="1">
                <a:solidFill>
                  <a:srgbClr val="008C95"/>
                </a:solidFill>
              </a:defRPr>
            </a:defPPr>
            <a:lvl1pPr algn="l">
              <a:buNone/>
              <a:defRPr sz="900" b="1">
                <a:solidFill>
                  <a:srgbClr val="008C95"/>
                </a:solidFill>
              </a:defRPr>
            </a:lvl1pPr>
            <a:lvl2pPr algn="l">
              <a:buNone/>
              <a:defRPr sz="900" b="1">
                <a:solidFill>
                  <a:srgbClr val="008C95"/>
                </a:solidFill>
              </a:defRPr>
            </a:lvl2pPr>
            <a:lvl3pPr algn="l">
              <a:buNone/>
              <a:defRPr sz="900" b="1">
                <a:solidFill>
                  <a:srgbClr val="008C95"/>
                </a:solidFill>
              </a:defRPr>
            </a:lvl3pPr>
            <a:lvl4pPr algn="l">
              <a:buNone/>
              <a:defRPr sz="900" b="1">
                <a:solidFill>
                  <a:srgbClr val="008C95"/>
                </a:solidFill>
              </a:defRPr>
            </a:lvl4pPr>
            <a:lvl5pPr algn="l">
              <a:buNone/>
              <a:defRPr sz="900" b="1">
                <a:solidFill>
                  <a:srgbClr val="008C95"/>
                </a:solidFill>
              </a:defRPr>
            </a:lvl5pPr>
            <a:lvl6pPr algn="l">
              <a:buNone/>
              <a:defRPr sz="900" b="1">
                <a:solidFill>
                  <a:srgbClr val="008C95"/>
                </a:solidFill>
              </a:defRPr>
            </a:lvl6pPr>
            <a:lvl7pPr algn="l">
              <a:buNone/>
              <a:defRPr sz="900" b="1">
                <a:solidFill>
                  <a:srgbClr val="008C95"/>
                </a:solidFill>
              </a:defRPr>
            </a:lvl7pPr>
            <a:lvl8pPr algn="l">
              <a:buNone/>
              <a:defRPr sz="900" b="1">
                <a:solidFill>
                  <a:srgbClr val="008C95"/>
                </a:solidFill>
              </a:defRPr>
            </a:lvl8pPr>
            <a:lvl9pPr algn="l">
              <a:buNone/>
              <a:defRPr sz="900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ORIGINAL PLAN</a:t>
            </a:r>
            <a:endParaRPr sz="900" b="1">
              <a:solidFill>
                <a:srgbClr val="008C95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524750" y="1924050"/>
            <a:ext cx="3476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900" b="1">
                <a:solidFill>
                  <a:srgbClr val="008C95"/>
                </a:solidFill>
              </a:defRPr>
            </a:defPPr>
            <a:lvl1pPr algn="l">
              <a:buNone/>
              <a:defRPr sz="900" b="1">
                <a:solidFill>
                  <a:srgbClr val="008C95"/>
                </a:solidFill>
              </a:defRPr>
            </a:lvl1pPr>
            <a:lvl2pPr algn="l">
              <a:buNone/>
              <a:defRPr sz="900" b="1">
                <a:solidFill>
                  <a:srgbClr val="008C95"/>
                </a:solidFill>
              </a:defRPr>
            </a:lvl2pPr>
            <a:lvl3pPr algn="l">
              <a:buNone/>
              <a:defRPr sz="900" b="1">
                <a:solidFill>
                  <a:srgbClr val="008C95"/>
                </a:solidFill>
              </a:defRPr>
            </a:lvl3pPr>
            <a:lvl4pPr algn="l">
              <a:buNone/>
              <a:defRPr sz="900" b="1">
                <a:solidFill>
                  <a:srgbClr val="008C95"/>
                </a:solidFill>
              </a:defRPr>
            </a:lvl4pPr>
            <a:lvl5pPr algn="l">
              <a:buNone/>
              <a:defRPr sz="900" b="1">
                <a:solidFill>
                  <a:srgbClr val="008C95"/>
                </a:solidFill>
              </a:defRPr>
            </a:lvl5pPr>
            <a:lvl6pPr algn="l">
              <a:buNone/>
              <a:defRPr sz="900" b="1">
                <a:solidFill>
                  <a:srgbClr val="008C95"/>
                </a:solidFill>
              </a:defRPr>
            </a:lvl6pPr>
            <a:lvl7pPr algn="l">
              <a:buNone/>
              <a:defRPr sz="900" b="1">
                <a:solidFill>
                  <a:srgbClr val="008C95"/>
                </a:solidFill>
              </a:defRPr>
            </a:lvl7pPr>
            <a:lvl8pPr algn="l">
              <a:buNone/>
              <a:defRPr sz="900" b="1">
                <a:solidFill>
                  <a:srgbClr val="008C95"/>
                </a:solidFill>
              </a:defRPr>
            </a:lvl8pPr>
            <a:lvl9pPr algn="l">
              <a:buNone/>
              <a:defRPr sz="900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ACTUAL PROGRESS AND REASON</a:t>
            </a:r>
            <a:endParaRPr sz="900" b="1">
              <a:solidFill>
                <a:srgbClr val="008C9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02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9380" y="1988820"/>
            <a:ext cx="3184525" cy="3535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master process coordinates referral, appointment, finance, treatment, and clinic-letter work as one patient journey.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A positive decision in one area creates the data and control needed by the next area.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Human decisions stay in forms. Automated checks run through Camunda workers.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This integrated design prevents a treatment activity from starting before relevant referral, appointment and financial decisions are available.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5857875" y="1809750"/>
            <a:ext cx="5238750" cy="3714750"/>
          </a:xfrm>
          <a:prstGeom prst="roundRect">
            <a:avLst>
              <a:gd name="adj" fmla="val 1538"/>
            </a:avLst>
          </a:prstGeom>
          <a:solidFill>
            <a:srgbClr val="EDF2F7"/>
          </a:solidFill>
          <a:ln w="9525">
            <a:solidFill>
              <a:srgbClr val="C9D2DC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35280" y="866775"/>
            <a:ext cx="4705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102A43"/>
                </a:solidFill>
              </a:defRPr>
            </a:defPPr>
            <a:lvl1pPr algn="ctr">
              <a:buNone/>
              <a:defRPr sz="1500" b="1">
                <a:solidFill>
                  <a:srgbClr val="102A43"/>
                </a:solidFill>
              </a:defRPr>
            </a:lvl1pPr>
            <a:lvl2pPr algn="ctr">
              <a:buNone/>
              <a:defRPr sz="1500" b="1">
                <a:solidFill>
                  <a:srgbClr val="102A43"/>
                </a:solidFill>
              </a:defRPr>
            </a:lvl2pPr>
            <a:lvl3pPr algn="ctr">
              <a:buNone/>
              <a:defRPr sz="1500" b="1">
                <a:solidFill>
                  <a:srgbClr val="102A43"/>
                </a:solidFill>
              </a:defRPr>
            </a:lvl3pPr>
            <a:lvl4pPr algn="ctr">
              <a:buNone/>
              <a:defRPr sz="1500" b="1">
                <a:solidFill>
                  <a:srgbClr val="102A43"/>
                </a:solidFill>
              </a:defRPr>
            </a:lvl4pPr>
            <a:lvl5pPr algn="ctr">
              <a:buNone/>
              <a:defRPr sz="1500" b="1">
                <a:solidFill>
                  <a:srgbClr val="102A43"/>
                </a:solidFill>
              </a:defRPr>
            </a:lvl5pPr>
            <a:lvl6pPr algn="ctr">
              <a:buNone/>
              <a:defRPr sz="1500" b="1">
                <a:solidFill>
                  <a:srgbClr val="102A43"/>
                </a:solidFill>
              </a:defRPr>
            </a:lvl6pPr>
            <a:lvl7pPr algn="ctr">
              <a:buNone/>
              <a:defRPr sz="1500" b="1">
                <a:solidFill>
                  <a:srgbClr val="102A43"/>
                </a:solidFill>
              </a:defRPr>
            </a:lvl7pPr>
            <a:lvl8pPr algn="ctr">
              <a:buNone/>
              <a:defRPr sz="1500" b="1">
                <a:solidFill>
                  <a:srgbClr val="102A43"/>
                </a:solidFill>
              </a:defRPr>
            </a:lvl8pPr>
            <a:lvl9pPr algn="ctr">
              <a:buNone/>
              <a:defRPr sz="150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Hospital Master BPMN</a:t>
            </a:r>
            <a:endParaRPr sz="1500" b="1">
              <a:solidFill>
                <a:srgbClr val="102A43"/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7890" y="1445895"/>
            <a:ext cx="8729980" cy="49612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Strategic BPMN: The Hospital Pathway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03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6990" y="1772920"/>
            <a:ext cx="3112770" cy="21507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strategic view starts with a referral and moves through booking, funding, treatment and follow-up communication.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It shows why each operational process exists and where a patient depends on the next service.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The operational BPMN models implement these stages with tasks, gateways, forms and workers.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940" y="1485265"/>
            <a:ext cx="8990965" cy="44748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Strategic Dependency Model: Who Depends on Whom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04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263525" y="1628775"/>
            <a:ext cx="3237230" cy="29095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SD model contains six actors: Patient and Referrer, Referral and Consultant Review, Appointment and Patient Communication, Finance, Treatment and Chemotherapy, and Enquiry Clinic Letter and Monitoring.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Dependencies make hand-offs visible. Examples include referral details, accepted referral and booking requirements, financial clearance, consultation outcome and clinic letter updates.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The SD model supports accountability because each dependency has a depender, a dependee and a concrete dependum.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9365" y="1557020"/>
            <a:ext cx="8230235" cy="4324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Strategic Rationale Model: Goals and Decisions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05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0" y="1409700"/>
            <a:ext cx="3142615" cy="35185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SR model explains why each actor performs its tasks.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Referral work supports a safe referral decision and complete, traceable referral.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Appointment work supports a timely confirmed appointment and clear patient communication. Finance supports financial clearance before treatment. Treatment supports clinical safety. Enquiry and letter work supports accurate, timely updates.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AND refinements show activities that must work together. OR refinements show alternative ways to achieve a goal.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2615" y="1485265"/>
            <a:ext cx="8782685" cy="49644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5125" y="1666875"/>
            <a:ext cx="8667750" cy="4714875"/>
          </a:xfrm>
          <a:prstGeom prst="rect">
            <a:avLst/>
          </a:prstGeom>
        </p:spPr>
      </p:pic>
      <p:sp>
        <p:nvSpPr>
          <p:cNvPr id="3" name="文本框 2"/>
          <p:cNvSpPr>
            <a:spLocks noGrp="1"/>
          </p:cNvSpPr>
          <p:nvPr/>
        </p:nvSpPr>
        <p:spPr>
          <a:xfrm>
            <a:off x="623570" y="405130"/>
            <a:ext cx="6096000" cy="4343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335915" y="2421255"/>
            <a:ext cx="1591310" cy="17532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>
                <a:solidFill>
                  <a:srgbClr val="172B4D"/>
                </a:solidFill>
              </a:rPr>
              <a:t>T</a:t>
            </a:r>
            <a:r>
              <a:rPr sz="1350">
                <a:solidFill>
                  <a:srgbClr val="172B4D"/>
                </a:solidFill>
              </a:rPr>
              <a:t>he referral and consultant-review route. Explain how the referral details, consultant decision and safe routing support a traceable referral.</a:t>
            </a:r>
            <a:endParaRPr sz="1350">
              <a:solidFill>
                <a:srgbClr val="172B4D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52450" y="171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866775"/>
            <a:ext cx="9858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2175" b="1">
                <a:solidFill>
                  <a:srgbClr val="102A43"/>
                </a:solidFill>
              </a:defRPr>
            </a:defPPr>
            <a:lvl1pPr algn="l">
              <a:buNone/>
              <a:defRPr sz="2175" b="1">
                <a:solidFill>
                  <a:srgbClr val="102A43"/>
                </a:solidFill>
              </a:defRPr>
            </a:lvl1pPr>
            <a:lvl2pPr algn="l">
              <a:buNone/>
              <a:defRPr sz="2175" b="1">
                <a:solidFill>
                  <a:srgbClr val="102A43"/>
                </a:solidFill>
              </a:defRPr>
            </a:lvl2pPr>
            <a:lvl3pPr algn="l">
              <a:buNone/>
              <a:defRPr sz="2175" b="1">
                <a:solidFill>
                  <a:srgbClr val="102A43"/>
                </a:solidFill>
              </a:defRPr>
            </a:lvl3pPr>
            <a:lvl4pPr algn="l">
              <a:buNone/>
              <a:defRPr sz="2175" b="1">
                <a:solidFill>
                  <a:srgbClr val="102A43"/>
                </a:solidFill>
              </a:defRPr>
            </a:lvl4pPr>
            <a:lvl5pPr algn="l">
              <a:buNone/>
              <a:defRPr sz="2175" b="1">
                <a:solidFill>
                  <a:srgbClr val="102A43"/>
                </a:solidFill>
              </a:defRPr>
            </a:lvl5pPr>
            <a:lvl6pPr algn="l">
              <a:buNone/>
              <a:defRPr sz="2175" b="1">
                <a:solidFill>
                  <a:srgbClr val="102A43"/>
                </a:solidFill>
              </a:defRPr>
            </a:lvl6pPr>
            <a:lvl7pPr algn="l">
              <a:buNone/>
              <a:defRPr sz="2175" b="1">
                <a:solidFill>
                  <a:srgbClr val="102A43"/>
                </a:solidFill>
              </a:defRPr>
            </a:lvl7pPr>
            <a:lvl8pPr algn="l">
              <a:buNone/>
              <a:defRPr sz="2175" b="1">
                <a:solidFill>
                  <a:srgbClr val="102A43"/>
                </a:solidFill>
              </a:defRPr>
            </a:lvl8pPr>
            <a:lvl9pPr algn="l">
              <a:buNone/>
              <a:defRPr sz="2175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Referral and Consultant Review</a:t>
            </a:r>
            <a:endParaRPr sz="2175" b="1">
              <a:solidFill>
                <a:srgbClr val="102A4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1144250" y="90487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06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10" name="圆角矩形 9"/>
          <p:cNvSpPr>
            <a:spLocks noGrp="1"/>
          </p:cNvSpPr>
          <p:nvPr/>
        </p:nvSpPr>
        <p:spPr>
          <a:xfrm>
            <a:off x="552450" y="1581150"/>
            <a:ext cx="295275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Further Development | Dengjinwang Deng</a:t>
            </a:r>
            <a:endParaRPr sz="1050" b="1">
              <a:solidFill>
                <a:srgbClr val="008C95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矩形 15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Appointment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07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2865" y="1485265"/>
            <a:ext cx="2223135" cy="26739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  appointment confirmation and the patient-facing communication route. Explain how an appointment outcome becomes a controlled process decision.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update:</a:t>
            </a:r>
            <a:r>
              <a:rPr sz="1350" b="0">
                <a:solidFill>
                  <a:srgbClr val="172B4D"/>
                </a:solidFill>
              </a:rPr>
              <a:t>M</a:t>
            </a:r>
            <a:r>
              <a:rPr sz="1350" b="0">
                <a:solidFill>
                  <a:srgbClr val="172B4D"/>
                </a:solidFill>
              </a:rPr>
              <a:t>odelled and connected. The next action was to verify their forms and integration conditions.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2665" y="1772920"/>
            <a:ext cx="9635490" cy="43103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Further Development: External API and Patient Confirmation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08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91135" y="1485265"/>
            <a:ext cx="217424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local mock exposes GET /patients/next and returns one patient record for the BPMN route.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Retrieve Patient Details maps patientId, patientName, referralType and referralStatus into process variables.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The reviewer sees these values in Tasklist and actively chooses whether the imported data is correct. The XOR gateway only routes after this choice.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</a:t>
            </a:r>
            <a:r>
              <a:rPr sz="1350" b="0">
                <a:solidFill>
                  <a:srgbClr val="172B4D"/>
                </a:solidFill>
              </a:rPr>
              <a:t>U</a:t>
            </a:r>
            <a:r>
              <a:rPr sz="1350" b="0">
                <a:solidFill>
                  <a:srgbClr val="172B4D"/>
                </a:solidFill>
              </a:rPr>
              <a:t>pdate: the route was tested from API response to Tasklist confirmation, including a controlled missing-data branch.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1405" y="1562735"/>
            <a:ext cx="5034915" cy="351536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320" y="1568450"/>
            <a:ext cx="4457065" cy="35413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Further Development: Finance and Persistent Data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09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6990" y="1485265"/>
            <a:ext cx="251714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Wu Tongyu developed the funding and payment route and implemented persistent patient application data.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The H2 repository stores application values under patientId so later workers can retrieve and update the same record.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Shared worker support merges existing saved values with values from the current task before writing the record back.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 </a:t>
            </a:r>
            <a:r>
              <a:rPr sz="1350" b="0">
                <a:solidFill>
                  <a:srgbClr val="172B4D"/>
                </a:solidFill>
              </a:rPr>
              <a:t>P</a:t>
            </a:r>
            <a:r>
              <a:rPr sz="1350" b="0">
                <a:solidFill>
                  <a:srgbClr val="172B4D"/>
                </a:solidFill>
              </a:rPr>
              <a:t>rogress: persistence moved from a feedback requirement to a tested reopening scenario.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1405" y="1576070"/>
            <a:ext cx="5946775" cy="393382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8180" y="1891030"/>
            <a:ext cx="3682365" cy="33820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Teacher Feedback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10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1905000"/>
            <a:ext cx="3429000" cy="400050"/>
          </a:xfrm>
          <a:prstGeom prst="roundRect">
            <a:avLst>
              <a:gd name="adj" fmla="val 14286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FFFFFF"/>
                </a:solidFill>
              </a:defRPr>
            </a:defPPr>
            <a:lvl1pPr algn="ctr">
              <a:buNone/>
              <a:defRPr sz="1275" b="1">
                <a:solidFill>
                  <a:srgbClr val="FFFFFF"/>
                </a:solidFill>
              </a:defRPr>
            </a:lvl1pPr>
            <a:lvl2pPr algn="ctr">
              <a:buNone/>
              <a:defRPr sz="1275" b="1">
                <a:solidFill>
                  <a:srgbClr val="FFFFFF"/>
                </a:solidFill>
              </a:defRPr>
            </a:lvl2pPr>
            <a:lvl3pPr algn="ctr">
              <a:buNone/>
              <a:defRPr sz="1275" b="1">
                <a:solidFill>
                  <a:srgbClr val="FFFFFF"/>
                </a:solidFill>
              </a:defRPr>
            </a:lvl3pPr>
            <a:lvl4pPr algn="ctr">
              <a:buNone/>
              <a:defRPr sz="1275" b="1">
                <a:solidFill>
                  <a:srgbClr val="FFFFFF"/>
                </a:solidFill>
              </a:defRPr>
            </a:lvl4pPr>
            <a:lvl5pPr algn="ctr">
              <a:buNone/>
              <a:defRPr sz="1275" b="1">
                <a:solidFill>
                  <a:srgbClr val="FFFFFF"/>
                </a:solidFill>
              </a:defRPr>
            </a:lvl5pPr>
            <a:lvl6pPr algn="ctr">
              <a:buNone/>
              <a:defRPr sz="1275" b="1">
                <a:solidFill>
                  <a:srgbClr val="FFFFFF"/>
                </a:solidFill>
              </a:defRPr>
            </a:lvl6pPr>
            <a:lvl7pPr algn="ctr">
              <a:buNone/>
              <a:defRPr sz="1275" b="1">
                <a:solidFill>
                  <a:srgbClr val="FFFFFF"/>
                </a:solidFill>
              </a:defRPr>
            </a:lvl7pPr>
            <a:lvl8pPr algn="ctr">
              <a:buNone/>
              <a:defRPr sz="1275" b="1">
                <a:solidFill>
                  <a:srgbClr val="FFFFFF"/>
                </a:solidFill>
              </a:defRPr>
            </a:lvl8pPr>
            <a:lvl9pPr algn="ctr">
              <a:buNone/>
              <a:defRPr sz="1275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Feedback point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4095750" y="1905000"/>
            <a:ext cx="6667500" cy="400050"/>
          </a:xfrm>
          <a:prstGeom prst="roundRect">
            <a:avLst>
              <a:gd name="adj" fmla="val 14286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  <p:txBody>
          <a:bodyPr anchor="ctr"/>
          <a:lstStyle>
            <a:defPPr algn="l">
              <a:defRPr sz="1275" b="1">
                <a:solidFill>
                  <a:srgbClr val="FFFFFF"/>
                </a:solidFill>
              </a:defRPr>
            </a:defPPr>
            <a:lvl1pPr algn="l">
              <a:buNone/>
              <a:defRPr sz="1275" b="1">
                <a:solidFill>
                  <a:srgbClr val="FFFFFF"/>
                </a:solidFill>
              </a:defRPr>
            </a:lvl1pPr>
            <a:lvl2pPr algn="l">
              <a:buNone/>
              <a:defRPr sz="1275" b="1">
                <a:solidFill>
                  <a:srgbClr val="FFFFFF"/>
                </a:solidFill>
              </a:defRPr>
            </a:lvl2pPr>
            <a:lvl3pPr algn="l">
              <a:buNone/>
              <a:defRPr sz="1275" b="1">
                <a:solidFill>
                  <a:srgbClr val="FFFFFF"/>
                </a:solidFill>
              </a:defRPr>
            </a:lvl3pPr>
            <a:lvl4pPr algn="l">
              <a:buNone/>
              <a:defRPr sz="1275" b="1">
                <a:solidFill>
                  <a:srgbClr val="FFFFFF"/>
                </a:solidFill>
              </a:defRPr>
            </a:lvl4pPr>
            <a:lvl5pPr algn="l">
              <a:buNone/>
              <a:defRPr sz="1275" b="1">
                <a:solidFill>
                  <a:srgbClr val="FFFFFF"/>
                </a:solidFill>
              </a:defRPr>
            </a:lvl5pPr>
            <a:lvl6pPr algn="l">
              <a:buNone/>
              <a:defRPr sz="1275" b="1">
                <a:solidFill>
                  <a:srgbClr val="FFFFFF"/>
                </a:solidFill>
              </a:defRPr>
            </a:lvl6pPr>
            <a:lvl7pPr algn="l">
              <a:buNone/>
              <a:defRPr sz="1275" b="1">
                <a:solidFill>
                  <a:srgbClr val="FFFFFF"/>
                </a:solidFill>
              </a:defRPr>
            </a:lvl7pPr>
            <a:lvl8pPr algn="l">
              <a:buNone/>
              <a:defRPr sz="1275" b="1">
                <a:solidFill>
                  <a:srgbClr val="FFFFFF"/>
                </a:solidFill>
              </a:defRPr>
            </a:lvl8pPr>
            <a:lvl9pPr algn="l">
              <a:buNone/>
              <a:defRPr sz="1275" b="1">
                <a:solidFill>
                  <a:srgbClr val="FFFFFF"/>
                </a:solidFill>
              </a:defRPr>
            </a:lvl9pPr>
          </a:lstStyle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Priority decision and planned action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66750" y="26289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Form validation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095750" y="26289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R</a:t>
            </a:r>
            <a:r>
              <a:rPr sz="1350" b="0">
                <a:solidFill>
                  <a:srgbClr val="172B4D"/>
                </a:solidFill>
              </a:rPr>
              <a:t>equire valid inputs and use controlled options for routing values.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66750" y="33528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Merging gateways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095750" y="33528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R</a:t>
            </a:r>
            <a:r>
              <a:rPr sz="1350" b="0">
                <a:solidFill>
                  <a:srgbClr val="172B4D"/>
                </a:solidFill>
              </a:rPr>
              <a:t>emove duplicate downstream paths and converge alternatives safely.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66750" y="40767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Forms for scenarios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095750" y="40767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P</a:t>
            </a:r>
            <a:r>
              <a:rPr sz="1350" b="0">
                <a:solidFill>
                  <a:srgbClr val="172B4D"/>
                </a:solidFill>
              </a:rPr>
              <a:t>rovide normal, exception and retry decisions in Tasklist.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66750" y="48006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Data persistence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095750" y="48006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K</a:t>
            </a:r>
            <a:r>
              <a:rPr sz="1350" b="0">
                <a:solidFill>
                  <a:srgbClr val="172B4D"/>
                </a:solidFill>
              </a:rPr>
              <a:t>eep application data after worker restart and retrieve it by patientId.</a:t>
            </a:r>
            <a:endParaRPr sz="1350" b="0">
              <a:solidFill>
                <a:srgbClr val="172B4D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Feedback Improvement: Clinical Form Validation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11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9380" y="1485265"/>
            <a:ext cx="225171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Lin Jiaqiang developed the treatment and chemotherapy route and strengthened clinical task validation.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Required patient, clinical, decision and outcome fields prevent a task from completing with missing values.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Controlled selections give gateways predictable values rather than relying on free text.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The improvement protects clinical safety because the process does not progress until required information is present.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1405" y="1557020"/>
            <a:ext cx="9488805" cy="3438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Feedback Improvement: Merging Gateways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12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263525" y="1628775"/>
            <a:ext cx="235204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A merging gateway brings alternative paths back into one controlled downstream path.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This prevents duplicated tasks after successful and corrected outcomes.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Release 2 uses named convergence points in Appointment, Finance, Treatment and Clinic Letter processes.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</a:t>
            </a:r>
            <a:r>
              <a:rPr sz="1350" b="0">
                <a:solidFill>
                  <a:srgbClr val="172B4D"/>
                </a:solidFill>
              </a:rPr>
              <a:t>T</a:t>
            </a:r>
            <a:r>
              <a:rPr sz="1350" b="0">
                <a:solidFill>
                  <a:srgbClr val="172B4D"/>
                </a:solidFill>
              </a:rPr>
              <a:t>he appointment merge: separate booking outcomes converge before the shared notification or follow-up activity.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5565" y="1657350"/>
            <a:ext cx="8965565" cy="4236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Feedback Improvement: Forms for Business Scenarios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13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9380" y="1447800"/>
            <a:ext cx="262001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developed enquiry, clinic-letter and monitoring work.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The forms cover normal communication as well as delayed, missing or rejected information scenarios.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Each exception form captures the user decision needed to retry, escalate or end the route safely.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The forms turn business rules into visible and testable Tasklist behaviour.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9695" y="1701165"/>
            <a:ext cx="9507855" cy="49193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619250"/>
            <a:ext cx="5048250" cy="209550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119380" y="18859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endParaRPr sz="2250" b="1">
              <a:solidFill>
                <a:srgbClr val="102A43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1619250"/>
            <a:ext cx="5048250" cy="20955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4095750"/>
            <a:ext cx="5048250" cy="20955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4095750"/>
            <a:ext cx="5048250" cy="2095500"/>
          </a:xfrm>
          <a:prstGeom prst="rect">
            <a:avLst/>
          </a:prstGeom>
        </p:spPr>
      </p:pic>
      <p:sp>
        <p:nvSpPr>
          <p:cNvPr id="15" name="矩形 14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52450" y="171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52450" y="866775"/>
            <a:ext cx="9858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2175" b="1">
                <a:solidFill>
                  <a:srgbClr val="102A43"/>
                </a:solidFill>
              </a:defRPr>
            </a:defPPr>
            <a:lvl1pPr algn="l">
              <a:buNone/>
              <a:defRPr sz="2175" b="1">
                <a:solidFill>
                  <a:srgbClr val="102A43"/>
                </a:solidFill>
              </a:defRPr>
            </a:lvl1pPr>
            <a:lvl2pPr algn="l">
              <a:buNone/>
              <a:defRPr sz="2175" b="1">
                <a:solidFill>
                  <a:srgbClr val="102A43"/>
                </a:solidFill>
              </a:defRPr>
            </a:lvl2pPr>
            <a:lvl3pPr algn="l">
              <a:buNone/>
              <a:defRPr sz="2175" b="1">
                <a:solidFill>
                  <a:srgbClr val="102A43"/>
                </a:solidFill>
              </a:defRPr>
            </a:lvl3pPr>
            <a:lvl4pPr algn="l">
              <a:buNone/>
              <a:defRPr sz="2175" b="1">
                <a:solidFill>
                  <a:srgbClr val="102A43"/>
                </a:solidFill>
              </a:defRPr>
            </a:lvl4pPr>
            <a:lvl5pPr algn="l">
              <a:buNone/>
              <a:defRPr sz="2175" b="1">
                <a:solidFill>
                  <a:srgbClr val="102A43"/>
                </a:solidFill>
              </a:defRPr>
            </a:lvl5pPr>
            <a:lvl6pPr algn="l">
              <a:buNone/>
              <a:defRPr sz="2175" b="1">
                <a:solidFill>
                  <a:srgbClr val="102A43"/>
                </a:solidFill>
              </a:defRPr>
            </a:lvl6pPr>
            <a:lvl7pPr algn="l">
              <a:buNone/>
              <a:defRPr sz="2175" b="1">
                <a:solidFill>
                  <a:srgbClr val="102A43"/>
                </a:solidFill>
              </a:defRPr>
            </a:lvl7pPr>
            <a:lvl8pPr algn="l">
              <a:buNone/>
              <a:defRPr sz="2175" b="1">
                <a:solidFill>
                  <a:srgbClr val="102A43"/>
                </a:solidFill>
              </a:defRPr>
            </a:lvl8pPr>
            <a:lvl9pPr algn="l">
              <a:buNone/>
              <a:defRPr sz="2175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Tasklist Evidence for Business Scenarios</a:t>
            </a:r>
            <a:endParaRPr sz="2175" b="1">
              <a:solidFill>
                <a:srgbClr val="102A43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1144250" y="90487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14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20" name="圆角矩形 19"/>
          <p:cNvSpPr>
            <a:spLocks noGrp="1"/>
          </p:cNvSpPr>
          <p:nvPr/>
        </p:nvSpPr>
        <p:spPr>
          <a:xfrm>
            <a:off x="552450" y="1581150"/>
            <a:ext cx="295275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Response to Feedback | Tasklist evidence</a:t>
            </a:r>
            <a:endParaRPr sz="1050" b="1">
              <a:solidFill>
                <a:srgbClr val="008C95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Feedback Improvement: Data Persistence 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15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52450" y="1581150"/>
            <a:ext cx="266700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Response to Feedback | Wu Tongyu and SR4</a:t>
            </a:r>
            <a:endParaRPr sz="1050" b="1">
              <a:solidFill>
                <a:srgbClr val="008C95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1952625"/>
            <a:ext cx="318135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A file-backed H2 database stores application data after the worker stops.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The system reads the existing record with patientId, combines it with current task values, then saves the updated record.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A reopening test confirms that a new repository instance can recover an earlier record.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5730" y="1845310"/>
            <a:ext cx="8128000" cy="35750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Technical Implementation: API to BPMN Decision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16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52450" y="1581150"/>
            <a:ext cx="266700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How the API actually works</a:t>
            </a:r>
            <a:endParaRPr sz="1050" b="1">
              <a:solidFill>
                <a:srgbClr val="008C95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57200" y="4869180"/>
            <a:ext cx="1038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The Mock API returns one BPMN-safe patient object. The HTTP connector stores the JSON fields as process variables. Tasklist then captures the human decision. The XOR gateway evaluates that decision.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767715" y="2428875"/>
            <a:ext cx="1571625" cy="523875"/>
          </a:xfrm>
          <a:prstGeom prst="roundRect">
            <a:avLst>
              <a:gd name="adj" fmla="val 10909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008C95"/>
                </a:solidFill>
              </a:defRPr>
            </a:defPPr>
            <a:lvl1pPr algn="ctr">
              <a:buNone/>
              <a:defRPr sz="1350" b="1">
                <a:solidFill>
                  <a:srgbClr val="008C95"/>
                </a:solidFill>
              </a:defRPr>
            </a:lvl1pPr>
            <a:lvl2pPr algn="ctr">
              <a:buNone/>
              <a:defRPr sz="1350" b="1">
                <a:solidFill>
                  <a:srgbClr val="008C95"/>
                </a:solidFill>
              </a:defRPr>
            </a:lvl2pPr>
            <a:lvl3pPr algn="ctr">
              <a:buNone/>
              <a:defRPr sz="1350" b="1">
                <a:solidFill>
                  <a:srgbClr val="008C95"/>
                </a:solidFill>
              </a:defRPr>
            </a:lvl3pPr>
            <a:lvl4pPr algn="ctr">
              <a:buNone/>
              <a:defRPr sz="1350" b="1">
                <a:solidFill>
                  <a:srgbClr val="008C95"/>
                </a:solidFill>
              </a:defRPr>
            </a:lvl4pPr>
            <a:lvl5pPr algn="ctr">
              <a:buNone/>
              <a:defRPr sz="1350" b="1">
                <a:solidFill>
                  <a:srgbClr val="008C95"/>
                </a:solidFill>
              </a:defRPr>
            </a:lvl5pPr>
            <a:lvl6pPr algn="ctr">
              <a:buNone/>
              <a:defRPr sz="1350" b="1">
                <a:solidFill>
                  <a:srgbClr val="008C95"/>
                </a:solidFill>
              </a:defRPr>
            </a:lvl6pPr>
            <a:lvl7pPr algn="ctr">
              <a:buNone/>
              <a:defRPr sz="1350" b="1">
                <a:solidFill>
                  <a:srgbClr val="008C95"/>
                </a:solidFill>
              </a:defRPr>
            </a:lvl7pPr>
            <a:lvl8pPr algn="ctr">
              <a:buNone/>
              <a:defRPr sz="1350" b="1">
                <a:solidFill>
                  <a:srgbClr val="008C95"/>
                </a:solidFill>
              </a:defRPr>
            </a:lvl8pPr>
            <a:lvl9pPr algn="ctr">
              <a:buNone/>
              <a:defRPr sz="13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Postman Mock</a:t>
            </a:r>
            <a:endParaRPr sz="1350" b="1">
              <a:solidFill>
                <a:srgbClr val="008C95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219450" y="2428875"/>
            <a:ext cx="1571625" cy="523875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102A43"/>
                </a:solidFill>
              </a:defRPr>
            </a:defPPr>
            <a:lvl1pPr algn="ctr">
              <a:buNone/>
              <a:defRPr sz="1350" b="1">
                <a:solidFill>
                  <a:srgbClr val="102A43"/>
                </a:solidFill>
              </a:defRPr>
            </a:lvl1pPr>
            <a:lvl2pPr algn="ctr">
              <a:buNone/>
              <a:defRPr sz="1350" b="1">
                <a:solidFill>
                  <a:srgbClr val="102A43"/>
                </a:solidFill>
              </a:defRPr>
            </a:lvl2pPr>
            <a:lvl3pPr algn="ctr">
              <a:buNone/>
              <a:defRPr sz="1350" b="1">
                <a:solidFill>
                  <a:srgbClr val="102A43"/>
                </a:solidFill>
              </a:defRPr>
            </a:lvl3pPr>
            <a:lvl4pPr algn="ctr">
              <a:buNone/>
              <a:defRPr sz="1350" b="1">
                <a:solidFill>
                  <a:srgbClr val="102A43"/>
                </a:solidFill>
              </a:defRPr>
            </a:lvl4pPr>
            <a:lvl5pPr algn="ctr">
              <a:buNone/>
              <a:defRPr sz="1350" b="1">
                <a:solidFill>
                  <a:srgbClr val="102A43"/>
                </a:solidFill>
              </a:defRPr>
            </a:lvl5pPr>
            <a:lvl6pPr algn="ctr">
              <a:buNone/>
              <a:defRPr sz="1350" b="1">
                <a:solidFill>
                  <a:srgbClr val="102A43"/>
                </a:solidFill>
              </a:defRPr>
            </a:lvl6pPr>
            <a:lvl7pPr algn="ctr">
              <a:buNone/>
              <a:defRPr sz="1350" b="1">
                <a:solidFill>
                  <a:srgbClr val="102A43"/>
                </a:solidFill>
              </a:defRPr>
            </a:lvl7pPr>
            <a:lvl8pPr algn="ctr">
              <a:buNone/>
              <a:defRPr sz="1350" b="1">
                <a:solidFill>
                  <a:srgbClr val="102A43"/>
                </a:solidFill>
              </a:defRPr>
            </a:lvl8pPr>
            <a:lvl9pPr algn="ctr">
              <a:buNone/>
              <a:defRPr sz="135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HTTP JSON</a:t>
            </a:r>
            <a:endParaRPr sz="1350" b="1">
              <a:solidFill>
                <a:srgbClr val="102A43"/>
              </a:solidFill>
            </a:endParaRPr>
          </a:p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connector</a:t>
            </a:r>
            <a:endParaRPr sz="1350" b="1">
              <a:solidFill>
                <a:srgbClr val="102A43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5952490" y="2420620"/>
            <a:ext cx="1571625" cy="523875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102A43"/>
                </a:solidFill>
              </a:defRPr>
            </a:defPPr>
            <a:lvl1pPr algn="ctr">
              <a:buNone/>
              <a:defRPr sz="1350" b="1">
                <a:solidFill>
                  <a:srgbClr val="102A43"/>
                </a:solidFill>
              </a:defRPr>
            </a:lvl1pPr>
            <a:lvl2pPr algn="ctr">
              <a:buNone/>
              <a:defRPr sz="1350" b="1">
                <a:solidFill>
                  <a:srgbClr val="102A43"/>
                </a:solidFill>
              </a:defRPr>
            </a:lvl2pPr>
            <a:lvl3pPr algn="ctr">
              <a:buNone/>
              <a:defRPr sz="1350" b="1">
                <a:solidFill>
                  <a:srgbClr val="102A43"/>
                </a:solidFill>
              </a:defRPr>
            </a:lvl3pPr>
            <a:lvl4pPr algn="ctr">
              <a:buNone/>
              <a:defRPr sz="1350" b="1">
                <a:solidFill>
                  <a:srgbClr val="102A43"/>
                </a:solidFill>
              </a:defRPr>
            </a:lvl4pPr>
            <a:lvl5pPr algn="ctr">
              <a:buNone/>
              <a:defRPr sz="1350" b="1">
                <a:solidFill>
                  <a:srgbClr val="102A43"/>
                </a:solidFill>
              </a:defRPr>
            </a:lvl5pPr>
            <a:lvl6pPr algn="ctr">
              <a:buNone/>
              <a:defRPr sz="1350" b="1">
                <a:solidFill>
                  <a:srgbClr val="102A43"/>
                </a:solidFill>
              </a:defRPr>
            </a:lvl6pPr>
            <a:lvl7pPr algn="ctr">
              <a:buNone/>
              <a:defRPr sz="1350" b="1">
                <a:solidFill>
                  <a:srgbClr val="102A43"/>
                </a:solidFill>
              </a:defRPr>
            </a:lvl7pPr>
            <a:lvl8pPr algn="ctr">
              <a:buNone/>
              <a:defRPr sz="1350" b="1">
                <a:solidFill>
                  <a:srgbClr val="102A43"/>
                </a:solidFill>
              </a:defRPr>
            </a:lvl8pPr>
            <a:lvl9pPr algn="ctr">
              <a:buNone/>
              <a:defRPr sz="135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BPMN variables</a:t>
            </a:r>
            <a:endParaRPr sz="1350" b="1">
              <a:solidFill>
                <a:srgbClr val="102A4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67715" y="3716655"/>
            <a:ext cx="1952625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102A43"/>
                </a:solidFill>
              </a:defRPr>
            </a:defPPr>
            <a:lvl1pPr algn="ctr">
              <a:buNone/>
              <a:defRPr sz="1350" b="1">
                <a:solidFill>
                  <a:srgbClr val="102A43"/>
                </a:solidFill>
              </a:defRPr>
            </a:lvl1pPr>
            <a:lvl2pPr algn="ctr">
              <a:buNone/>
              <a:defRPr sz="1350" b="1">
                <a:solidFill>
                  <a:srgbClr val="102A43"/>
                </a:solidFill>
              </a:defRPr>
            </a:lvl2pPr>
            <a:lvl3pPr algn="ctr">
              <a:buNone/>
              <a:defRPr sz="1350" b="1">
                <a:solidFill>
                  <a:srgbClr val="102A43"/>
                </a:solidFill>
              </a:defRPr>
            </a:lvl3pPr>
            <a:lvl4pPr algn="ctr">
              <a:buNone/>
              <a:defRPr sz="1350" b="1">
                <a:solidFill>
                  <a:srgbClr val="102A43"/>
                </a:solidFill>
              </a:defRPr>
            </a:lvl4pPr>
            <a:lvl5pPr algn="ctr">
              <a:buNone/>
              <a:defRPr sz="1350" b="1">
                <a:solidFill>
                  <a:srgbClr val="102A43"/>
                </a:solidFill>
              </a:defRPr>
            </a:lvl5pPr>
            <a:lvl6pPr algn="ctr">
              <a:buNone/>
              <a:defRPr sz="1350" b="1">
                <a:solidFill>
                  <a:srgbClr val="102A43"/>
                </a:solidFill>
              </a:defRPr>
            </a:lvl6pPr>
            <a:lvl7pPr algn="ctr">
              <a:buNone/>
              <a:defRPr sz="1350" b="1">
                <a:solidFill>
                  <a:srgbClr val="102A43"/>
                </a:solidFill>
              </a:defRPr>
            </a:lvl7pPr>
            <a:lvl8pPr algn="ctr">
              <a:buNone/>
              <a:defRPr sz="1350" b="1">
                <a:solidFill>
                  <a:srgbClr val="102A43"/>
                </a:solidFill>
              </a:defRPr>
            </a:lvl8pPr>
            <a:lvl9pPr algn="ctr">
              <a:buNone/>
              <a:defRPr sz="135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Tasklist confirmation</a:t>
            </a:r>
            <a:endParaRPr sz="1350" b="1">
              <a:solidFill>
                <a:srgbClr val="102A43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3432175" y="3789045"/>
            <a:ext cx="1952625" cy="552450"/>
          </a:xfrm>
          <a:prstGeom prst="roundRect">
            <a:avLst>
              <a:gd name="adj" fmla="val 1034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008C95"/>
                </a:solidFill>
              </a:defRPr>
            </a:defPPr>
            <a:lvl1pPr algn="ctr">
              <a:buNone/>
              <a:defRPr sz="1350" b="1">
                <a:solidFill>
                  <a:srgbClr val="008C95"/>
                </a:solidFill>
              </a:defRPr>
            </a:lvl1pPr>
            <a:lvl2pPr algn="ctr">
              <a:buNone/>
              <a:defRPr sz="1350" b="1">
                <a:solidFill>
                  <a:srgbClr val="008C95"/>
                </a:solidFill>
              </a:defRPr>
            </a:lvl2pPr>
            <a:lvl3pPr algn="ctr">
              <a:buNone/>
              <a:defRPr sz="1350" b="1">
                <a:solidFill>
                  <a:srgbClr val="008C95"/>
                </a:solidFill>
              </a:defRPr>
            </a:lvl3pPr>
            <a:lvl4pPr algn="ctr">
              <a:buNone/>
              <a:defRPr sz="1350" b="1">
                <a:solidFill>
                  <a:srgbClr val="008C95"/>
                </a:solidFill>
              </a:defRPr>
            </a:lvl4pPr>
            <a:lvl5pPr algn="ctr">
              <a:buNone/>
              <a:defRPr sz="1350" b="1">
                <a:solidFill>
                  <a:srgbClr val="008C95"/>
                </a:solidFill>
              </a:defRPr>
            </a:lvl5pPr>
            <a:lvl6pPr algn="ctr">
              <a:buNone/>
              <a:defRPr sz="1350" b="1">
                <a:solidFill>
                  <a:srgbClr val="008C95"/>
                </a:solidFill>
              </a:defRPr>
            </a:lvl6pPr>
            <a:lvl7pPr algn="ctr">
              <a:buNone/>
              <a:defRPr sz="1350" b="1">
                <a:solidFill>
                  <a:srgbClr val="008C95"/>
                </a:solidFill>
              </a:defRPr>
            </a:lvl7pPr>
            <a:lvl8pPr algn="ctr">
              <a:buNone/>
              <a:defRPr sz="1350" b="1">
                <a:solidFill>
                  <a:srgbClr val="008C95"/>
                </a:solidFill>
              </a:defRPr>
            </a:lvl8pPr>
            <a:lvl9pPr algn="ctr">
              <a:buNone/>
              <a:defRPr sz="13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dataConfirmed</a:t>
            </a:r>
            <a:endParaRPr sz="1350" b="1">
              <a:solidFill>
                <a:srgbClr val="008C95"/>
              </a:solidFill>
            </a:endParaRPr>
          </a:p>
          <a:p>
            <a:pPr algn="ctr">
              <a:buNone/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XOR gateway</a:t>
            </a:r>
            <a:endParaRPr sz="1350" b="1">
              <a:solidFill>
                <a:srgbClr val="008C9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664200" y="3860800"/>
            <a:ext cx="5746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275" b="1">
                <a:solidFill>
                  <a:srgbClr val="008C95"/>
                </a:solidFill>
              </a:defRPr>
            </a:defPPr>
            <a:lvl1pPr algn="l">
              <a:buNone/>
              <a:defRPr sz="1275" b="1">
                <a:solidFill>
                  <a:srgbClr val="008C95"/>
                </a:solidFill>
              </a:defRPr>
            </a:lvl1pPr>
            <a:lvl2pPr algn="l">
              <a:buNone/>
              <a:defRPr sz="1275" b="1">
                <a:solidFill>
                  <a:srgbClr val="008C95"/>
                </a:solidFill>
              </a:defRPr>
            </a:lvl2pPr>
            <a:lvl3pPr algn="l">
              <a:buNone/>
              <a:defRPr sz="1275" b="1">
                <a:solidFill>
                  <a:srgbClr val="008C95"/>
                </a:solidFill>
              </a:defRPr>
            </a:lvl3pPr>
            <a:lvl4pPr algn="l">
              <a:buNone/>
              <a:defRPr sz="1275" b="1">
                <a:solidFill>
                  <a:srgbClr val="008C95"/>
                </a:solidFill>
              </a:defRPr>
            </a:lvl4pPr>
            <a:lvl5pPr algn="l">
              <a:buNone/>
              <a:defRPr sz="1275" b="1">
                <a:solidFill>
                  <a:srgbClr val="008C95"/>
                </a:solidFill>
              </a:defRPr>
            </a:lvl5pPr>
            <a:lvl6pPr algn="l">
              <a:buNone/>
              <a:defRPr sz="1275" b="1">
                <a:solidFill>
                  <a:srgbClr val="008C95"/>
                </a:solidFill>
              </a:defRPr>
            </a:lvl6pPr>
            <a:lvl7pPr algn="l">
              <a:buNone/>
              <a:defRPr sz="1275" b="1">
                <a:solidFill>
                  <a:srgbClr val="008C95"/>
                </a:solidFill>
              </a:defRPr>
            </a:lvl7pPr>
            <a:lvl8pPr algn="l">
              <a:buNone/>
              <a:defRPr sz="1275" b="1">
                <a:solidFill>
                  <a:srgbClr val="008C95"/>
                </a:solidFill>
              </a:defRPr>
            </a:lvl8pPr>
            <a:lvl9pPr algn="l">
              <a:buNone/>
              <a:defRPr sz="1275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The API does not choose Yes or No. It only supplies patient data. A user makes the choice in Tasklist, and the gateway follows the value submitted by the form.</a:t>
            </a:r>
            <a:endParaRPr sz="1275" b="1">
              <a:solidFill>
                <a:srgbClr val="008C9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7768</Words>
  <Application>WPS 演示</Application>
  <PresentationFormat>Converted Presentation</PresentationFormat>
  <Paragraphs>250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Arial</vt:lpstr>
      <vt:lpstr>宋体</vt:lpstr>
      <vt:lpstr>Wingdings</vt:lpstr>
      <vt:lpstr>Aptos</vt:lpstr>
      <vt:lpstr>Segoe UI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going</cp:lastModifiedBy>
  <cp:revision>1</cp:revision>
  <dcterms:created xsi:type="dcterms:W3CDTF">2026-10-21T11:11:52Z</dcterms:created>
  <dcterms:modified xsi:type="dcterms:W3CDTF">2026-10-21T11:11:52Z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D3ECDACE4B934DA98894A9636F0CEBB8_12</vt:lpwstr>
  </property>
  <property fmtid="{D5CDD505-2E9C-101B-9397-08002B2CF9AE}" pid="3" name="KSOProductBuildVer">
    <vt:lpwstr>2052-12.1.0.28505</vt:lpwstr>
  </property>
</Properties>
</file>