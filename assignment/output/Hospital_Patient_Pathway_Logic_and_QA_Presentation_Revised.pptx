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d5243d35ac428f" /><Relationship Type="http://schemas.openxmlformats.org/officeDocument/2006/relationships/extended-properties" Target="/docProps/app.xml" Id="R3c5266aee5cc4fe7" /><Relationship Type="http://schemas.openxmlformats.org/officeDocument/2006/relationships/officeDocument" Target="/ppt/presentation.xml" Id="R70526741a99a421c" /></Relationships>
</file>

<file path=ppt/presentation.xml><?xml version="1.0" encoding="utf-8"?>
<p:presentation xmlns:p="http://schemas.openxmlformats.org/presentationml/2006/main">
  <p:sldMasterIdLst>
    <p:sldMasterId xmlns:r="http://schemas.openxmlformats.org/officeDocument/2006/relationships" id="2147483648" r:id="Rfd9d4644eeff4c72"/>
  </p:sldMasterIdLst>
  <p:notesMasterIdLst>
    <p:notesMasterId xmlns:r="http://schemas.openxmlformats.org/officeDocument/2006/relationships" r:id="R47b13613b3194168"/>
  </p:notesMasterIdLst>
  <p:sldIdLst>
    <p:sldId xmlns:r="http://schemas.openxmlformats.org/officeDocument/2006/relationships" id="256" r:id="Rb7ea97abef3c4c2c"/>
    <p:sldId xmlns:r="http://schemas.openxmlformats.org/officeDocument/2006/relationships" id="257" r:id="R505bf71f84804c50"/>
    <p:sldId xmlns:r="http://schemas.openxmlformats.org/officeDocument/2006/relationships" id="258" r:id="R79ad937d2eba40bb"/>
    <p:sldId xmlns:r="http://schemas.openxmlformats.org/officeDocument/2006/relationships" id="259" r:id="R20141a9fedda4785"/>
    <p:sldId xmlns:r="http://schemas.openxmlformats.org/officeDocument/2006/relationships" id="260" r:id="R94fb3b172920417c"/>
    <p:sldId xmlns:r="http://schemas.openxmlformats.org/officeDocument/2006/relationships" id="261" r:id="R8c809e4db9374046"/>
    <p:sldId xmlns:r="http://schemas.openxmlformats.org/officeDocument/2006/relationships" id="262" r:id="R2174fe79e4494057"/>
    <p:sldId xmlns:r="http://schemas.openxmlformats.org/officeDocument/2006/relationships" id="263" r:id="R8dc70d65c7564e99"/>
    <p:sldId xmlns:r="http://schemas.openxmlformats.org/officeDocument/2006/relationships" id="264" r:id="R53423df2e249424d"/>
    <p:sldId xmlns:r="http://schemas.openxmlformats.org/officeDocument/2006/relationships" id="265" r:id="R935d27b11e7f44b5"/>
    <p:sldId xmlns:r="http://schemas.openxmlformats.org/officeDocument/2006/relationships" id="266" r:id="Rd2dfcfa44bc54764"/>
    <p:sldId xmlns:r="http://schemas.openxmlformats.org/officeDocument/2006/relationships" id="267" r:id="R8580b9a065c84491"/>
    <p:sldId xmlns:r="http://schemas.openxmlformats.org/officeDocument/2006/relationships" id="268" r:id="R254895574311482a"/>
    <p:sldId xmlns:r="http://schemas.openxmlformats.org/officeDocument/2006/relationships" id="269" r:id="R291c12f549f64179"/>
    <p:sldId xmlns:r="http://schemas.openxmlformats.org/officeDocument/2006/relationships" id="270" r:id="R83c210676a0b433d"/>
    <p:sldId xmlns:r="http://schemas.openxmlformats.org/officeDocument/2006/relationships" id="271" r:id="Rb990084caaa34809"/>
    <p:sldId xmlns:r="http://schemas.openxmlformats.org/officeDocument/2006/relationships" id="272" r:id="R151a1f215d00493c"/>
    <p:sldId xmlns:r="http://schemas.openxmlformats.org/officeDocument/2006/relationships" id="273" r:id="Re2cb97e16dcb45cd"/>
    <p:sldId xmlns:r="http://schemas.openxmlformats.org/officeDocument/2006/relationships" id="274" r:id="R9ccc39aebf824e95"/>
    <p:sldId xmlns:r="http://schemas.openxmlformats.org/officeDocument/2006/relationships" id="275" r:id="R574c1b64ae9e4600"/>
    <p:sldId xmlns:r="http://schemas.openxmlformats.org/officeDocument/2006/relationships" id="276" r:id="R2006c0e02adb48ad"/>
    <p:sldId xmlns:r="http://schemas.openxmlformats.org/officeDocument/2006/relationships" id="277" r:id="R1b4ba16e4aa048bf"/>
    <p:sldId xmlns:r="http://schemas.openxmlformats.org/officeDocument/2006/relationships" id="278" r:id="R7a2e708707f54e3d"/>
    <p:sldId xmlns:r="http://schemas.openxmlformats.org/officeDocument/2006/relationships" id="279" r:id="R7b2052a9a60741ef"/>
    <p:sldId xmlns:r="http://schemas.openxmlformats.org/officeDocument/2006/relationships" id="280" r:id="Ra53498b1c7df4c96"/>
    <p:sldId xmlns:r="http://schemas.openxmlformats.org/officeDocument/2006/relationships" id="281" r:id="R356deee73ec84238"/>
    <p:sldId xmlns:r="http://schemas.openxmlformats.org/officeDocument/2006/relationships" id="282" r:id="R051148faef36454f"/>
    <p:sldId xmlns:r="http://schemas.openxmlformats.org/officeDocument/2006/relationships" id="283" r:id="Re790e1e07912475f"/>
    <p:sldId xmlns:r="http://schemas.openxmlformats.org/officeDocument/2006/relationships" id="284" r:id="Red24865f6d4542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8fbd860a94468c" /><Relationship Type="http://schemas.openxmlformats.org/officeDocument/2006/relationships/slideMaster" Target="/ppt/slideMasters/slideMaster1.xml" Id="Rfd9d4644eeff4c72" /><Relationship Type="http://schemas.openxmlformats.org/officeDocument/2006/relationships/notesMaster" Target="/ppt/notesMasters/notesMaster1.xml" Id="R47b13613b3194168" /><Relationship Type="http://schemas.openxmlformats.org/officeDocument/2006/relationships/presProps" Target="/ppt/presProps.xml" Id="R781b6b7c7e734049" /><Relationship Type="http://schemas.openxmlformats.org/officeDocument/2006/relationships/tableStyles" Target="/ppt/tableStyles.xml" Id="R6ccfe9e0f6944b4b" /><Relationship Type="http://schemas.openxmlformats.org/officeDocument/2006/relationships/slide" Target="/ppt/slides/slide1.xml" Id="Rb7ea97abef3c4c2c" /><Relationship Type="http://schemas.openxmlformats.org/officeDocument/2006/relationships/slide" Target="/ppt/slides/slide2.xml" Id="R505bf71f84804c50" /><Relationship Type="http://schemas.openxmlformats.org/officeDocument/2006/relationships/slide" Target="/ppt/slides/slide3.xml" Id="R79ad937d2eba40bb" /><Relationship Type="http://schemas.openxmlformats.org/officeDocument/2006/relationships/slide" Target="/ppt/slides/slide4.xml" Id="R20141a9fedda4785" /><Relationship Type="http://schemas.openxmlformats.org/officeDocument/2006/relationships/slide" Target="/ppt/slides/slide5.xml" Id="R94fb3b172920417c" /><Relationship Type="http://schemas.openxmlformats.org/officeDocument/2006/relationships/slide" Target="/ppt/slides/slide6.xml" Id="R8c809e4db9374046" /><Relationship Type="http://schemas.openxmlformats.org/officeDocument/2006/relationships/slide" Target="/ppt/slides/slide7.xml" Id="R2174fe79e4494057" /><Relationship Type="http://schemas.openxmlformats.org/officeDocument/2006/relationships/slide" Target="/ppt/slides/slide8.xml" Id="R8dc70d65c7564e99" /><Relationship Type="http://schemas.openxmlformats.org/officeDocument/2006/relationships/slide" Target="/ppt/slides/slide9.xml" Id="R53423df2e249424d" /><Relationship Type="http://schemas.openxmlformats.org/officeDocument/2006/relationships/slide" Target="/ppt/slides/slide10.xml" Id="R935d27b11e7f44b5" /><Relationship Type="http://schemas.openxmlformats.org/officeDocument/2006/relationships/slide" Target="/ppt/slides/slide11.xml" Id="Rd2dfcfa44bc54764" /><Relationship Type="http://schemas.openxmlformats.org/officeDocument/2006/relationships/slide" Target="/ppt/slides/slide12.xml" Id="R8580b9a065c84491" /><Relationship Type="http://schemas.openxmlformats.org/officeDocument/2006/relationships/slide" Target="/ppt/slides/slide13.xml" Id="R254895574311482a" /><Relationship Type="http://schemas.openxmlformats.org/officeDocument/2006/relationships/slide" Target="/ppt/slides/slide14.xml" Id="R291c12f549f64179" /><Relationship Type="http://schemas.openxmlformats.org/officeDocument/2006/relationships/slide" Target="/ppt/slides/slide15.xml" Id="R83c210676a0b433d" /><Relationship Type="http://schemas.openxmlformats.org/officeDocument/2006/relationships/slide" Target="/ppt/slides/slide16.xml" Id="Rb990084caaa34809" /><Relationship Type="http://schemas.openxmlformats.org/officeDocument/2006/relationships/slide" Target="/ppt/slides/slide17.xml" Id="R151a1f215d00493c" /><Relationship Type="http://schemas.openxmlformats.org/officeDocument/2006/relationships/slide" Target="/ppt/slides/slide18.xml" Id="Re2cb97e16dcb45cd" /><Relationship Type="http://schemas.openxmlformats.org/officeDocument/2006/relationships/slide" Target="/ppt/slides/slide19.xml" Id="R9ccc39aebf824e95" /><Relationship Type="http://schemas.openxmlformats.org/officeDocument/2006/relationships/slide" Target="/ppt/slides/slide20.xml" Id="R574c1b64ae9e4600" /><Relationship Type="http://schemas.openxmlformats.org/officeDocument/2006/relationships/slide" Target="/ppt/slides/slide21.xml" Id="R2006c0e02adb48ad" /><Relationship Type="http://schemas.openxmlformats.org/officeDocument/2006/relationships/slide" Target="/ppt/slides/slide22.xml" Id="R1b4ba16e4aa048bf" /><Relationship Type="http://schemas.openxmlformats.org/officeDocument/2006/relationships/slide" Target="/ppt/slides/slide23.xml" Id="R7a2e708707f54e3d" /><Relationship Type="http://schemas.openxmlformats.org/officeDocument/2006/relationships/slide" Target="/ppt/slides/slide24.xml" Id="R7b2052a9a60741ef" /><Relationship Type="http://schemas.openxmlformats.org/officeDocument/2006/relationships/slide" Target="/ppt/slides/slide25.xml" Id="Ra53498b1c7df4c96" /><Relationship Type="http://schemas.openxmlformats.org/officeDocument/2006/relationships/slide" Target="/ppt/slides/slide26.xml" Id="R356deee73ec84238" /><Relationship Type="http://schemas.openxmlformats.org/officeDocument/2006/relationships/slide" Target="/ppt/slides/slide27.xml" Id="R051148faef36454f" /><Relationship Type="http://schemas.openxmlformats.org/officeDocument/2006/relationships/slide" Target="/ppt/slides/slide28.xml" Id="Re790e1e07912475f" /><Relationship Type="http://schemas.openxmlformats.org/officeDocument/2006/relationships/slide" Target="/ppt/slides/slide29.xml" Id="Red24865f6d4542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82b3029c564c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5798c53db949d5" /><Relationship Type="http://schemas.openxmlformats.org/officeDocument/2006/relationships/notesMaster" Target="/ppt/notesMasters/notesMaster1.xml" Id="R61788743fb634d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a2f901c7154469" /><Relationship Type="http://schemas.openxmlformats.org/officeDocument/2006/relationships/notesMaster" Target="/ppt/notesMasters/notesMaster1.xml" Id="R76074df95f9847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384442122f4c51" /><Relationship Type="http://schemas.openxmlformats.org/officeDocument/2006/relationships/notesMaster" Target="/ppt/notesMasters/notesMaster1.xml" Id="Reff542a4cf8742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2988c0a2a9461a" /><Relationship Type="http://schemas.openxmlformats.org/officeDocument/2006/relationships/notesMaster" Target="/ppt/notesMasters/notesMaster1.xml" Id="R67348f72fb2c41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272fbe4cd84c88" /><Relationship Type="http://schemas.openxmlformats.org/officeDocument/2006/relationships/notesMaster" Target="/ppt/notesMasters/notesMaster1.xml" Id="R57942d19840e4c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d9e2bb97dc49c0" /><Relationship Type="http://schemas.openxmlformats.org/officeDocument/2006/relationships/notesMaster" Target="/ppt/notesMasters/notesMaster1.xml" Id="R7e15ac70ef4c4b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abf85c9d16404d" /><Relationship Type="http://schemas.openxmlformats.org/officeDocument/2006/relationships/notesMaster" Target="/ppt/notesMasters/notesMaster1.xml" Id="R59cfe8df647748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72a7c5adf74569" /><Relationship Type="http://schemas.openxmlformats.org/officeDocument/2006/relationships/notesMaster" Target="/ppt/notesMasters/notesMaster1.xml" Id="R19a97e4f8c6341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bc90ace1004328" /><Relationship Type="http://schemas.openxmlformats.org/officeDocument/2006/relationships/notesMaster" Target="/ppt/notesMasters/notesMaster1.xml" Id="R346711c15c9e46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7857d8387d4389" /><Relationship Type="http://schemas.openxmlformats.org/officeDocument/2006/relationships/notesMaster" Target="/ppt/notesMasters/notesMaster1.xml" Id="Rc81947f930214f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ad733c0f9d4c5c" /><Relationship Type="http://schemas.openxmlformats.org/officeDocument/2006/relationships/notesMaster" Target="/ppt/notesMasters/notesMaster1.xml" Id="R32ec75ca23b641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7545a92db5d48a2" /><Relationship Type="http://schemas.openxmlformats.org/officeDocument/2006/relationships/notesMaster" Target="/ppt/notesMasters/notesMaster1.xml" Id="Re88979d64d09430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2bbc7f2f4444fd" /><Relationship Type="http://schemas.openxmlformats.org/officeDocument/2006/relationships/notesMaster" Target="/ppt/notesMasters/notesMaster1.xml" Id="Rb114dc18199a41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bd9539fde543bb" /><Relationship Type="http://schemas.openxmlformats.org/officeDocument/2006/relationships/notesMaster" Target="/ppt/notesMasters/notesMaster1.xml" Id="Ree7cabef35af448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44ae144b32408d" /><Relationship Type="http://schemas.openxmlformats.org/officeDocument/2006/relationships/notesMaster" Target="/ppt/notesMasters/notesMaster1.xml" Id="Rfea3b014e5ae44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8f5135b759345e8" /><Relationship Type="http://schemas.openxmlformats.org/officeDocument/2006/relationships/notesMaster" Target="/ppt/notesMasters/notesMaster1.xml" Id="R1ed20d3a9c154b7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7fed497ac124d9e" /><Relationship Type="http://schemas.openxmlformats.org/officeDocument/2006/relationships/notesMaster" Target="/ppt/notesMasters/notesMaster1.xml" Id="R50a7c19dd8ad48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9225628b82644ee" /><Relationship Type="http://schemas.openxmlformats.org/officeDocument/2006/relationships/notesMaster" Target="/ppt/notesMasters/notesMaster1.xml" Id="Refeae8fd4e7a4b9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0213760b1ec4814" /><Relationship Type="http://schemas.openxmlformats.org/officeDocument/2006/relationships/notesMaster" Target="/ppt/notesMasters/notesMaster1.xml" Id="Rda1941847e3c4b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edd2fad5ae847f4" /><Relationship Type="http://schemas.openxmlformats.org/officeDocument/2006/relationships/notesMaster" Target="/ppt/notesMasters/notesMaster1.xml" Id="R3226ecc10c7f48a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eef174825b142e1" /><Relationship Type="http://schemas.openxmlformats.org/officeDocument/2006/relationships/notesMaster" Target="/ppt/notesMasters/notesMaster1.xml" Id="Rcb0320c6dc74412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fd275d7461b488c" /><Relationship Type="http://schemas.openxmlformats.org/officeDocument/2006/relationships/notesMaster" Target="/ppt/notesMasters/notesMaster1.xml" Id="Rb59d66f2bb88434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2095fcbde51463a" /><Relationship Type="http://schemas.openxmlformats.org/officeDocument/2006/relationships/notesMaster" Target="/ppt/notesMasters/notesMaster1.xml" Id="R54049de632174ac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bdb41c46f094701" /><Relationship Type="http://schemas.openxmlformats.org/officeDocument/2006/relationships/notesMaster" Target="/ppt/notesMasters/notesMaster1.xml" Id="R35e8b490e6e94c5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2b65e06dc714c00" /><Relationship Type="http://schemas.openxmlformats.org/officeDocument/2006/relationships/notesMaster" Target="/ppt/notesMasters/notesMaster1.xml" Id="R453b845401194b6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a43d46c5a174cdb" /><Relationship Type="http://schemas.openxmlformats.org/officeDocument/2006/relationships/notesMaster" Target="/ppt/notesMasters/notesMaster1.xml" Id="Re42275f4e7074b4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ba7ebed53fb4b70" /><Relationship Type="http://schemas.openxmlformats.org/officeDocument/2006/relationships/notesMaster" Target="/ppt/notesMasters/notesMaster1.xml" Id="Rde158950a9d3408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90e883c7d5045ac" /><Relationship Type="http://schemas.openxmlformats.org/officeDocument/2006/relationships/notesMaster" Target="/ppt/notesMasters/notesMaster1.xml" Id="R546fcba84e39456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54eb70b9a064ae8" /><Relationship Type="http://schemas.openxmlformats.org/officeDocument/2006/relationships/notesMaster" Target="/ppt/notesMasters/notesMaster1.xml" Id="R8be295ee55044a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我们五人设计的是一个患者从转诊到预约、费用清算、治疗和诊所信件的流程。主流程负责模块交接，个人模块负责业务判断。今天每人会展示自己的原始流程图，解释关键分支，并说明现场输入什么、预期走哪条路。材料中的实际运行截图只覆盖部分历史路径，我们会明确证据范围。</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C:/Users/huanxi/Desktop/ZUOYE/Case Study - Hospital Patient Referral, Treatment and Administration System.docx</a:t>
            </a:r>
          </a:p>
          <a:p xmlns:a="http://schemas.openxmlformats.org/drawingml/2006/main">
            <a:r>
              <a:t>D:\Camunda-Workspace\models\assignment\bpmn</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主流程先调用转诊；只有顾问接受才进入预约。预约完成后，财务结果决定是否可以进入治疗。治疗子流程结束后启动诊所信件。这样设计是为了把临床、行政和财务责任隔开，同时让每一步的状态通过变量传给下一步。患者咨询和退款另有消息入口，不属于普通主线。</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早期本地版本中，财务和治疗并行执行，会先开始治疗再判断清算。当前主流程把财务放在治疗前。原来无号源、资源不足和付款失败的重试任务缺少可编辑表单，现在能修改输入再重试。退款增加必须既需要退款又获得批准的条件。信件审批与监控有独立表单。这些是对比文件后能确认的具体改动；不能说它们来自导师反馈，因为我们没有填好的导师反馈记录。</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D:\Camunda-Workspace\models\assignment\Strengths_and_Weaknesses.docx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展示时不只看流程图。先说明输入变量，再启动对应流程或在主流程中完成用户任务，然后看网关选择、worker 返回值和结束状态。一个成功截图只能证明它所走过的一条路径。当前有转诊、预约和信件的历史完成实例，财务和治疗有选定路径的轨迹，另外现有十一项 Java 测试已通过。最新主流程的完整正常和异常路径仍要在最终环境中重跑。</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D:\Camunda-Workspace\models\assignment\External_Workers\src\test\java\org\hospital\workers\WorkerLogicSmokeTest.java</a:t>
            </a:r>
          </a:p>
          <a:p xmlns:a="http://schemas.openxmlformats.org/drawingml/2006/main">
            <a:r>
              <a:t>D:\Camunda-Workspace\models\assignment\.presentation_work\code_validation\test_results.txt</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这是我的完整流程图。从右上接收转诊，先核查材料是否齐全，缺失则请求补充并重新检查。材料齐全后由顾问选择接受、拒绝、转向其他服务或要求更多临床信息。只有接受分支向预约交接。图示是设计逻辑，当前 BPMN 的 REDIRECT 结尾与图示一致。</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D:\Camunda-Workspace\models\assignment\bpmn\23084366_Referral_Consultant_Review\Path_Logic_Diagram.docx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第一道网关看 informationComplete。false 就请转诊方补齐材料，不能直接预约。true 才让顾问审核。第二道网关读 referralDecision：ACCEPT 进入预约；REJECT 记录原因后结束；REDIRECT 记录目标服务后结束；MORE_INFORMATION 回到资料补充。把行政完整性和临床接受分开，是为了避免秘书以材料齐全替代顾问作出临床决定。</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现场可以先录入患者与转诊信息，把 informationComplete 设为 false，观察请求补充后回到检查；再改为 true，让顾问选择 ACCEPT，观察记录接受和主流程进入预约。历史截图只显示 ACCEPT 完成，不证明其他三种决定运行过。这个模块没有 service task，外部转诊方的消息箭头是协作边界，不代表已经实现网络传输。</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D:\Camunda-Workspace\models\assignment\evidence\23084366_Referral_Consultant\55c23817-c9ca-4257-8e40-ec960af764d3.png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DENG JIN WANG</a:t>
            </a:r>
          </a:p>
          <a:p xmlns:a="http://schemas.openxmlformats.org/drawingml/2006/main">
            <a:r>
              <a:t/>
            </a:r>
          </a:p>
          <a:p xmlns:a="http://schemas.openxmlformats.org/drawingml/2006/main">
            <a:r>
              <a:t>中文讲稿</a:t>
            </a:r>
          </a:p>
          <a:p xmlns:a="http://schemas.openxmlformats.org/drawingml/2006/main">
            <a:r>
              <a:t>导师可能会问：为什么转诊没有 Java worker？因为该模块的决定由秘书和顾问完成，当前 BPMN 没有外部 service task。还可能问：如果 API 直接写入一个未知 referralDecision 会怎样？表单的必填选项限制了普通输入，但网关没有默认路径，绕过表单写入未知值可能卡住。这是需要补的健壮性问题。</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这张是预约流程图的上半部分。先填写预约请求，worker 查询是否有合适号源。无号源时重新打开预约表单，可以调整日期和模拟可用性再查询；紧急转诊还进入人工协调。找到号源后确认预约并发送信件。这里体现了为什么重试任务必须能修改输入，否则会把相同请求无限重复。</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D:\Camunda-Workspace\models\assignment\bpmn\23084364_Appointment_Patient_Communication\Path_Logic_Diagram.docx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这是同一张预约流程图的下半部分。发送预约信件后，若预约日期在十四天内，还要电话联系患者，并记录接通、无人接听、号码错误或要求改期。改期返回重新查号源。当前模型中无人接听和号码错误在记录后仍可到确认交接，因此它记录了结果，但没有实现必须成功联系的额外重拨规则。</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D:\Camunda-Workspace\models\assignment\bpmn\23084364_Appointment_Patient_Communication\Path_Logic_Diagram.docx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预约表单给出 requestedSlotAvailable 和 requestedAppointmentDate。查询 worker 返回 slotAvailable、appointmentDate、appointmentWithinTwoWeeks 和状态。日期按今天到预约日的天数计算，0 到 14 天为 true，所以触发电话任务。号源不存在则进入人工修改表单后重试。这样将服务结果与人工决定分开，但当前日期解析失败会退回默认日期，过去日期也可能报告 SLOT_FOUND，需要增加输入验证。</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现场正常路径可把 requestedSlotAvailable 设为 true、日期设为十五天后，看到确认和信件，电话网关走 No。异常路径先设 false，看到无号源，修改表单再设 true，观察重试后成功。若日期设为七天后，应该进入电话任务。已有历史截图证明了无电话的完成路径和 worker 输出传入任务，但还不能证明三种演示在当前版本全部通过。</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D:\Camunda-Workspace\models\assignment\evidence\23084364_Appointment_Patient_Communication\54404e0f-98b2-4d6f-b43c-7f3b32c0060f.png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LIN JIA QIANG</a:t>
            </a:r>
          </a:p>
          <a:p xmlns:a="http://schemas.openxmlformats.org/drawingml/2006/main">
            <a:r>
              <a:t/>
            </a:r>
          </a:p>
          <a:p xmlns:a="http://schemas.openxmlformats.org/drawingml/2006/main">
            <a:r>
              <a:t>中文讲稿</a:t>
            </a:r>
          </a:p>
          <a:p xmlns:a="http://schemas.openxmlformats.org/drawingml/2006/main">
            <a:r>
              <a:t>这是治疗图第一段。患者就诊后先做评估并记录是否同意治疗。没有同意就结束治疗子流程，但主流程仍进入诊所信件。若同意，需要授权的治疗请求；未授权时返回修改，不能直接预约治疗。把患者同意和医护授权分别作为门槛，是为了避免把一个签字当作完整的临床批准。</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D:\Camunda-Workspace\models\assignment\bpmn\23084368_Treatment_Chemotherapy\Path_Logic_Diagram.docx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LIN JIA QIANG</a:t>
            </a:r>
          </a:p>
          <a:p xmlns:a="http://schemas.openxmlformats.org/drawingml/2006/main">
            <a:r>
              <a:t/>
            </a:r>
          </a:p>
          <a:p xmlns:a="http://schemas.openxmlformats.org/drawingml/2006/main">
            <a:r>
              <a:t>中文讲稿</a:t>
            </a:r>
          </a:p>
          <a:p xmlns:a="http://schemas.openxmlformats.org/drawingml/2006/main">
            <a:r>
              <a:t>这是中间段。授权后 worker 返回资源是否可用。不可用则记录待处理、通知团队，并重新打开治疗请求表单修改资源可用性后再检查。可用才安排治疗。每一疗程后由人工回答是否还有更多周期。这个循环不是自动计数，numberOfCycles 只是文本字段，moreCycles 才决定是否继续。</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D:\Camunda-Workspace\models\assignment\bpmn\23084368_Treatment_Chemotherapy\Path_Logic_Diagram.docx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LIN JIA QIANG</a:t>
            </a:r>
          </a:p>
          <a:p xmlns:a="http://schemas.openxmlformats.org/drawingml/2006/main">
            <a:r>
              <a:t/>
            </a:r>
          </a:p>
          <a:p xmlns:a="http://schemas.openxmlformats.org/drawingml/2006/main">
            <a:r>
              <a:t>中文讲稿</a:t>
            </a:r>
          </a:p>
          <a:p xmlns:a="http://schemas.openxmlformats.org/drawingml/2006/main">
            <a:r>
              <a:t>这是最后一段。临床复核可以继续、延迟或修改。继续进入下一周期，延迟返回复核，修改会检查是否有财务影响。若有财务影响，流程进入人工确认更新清算后再预约。这里的财务影响目前只是人工任务，没有新的显式 financeApproval 变量或重新调用财务子流程，所以现场不能宣称它已自动完成再审批。</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D:\Camunda-Workspace\models\assignment\bpmn\23084368_Treatment_Chemotherapy\Path_Logic_Diagram.docx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LIN JIA QIANG</a:t>
            </a:r>
          </a:p>
          <a:p xmlns:a="http://schemas.openxmlformats.org/drawingml/2006/main">
            <a:r>
              <a:t/>
            </a:r>
          </a:p>
          <a:p xmlns:a="http://schemas.openxmlformats.org/drawingml/2006/main">
            <a:r>
              <a:t>中文讲稿</a:t>
            </a:r>
          </a:p>
          <a:p xmlns:a="http://schemas.openxmlformats.org/drawingml/2006/main">
            <a:r>
              <a:t>演示时先用 patientConsent=false 展示不治疗结尾和随后信件交接。再用 patientConsent=true、treatmentAuthorised=false 展示返回修正。把授权改为 true，但资源设为 false，展示待处理与重新填写表单；最后资源改为 true，展示预约和周期复核。现有运行轨迹支持部分同意、资源和疗程路径，但最新主流程端到端仍需重跑。</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D:\Camunda-Workspace\models\assignment\evidence\23084368_Treatment_Chemotherapy\7160e529-2306-4d10-904c-3443d1df7edf.png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这是财务流程图左侧。资金来源有医院承担、保险和患者付款三条路线。保险要记录审批；患者付款由模拟支付 worker 返回状态。SUCCESSFUL 走清算，DECLINED、CANCELLED、INCOMPLETE 可以修改输入再试；CONFIRMATION_LOST 和 DUPLICATE_RISK 先调查，避免盲目重复扣款。紧急治疗允许记录临床例外后继续，但这个布尔选择并不等于真正实现身份权限。</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D:\Camunda-Workspace\models\assignment\bpmn\23084362_Funding_Payment_Refund\Path_Logic_Diagram.docx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这是财务图的下半部分。左侧患者付款会按成功、重试或调查分支收尾，右侧退款从独立消息入口进入，在获得必要性和批准后调用模拟退款 worker，并记录结果。完整原图由上下两页共同展示。只有 refundRequired 和 refundApproved 同时为 true 才调用退款 worker；未批准或不需要退款不会执行。</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D:\Camunda-Workspace\models\assignment\bpmn\23084362_Funding_Payment_Refund\Path_Logic_Diagram.docx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如果支付被明确拒绝，系统可以收集修正后的资料再尝试。若支付确认丢失，不能知道钱是否已经扣走，直接重试可能产生重复扣款，所以流程进入调查。worker 在 CONFIRMATION_LOST 或 DUPLICATE_RISK 下只设置调查标志，不产生新的 transactionReference。这里仍没有持久化幂等键，因此当前实现只能分流风险，不能保证外部系统绝不重复。</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C:/Users/huanxi/Desktop/ZUOYE/Case Study - Hospital Patient Referral, Treatment and Administration System.docx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现场先走医院承担路线，看到清算交接。再把 fundingType 设为患者、paymentScenario 设为 CONFIRMATION_LOST，应该进入调查而不是自动重付；若无紧急例外，会到待财务跟进的终点。退款另起实例，先设 refundRequired=false、refundApproved=true，验证不会调用 worker，再两者都为 true 测批准路径。现有截图只覆盖医院承担分支，后两条应当现场或补录实例证明。</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D:\Camunda-Workspace\models\assignment\evidence\23084362_Funding_Payment_Refund\96a3e3dc-6966-435f-941e-b69da3f41411.png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这张图上半部分展示两个独立入口。左侧患者咨询从消息入口开始，先记录类别、优先级和是否有紧急临床问题，随后按行政、财务或临床分流。右侧普通患者路径进入信件准备与七天判断。完整原图分成三段展示，以便看清每个判断。呼叫人员本身不提供临床建议；实际紧急分支看 urgentClinicalConcern，不看普通 priority 字段。</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D:\Camunda-Workspace\models\assignment\bpmn\24000813_Enquiry_ClinicLetter_Monitoring\Path_Logic_Diagram.docx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这是原图中段。左侧咨询已根据类别转到对应人员，并对紧急临床问题额外升级。右侧若信件未在七天内准备好，会进入监控和 P7D 定时器，再按延期区间提醒顾问或升级至管理层。年龄区间目前来自人工表单，没有从就诊日期自动计算。</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C:/Users/huanxi/Desktop/ZUOYE/Case Study - Hospital Patient Referral, Treatment and Administration System.docx</a:t>
            </a:r>
          </a:p>
          <a:p xmlns:a="http://schemas.openxmlformats.org/drawingml/2006/main">
            <a:r>
              <a:t>D:\Camunda-Workspace\models\assignment\bpmn\24000813_Enquiry_ClinicLetter_Monitoring\Path_Logic_Diagram.docx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这是原图下段。信件完成后仍需临床人员批准内容，行政人员核对收件人，最后模拟发送 worker 返回已发送状态。worker 自身检查 clinicLetterApproved=true。若临床拒绝，当前流程回到时限判断，但没有明确回到可编辑正文的任务，这是设计缺口。主流程又要等治疗结束才启动信件，因此不能证明每次就诊后七天内自动发出信件。</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C:/Users/huanxi/Desktop/ZUOYE/Case Study - Hospital Patient Referral, Treatment and Administration System.docx</a:t>
            </a:r>
          </a:p>
          <a:p xmlns:a="http://schemas.openxmlformats.org/drawingml/2006/main">
            <a:r>
              <a:t>D:\Camunda-Workspace\models\assignment\bpmn\24000813_Enquiry_ClinicLetter_Monitoring\Path_Logic_Diagram.docx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现场可先准备一封信，把 clinicLetterApproved 设为 false，观察它不能进入发送；改为 true 后通过行政核对并发送。延误路径可以展示当前模型和监控表单，若运行环境不方便快进七天，不能临时缩短定时器后说这就是原流程。历史实例完成过批准后发送路径，但未证明周提醒和长延误升级已执行。还可以独立启动咨询，验证财务与临床问题分流。</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D:\Camunda-Workspace\models\assignment\evidence\24000813_Enquiry_ClinicLetter_Monitoring\213f8afd-02af-4f82-b9e3-3564cac0618d.png</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JIA WEI</a:t>
            </a:r>
          </a:p>
          <a:p xmlns:a="http://schemas.openxmlformats.org/drawingml/2006/main">
            <a:r>
              <a:t/>
            </a:r>
          </a:p>
          <a:p xmlns:a="http://schemas.openxmlformats.org/drawingml/2006/main">
            <a:r>
              <a:t>中文讲稿</a:t>
            </a:r>
          </a:p>
          <a:p xmlns:a="http://schemas.openxmlformats.org/drawingml/2006/main">
            <a:r>
              <a:t>五个人现场演示时，最好固定一组输入，依次经过转诊接受、预约有号源、医院承担费用、患者同意且治疗获授权、资源可用、信件批准发送。吴家伟负责展示主流程的实例号和子流程版本，每位负责人解释自己的网关和结果。另选一条异常路径演示，比如无号源修改后重试。每一步截取变量、路径和终点，以便老师追问时可以回到同一实例。</a:t>
            </a:r>
          </a:p>
          <a:p xmlns:a="http://schemas.openxmlformats.org/drawingml/2006/main">
            <a:r>
              <a:t/>
            </a:r>
          </a:p>
          <a:p xmlns:a="http://schemas.openxmlformats.org/drawingml/2006/main">
            <a:r>
              <a:t>Evidence and source paths</a:t>
            </a:r>
          </a:p>
          <a:p xmlns:a="http://schemas.openxmlformats.org/drawingml/2006/main">
            <a:r>
              <a:t>D:\Camunda-Workspace\models\assignment\bpmn</a:t>
            </a:r>
          </a:p>
          <a:p xmlns:a="http://schemas.openxmlformats.org/drawingml/2006/main">
            <a:r>
              <a:t>D:\Camunda-Workspace\models\assignment\Plan and contribution.docx</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课程要求每条导师反馈都有决定、行动、证据和结果。我们现在只有团队自评以及前后文件差异，没有填好的导师反馈，所以不能虚构导师原话。当前可以展示三类实际改变：财务先于治疗、重试前可修改输入、信件和退款增加审批控制。结果层面只能说静态配置与十一项 Java 逻辑测试已核对，受影响的最新 Camunda 分支还要重跑。若老师提供反馈，再用原话、日期、责任人和运行结果补齐闭环。</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D:\Camunda-Workspace\models\assignment\Strengths_and_Weaknesses.docx</a:t>
            </a:r>
          </a:p>
          <a:p xmlns:a="http://schemas.openxmlformats.org/drawingml/2006/main">
            <a:r>
              <a:t>D:\Camunda-Workspace\models\assignment\bpmn</a:t>
            </a:r>
          </a:p>
          <a:p xmlns:a="http://schemas.openxmlformats.org/drawingml/2006/main">
            <a:r>
              <a:t>D:\Camunda-Workspace\models\assignment\External_Workers\src\test\java\org\hospital\workers\WorkerLogicSmokeTest.java</a:t>
            </a:r>
          </a:p>
          <a:p xmlns:a="http://schemas.openxmlformats.org/drawingml/2006/main">
            <a:r>
              <a:t>D:\Camunda-Workspace\models\assignment\.presentation_work\code_validation\test_results.txt</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WU TONG YU</a:t>
            </a:r>
          </a:p>
          <a:p xmlns:a="http://schemas.openxmlformats.org/drawingml/2006/main">
            <a:r>
              <a:t/>
            </a:r>
          </a:p>
          <a:p xmlns:a="http://schemas.openxmlformats.org/drawingml/2006/main">
            <a:r>
              <a:t>中文讲稿</a:t>
            </a:r>
          </a:p>
          <a:p xmlns:a="http://schemas.openxmlformats.org/drawingml/2006/main">
            <a:r>
              <a:t>现有计划给 Sprint 1 估计四十小时、Sprint 2 估计三十五小时，总共七十五小时。它是预计工作量，不是实际工时。模型和表单已经存在，原计划中的 Java 组件测试现在可提供十一项通过的结果；但是最新主流程正常与异常实例尚未完整证明。没有任务实际日期或耗时，我们无法计算工时偏差，也不能声称完全按计划交付。下一次迭代应给集成和测试任务明确第一负责人、完成条件和版本证据。</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D:\Camunda-Workspace\models\assignment\Plan and contribution.docx</a:t>
            </a:r>
          </a:p>
          <a:p xmlns:a="http://schemas.openxmlformats.org/drawingml/2006/main">
            <a:r>
              <a:t>D:\Camunda-Workspace\models\assignment\.presentation_work\code_validation\test_results.txt</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老师最可能追问：为什么先财务后治疗、拒绝治疗为何仍需信件、十四天电话如何判定、确认丢失能否重试、信件七天是否真的自动保证。回答要指出具体变量和网关，同时承认当前限制。现在完成的是一个可展示的工作流原型；六种外部服务是模拟，任务泳道尚未实现权限控制，信件时限未从就诊时间自动计算，最新主流程的完整验证与真实反馈记录还需补齐。五个人的详细问答在讲稿末尾。</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C:/Users/huanxi/Desktop/ZUOYE/Case Study - Hospital Patient Referral, Treatment and Administration System.docx</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XIAO YU YING</a:t>
            </a:r>
          </a:p>
          <a:p xmlns:a="http://schemas.openxmlformats.org/drawingml/2006/main">
            <a:r>
              <a:t/>
            </a:r>
          </a:p>
          <a:p xmlns:a="http://schemas.openxmlformats.org/drawingml/2006/main">
            <a:r>
              <a:t>中文讲稿</a:t>
            </a:r>
          </a:p>
          <a:p xmlns:a="http://schemas.openxmlformats.org/drawingml/2006/main">
            <a:r>
              <a:t>课程评分说明决定了展示结构；医院案例决定了转诊、两周电话、财务与信件的业务规则；五张团队原始流程图与现有 BPMN 提供设计证据；现有 Java 测试与历史 Camunda 实例提供有限运行证据。可点击的本地路径写在各页备注和配套讲稿中。正式提交时仍需补充你们真实可访问的仓库地址以及初始版和第二版标识。</a:t>
            </a:r>
          </a:p>
          <a:p xmlns:a="http://schemas.openxmlformats.org/drawingml/2006/main">
            <a:r>
              <a:t/>
            </a:r>
          </a:p>
          <a:p xmlns:a="http://schemas.openxmlformats.org/drawingml/2006/main">
            <a:r>
              <a:t>Evidence and source paths</a:t>
            </a:r>
          </a:p>
          <a:p xmlns:a="http://schemas.openxmlformats.org/drawingml/2006/main">
            <a:r>
              <a:t>C:/Users/huanxi/Desktop/ZUOYE/UFCEP6-0-3_Presentation_Assessment_Specification V2 - Tagged.pdf</a:t>
            </a:r>
          </a:p>
          <a:p xmlns:a="http://schemas.openxmlformats.org/drawingml/2006/main">
            <a:r>
              <a:t>C:/Users/huanxi/Desktop/ZUOYE/Case Study - Hospital Patient Referral, Treatment and Administration System.docx</a:t>
            </a:r>
          </a:p>
          <a:p xmlns:a="http://schemas.openxmlformats.org/drawingml/2006/main">
            <a:r>
              <a:t>D:\Camunda-Workspace\models\assignment\Plan and contribution.docx</a:t>
            </a:r>
          </a:p>
          <a:p xmlns:a="http://schemas.openxmlformats.org/drawingml/2006/main">
            <a:r>
              <a:t>D:\Camunda-Workspace\models\assignment\bpmn</a:t>
            </a:r>
          </a:p>
          <a:p xmlns:a="http://schemas.openxmlformats.org/drawingml/2006/main">
            <a:r>
              <a:t>D:\Camunda-Workspace\models\assignment\External_Workers\src\main\java\org\hospital\workers</a:t>
            </a:r>
          </a:p>
          <a:p xmlns:a="http://schemas.openxmlformats.org/drawingml/2006/main">
            <a:r>
              <a:t>D:\Camunda-Workspace\models\assignment\.presentation_work\code_validation\test_results.txt</a:t>
            </a:r>
          </a:p>
          <a:p xmlns:a="http://schemas.openxmlformats.org/drawingml/2006/main">
            <a:r>
              <a:t/>
            </a:r>
          </a:p>
          <a:p xmlns:a="http://schemas.openxmlformats.org/drawingml/2006/main">
            <a:r>
              <a:t>All current-version runtime claims require the matching Camunda instance and version. Historical screenshots are labelled as such.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2d6394a7ad41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0b3c99512e444e" /><Relationship Type="http://schemas.openxmlformats.org/officeDocument/2006/relationships/slideLayout" Target="/ppt/slideLayouts/slideLayout1.xml" Id="R37978aeffac74a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978aeffac74a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1ac64a37d1459c" /><Relationship Type="http://schemas.openxmlformats.org/officeDocument/2006/relationships/notesSlide" Target="/ppt/notesSlides/notesSlide1.xml" Id="R556c96bab9d746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3132aeb1344945" /><Relationship Type="http://schemas.openxmlformats.org/officeDocument/2006/relationships/notesSlide" Target="/ppt/notesSlides/notesSlide2.xml" Id="Rd4a421fb77ab42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091a1968ab424f" /><Relationship Type="http://schemas.openxmlformats.org/officeDocument/2006/relationships/notesSlide" Target="/ppt/notesSlides/notesSlide3.xml" Id="Rb5207f040cda47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43d475fc4d4ea9" /><Relationship Type="http://schemas.openxmlformats.org/officeDocument/2006/relationships/notesSlide" Target="/ppt/notesSlides/notesSlide4.xml" Id="Rfc269106561245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eef29ddb2345d7" /><Relationship Type="http://schemas.openxmlformats.org/officeDocument/2006/relationships/image" Target="/ppt/media/image.png" Id="R8d4c394092d04790" /><Relationship Type="http://schemas.openxmlformats.org/officeDocument/2006/relationships/notesSlide" Target="/ppt/notesSlides/notesSlide5.xml" Id="Rd6ded0f951a449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19b11e7d3a4cb0" /><Relationship Type="http://schemas.openxmlformats.org/officeDocument/2006/relationships/notesSlide" Target="/ppt/notesSlides/notesSlide6.xml" Id="Rcb09f6a9707b4d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845e387c894bfc" /><Relationship Type="http://schemas.openxmlformats.org/officeDocument/2006/relationships/notesSlide" Target="/ppt/notesSlides/notesSlide7.xml" Id="Rc494b53917e84f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2f8155bfd34622" /><Relationship Type="http://schemas.openxmlformats.org/officeDocument/2006/relationships/notesSlide" Target="/ppt/notesSlides/notesSlide8.xml" Id="R3f318b2a5ea04d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c452675536a4c01" /><Relationship Type="http://schemas.openxmlformats.org/officeDocument/2006/relationships/image" Target="/ppt/media/image2.png" Id="Re133c1808a9d4e40" /><Relationship Type="http://schemas.openxmlformats.org/officeDocument/2006/relationships/notesSlide" Target="/ppt/notesSlides/notesSlide9.xml" Id="R6af501c558584a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a6586e2ee8346bf" /><Relationship Type="http://schemas.openxmlformats.org/officeDocument/2006/relationships/image" Target="/ppt/media/image3.png" Id="R3c05b07a77704ae6" /><Relationship Type="http://schemas.openxmlformats.org/officeDocument/2006/relationships/notesSlide" Target="/ppt/notesSlides/notesSlide10.xml" Id="R88aa1390c96c48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e4fc0065be471b" /><Relationship Type="http://schemas.openxmlformats.org/officeDocument/2006/relationships/notesSlide" Target="/ppt/notesSlides/notesSlide11.xml" Id="R7813cb3e83d740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d2095cce264483f" /><Relationship Type="http://schemas.openxmlformats.org/officeDocument/2006/relationships/notesSlide" Target="/ppt/notesSlides/notesSlide12.xml" Id="R64faec40fa2743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43269c94caa46eb" /><Relationship Type="http://schemas.openxmlformats.org/officeDocument/2006/relationships/image" Target="/ppt/media/image4.png" Id="R0f09112f5c314ad4" /><Relationship Type="http://schemas.openxmlformats.org/officeDocument/2006/relationships/notesSlide" Target="/ppt/notesSlides/notesSlide13.xml" Id="R7ed46cb4ced343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ad73fb26e214708" /><Relationship Type="http://schemas.openxmlformats.org/officeDocument/2006/relationships/image" Target="/ppt/media/image5.png" Id="R2ae10411222945a7" /><Relationship Type="http://schemas.openxmlformats.org/officeDocument/2006/relationships/notesSlide" Target="/ppt/notesSlides/notesSlide14.xml" Id="R4f91677afcc547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8b8d9f1a3c54aa9" /><Relationship Type="http://schemas.openxmlformats.org/officeDocument/2006/relationships/image" Target="/ppt/media/image6.png" Id="R7c5b78ed9bc449ea" /><Relationship Type="http://schemas.openxmlformats.org/officeDocument/2006/relationships/notesSlide" Target="/ppt/notesSlides/notesSlide15.xml" Id="R2faa219cca0943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0f0891ca29e41b5" /><Relationship Type="http://schemas.openxmlformats.org/officeDocument/2006/relationships/notesSlide" Target="/ppt/notesSlides/notesSlide16.xml" Id="Rfb19a8b784b9431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e83c55bf680426a" /><Relationship Type="http://schemas.openxmlformats.org/officeDocument/2006/relationships/image" Target="/ppt/media/image7.png" Id="R6afce60b88fe4d63" /><Relationship Type="http://schemas.openxmlformats.org/officeDocument/2006/relationships/notesSlide" Target="/ppt/notesSlides/notesSlide17.xml" Id="R8dd3d4e8d62e4ae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b104982a7b408f" /><Relationship Type="http://schemas.openxmlformats.org/officeDocument/2006/relationships/image" Target="/ppt/media/image8.png" Id="Rf7bb2df54ffd45cb" /><Relationship Type="http://schemas.openxmlformats.org/officeDocument/2006/relationships/notesSlide" Target="/ppt/notesSlides/notesSlide18.xml" Id="R6b5cbc6bb05c44c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6725105255f4010" /><Relationship Type="http://schemas.openxmlformats.org/officeDocument/2006/relationships/notesSlide" Target="/ppt/notesSlides/notesSlide19.xml" Id="Rb4e02369905c49d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8e44eec3fad475c" /><Relationship Type="http://schemas.openxmlformats.org/officeDocument/2006/relationships/notesSlide" Target="/ppt/notesSlides/notesSlide20.xml" Id="R7e5d19471c8f49c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e6c8fa511604f58" /><Relationship Type="http://schemas.openxmlformats.org/officeDocument/2006/relationships/image" Target="/ppt/media/image9.png" Id="R2492183b84764e5a" /><Relationship Type="http://schemas.openxmlformats.org/officeDocument/2006/relationships/notesSlide" Target="/ppt/notesSlides/notesSlide21.xml" Id="R662ca5befd63439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a022c473e4a4249" /><Relationship Type="http://schemas.openxmlformats.org/officeDocument/2006/relationships/image" Target="/ppt/media/image10.png" Id="Rbb204f53fffa40c8" /><Relationship Type="http://schemas.openxmlformats.org/officeDocument/2006/relationships/notesSlide" Target="/ppt/notesSlides/notesSlide22.xml" Id="R82391d17a8fe443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7a2ab48cf1b4da7" /><Relationship Type="http://schemas.openxmlformats.org/officeDocument/2006/relationships/image" Target="/ppt/media/image11.png" Id="Rf8a518faa2494794" /><Relationship Type="http://schemas.openxmlformats.org/officeDocument/2006/relationships/notesSlide" Target="/ppt/notesSlides/notesSlide23.xml" Id="R996f18d517cd4e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9b9054cf9484bd5" /><Relationship Type="http://schemas.openxmlformats.org/officeDocument/2006/relationships/notesSlide" Target="/ppt/notesSlides/notesSlide24.xml" Id="Rf60c226e62104e5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ee7663034c74768" /><Relationship Type="http://schemas.openxmlformats.org/officeDocument/2006/relationships/notesSlide" Target="/ppt/notesSlides/notesSlide25.xml" Id="R8aa936ca03ba47e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efa6ac4ff884d8e" /><Relationship Type="http://schemas.openxmlformats.org/officeDocument/2006/relationships/notesSlide" Target="/ppt/notesSlides/notesSlide26.xml" Id="R5aa2aee524d7451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75d930340f346a1" /><Relationship Type="http://schemas.openxmlformats.org/officeDocument/2006/relationships/notesSlide" Target="/ppt/notesSlides/notesSlide27.xml" Id="R0ec37afd015f46f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225be721e5041f9" /><Relationship Type="http://schemas.openxmlformats.org/officeDocument/2006/relationships/notesSlide" Target="/ppt/notesSlides/notesSlide28.xml" Id="R383ab8f1388c4c2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a0e964b29d3465a" /><Relationship Type="http://schemas.openxmlformats.org/officeDocument/2006/relationships/notesSlide" Target="/ppt/notesSlides/notesSlide29.xml" Id="R37c40a4711e84bce"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F30F76-194D-451B-B273-7FB01E054FF5}"/>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Hospital Patient Pathway</a:t>
            </a:r>
          </a:p>
        </p:txBody>
      </p:sp>
      <p:sp>
        <p:nvSpPr>
          <p:cNvPr id="2" name="">
            <a:extLst xmlns:a="http://schemas.openxmlformats.org/drawingml/2006/main">
              <a:ext uri="{FF2B5EF4-FFF2-40B4-BE49-F238E27FC236}">
                <a16:creationId xmlns:a16="http://schemas.microsoft.com/office/drawing/2014/main" id="{6C929FE1-951C-40DD-8037-FD9614CA6639}"/>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FFFFFF"/>
                </a:solidFill>
                <a:latin typeface="Arial"/>
                <a:ea typeface="Arial"/>
                <a:cs typeface="Arial"/>
              </a:defRPr>
            </a:pPr>
            <a:r>
              <a:rPr sz="1125" b="0">
                <a:solidFill>
                  <a:srgbClr val="FFFFFF"/>
                </a:solidFill>
                <a:latin typeface="Arial"/>
                <a:ea typeface="Arial"/>
                <a:cs typeface="Arial"/>
              </a:rPr>
              <a:t>DENG JIN WANG    /    01</a:t>
            </a:r>
          </a:p>
        </p:txBody>
      </p:sp>
      <p:sp>
        <p:nvSpPr>
          <p:cNvPr id="3" name="">
            <a:extLst xmlns:a="http://schemas.openxmlformats.org/drawingml/2006/main">
              <a:ext uri="{FF2B5EF4-FFF2-40B4-BE49-F238E27FC236}">
                <a16:creationId xmlns:a16="http://schemas.microsoft.com/office/drawing/2014/main" id="{8E1012C9-0C2B-49B1-96BC-4D512922E8F6}"/>
              </a:ext>
            </a:extLst>
          </p:cNvPr>
          <p:cNvSpPr>
            <a:spLocks xmlns:a="http://schemas.openxmlformats.org/drawingml/2006/main" noGrp="1"/>
          </p:cNvSpPr>
          <p:nvPr/>
        </p:nvSpPr>
        <p:spPr>
          <a:xfrm xmlns:a="http://schemas.openxmlformats.org/drawingml/2006/main">
            <a:off x="571500" y="20955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Five designs. One patient journey.</a:t>
            </a:r>
          </a:p>
        </p:txBody>
      </p:sp>
      <p:sp>
        <p:nvSpPr>
          <p:cNvPr id="4" name="">
            <a:extLst xmlns:a="http://schemas.openxmlformats.org/drawingml/2006/main">
              <a:ext uri="{FF2B5EF4-FFF2-40B4-BE49-F238E27FC236}">
                <a16:creationId xmlns:a16="http://schemas.microsoft.com/office/drawing/2014/main" id="{A8C49962-04D8-457F-9FD4-8FB8FA963448}"/>
              </a:ext>
            </a:extLst>
          </p:cNvPr>
          <p:cNvSpPr>
            <a:spLocks xmlns:a="http://schemas.openxmlformats.org/drawingml/2006/main" noGrp="1"/>
          </p:cNvSpPr>
          <p:nvPr/>
        </p:nvSpPr>
        <p:spPr>
          <a:xfrm xmlns:a="http://schemas.openxmlformats.org/drawingml/2006/main">
            <a:off x="571500" y="3209925"/>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C3DEDB"/>
                </a:solidFill>
                <a:latin typeface="Arial"/>
                <a:ea typeface="Arial"/>
                <a:cs typeface="Arial"/>
              </a:defRPr>
            </a:pPr>
            <a:r>
              <a:rPr sz="2550" b="0">
                <a:solidFill>
                  <a:srgbClr val="C3DEDB"/>
                </a:solidFill>
                <a:latin typeface="Arial"/>
                <a:ea typeface="Arial"/>
                <a:cs typeface="Arial"/>
              </a:rPr>
              <a:t>How each decision works, why it exists, and how to demonstrate it</a:t>
            </a:r>
          </a:p>
        </p:txBody>
      </p:sp>
      <p:sp>
        <p:nvSpPr>
          <p:cNvPr id="5" name="">
            <a:extLst xmlns:a="http://schemas.openxmlformats.org/drawingml/2006/main">
              <a:ext uri="{FF2B5EF4-FFF2-40B4-BE49-F238E27FC236}">
                <a16:creationId xmlns:a16="http://schemas.microsoft.com/office/drawing/2014/main" id="{7E965257-8DD0-4EBD-86E4-1F7F5D9B89AA}"/>
              </a:ext>
            </a:extLst>
          </p:cNvPr>
          <p:cNvSpPr>
            <a:spLocks xmlns:a="http://schemas.openxmlformats.org/drawingml/2006/main" noGrp="1"/>
          </p:cNvSpPr>
          <p:nvPr/>
        </p:nvSpPr>
        <p:spPr>
          <a:xfrm xmlns:a="http://schemas.openxmlformats.org/drawingml/2006/main">
            <a:off x="571500" y="532447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C3DEDB"/>
                </a:solidFill>
                <a:latin typeface="Arial"/>
                <a:ea typeface="Arial"/>
                <a:cs typeface="Arial"/>
              </a:defRPr>
            </a:pPr>
            <a:r>
              <a:rPr sz="1875" b="0">
                <a:solidFill>
                  <a:srgbClr val="C3DEDB"/>
                </a:solidFill>
                <a:latin typeface="Arial"/>
                <a:ea typeface="Arial"/>
                <a:cs typeface="Arial"/>
              </a:rPr>
              <a:t>UFCEP6-0-3   ·   Five-person group</a:t>
            </a:r>
          </a:p>
        </p:txBody>
      </p:sp>
    </p:spTree>
    <p:extLst>
      <p:ext uri="{BB962C8B-B14F-4D97-AF65-F5344CB8AC3E}">
        <p14:creationId xmlns:p14="http://schemas.microsoft.com/office/powerpoint/2010/main" val="1696751173"/>
      </p:ext>
    </p:extLst>
  </p:cSld>
</p:sld>
</file>

<file path=ppt/slides/slide2.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8CC8E3D-1122-4E56-9CBF-16DF7C16E8E0}"/>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How the five processes work together</a:t>
            </a:r>
          </a:p>
        </p:txBody>
      </p:sp>
      <p:sp>
        <p:nvSpPr>
          <p:cNvPr id="2" name="">
            <a:extLst xmlns:a="http://schemas.openxmlformats.org/drawingml/2006/main">
              <a:ext uri="{FF2B5EF4-FFF2-40B4-BE49-F238E27FC236}">
                <a16:creationId xmlns:a16="http://schemas.microsoft.com/office/drawing/2014/main" id="{905257FC-5390-4F10-A653-06A93404022F}"/>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02</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2381250"/>
                <a:gridCol w="7048500"/>
                <a:gridCol w="1619250"/>
              </a:tblGrid>
              <a:tr h="495300">
                <a:tc>
                  <a:txBody>
                    <a:bodyPr/>
                    <a:lstStyle/>
                    <a:p>
                      <a:r>
                        <a:rPr sz="1725" b="1">
                          <a:solidFill>
                            <a:srgbClr val="FFFFFF"/>
                          </a:solidFill>
                          <a:latin typeface="Arial"/>
                          <a:ea typeface="Arial"/>
                          <a:cs typeface="Arial"/>
                        </a:rPr>
                        <a:t>Stage</a:t>
                      </a:r>
                    </a:p>
                  </a:txBody>
                  <a:tcPr marL="123825" marR="123825" marT="104775" marB="76200" anchor="t">
                    <a:solidFill>
                      <a:srgbClr val="173E48"/>
                    </a:solidFill>
                  </a:tcPr>
                </a:tc>
                <a:tc>
                  <a:txBody>
                    <a:bodyPr/>
                    <a:lstStyle/>
                    <a:p>
                      <a:r>
                        <a:rPr sz="1725" b="1">
                          <a:solidFill>
                            <a:srgbClr val="FFFFFF"/>
                          </a:solidFill>
                          <a:latin typeface="Arial"/>
                          <a:ea typeface="Arial"/>
                          <a:cs typeface="Arial"/>
                        </a:rPr>
                        <a:t>Decision that allows the next stage</a:t>
                      </a:r>
                    </a:p>
                  </a:txBody>
                  <a:tcPr marL="123825" marR="123825" marT="104775" marB="76200" anchor="t">
                    <a:solidFill>
                      <a:srgbClr val="173E48"/>
                    </a:solidFill>
                  </a:tcPr>
                </a:tc>
                <a:tc>
                  <a:txBody>
                    <a:bodyPr/>
                    <a:lstStyle/>
                    <a:p>
                      <a:r>
                        <a:rPr sz="1725" b="1">
                          <a:solidFill>
                            <a:srgbClr val="FFFFFF"/>
                          </a:solidFill>
                          <a:latin typeface="Arial"/>
                          <a:ea typeface="Arial"/>
                          <a:cs typeface="Arial"/>
                        </a:rPr>
                        <a:t>Owner</a:t>
                      </a:r>
                    </a:p>
                  </a:txBody>
                  <a:tcPr marL="123825" marR="123825" marT="104775" marB="76200" anchor="t">
                    <a:solidFill>
                      <a:srgbClr val="173E48"/>
                    </a:solidFill>
                  </a:tcPr>
                </a:tc>
              </a:tr>
              <a:tr h="643890">
                <a:tc>
                  <a:txBody>
                    <a:bodyPr/>
                    <a:lstStyle/>
                    <a:p>
                      <a:r>
                        <a:rPr sz="1725">
                          <a:solidFill>
                            <a:srgbClr val="173E48"/>
                          </a:solidFill>
                          <a:latin typeface="Arial"/>
                          <a:ea typeface="Arial"/>
                          <a:cs typeface="Arial"/>
                        </a:rPr>
                        <a:t>Referral</a:t>
                      </a:r>
                    </a:p>
                  </a:txBody>
                  <a:tcPr marL="123825" marR="123825" marT="104775" marB="76200" anchor="t">
                    <a:solidFill>
                      <a:srgbClr val="FFFFFF"/>
                    </a:solidFill>
                  </a:tcPr>
                </a:tc>
                <a:tc>
                  <a:txBody>
                    <a:bodyPr/>
                    <a:lstStyle/>
                    <a:p>
                      <a:r>
                        <a:rPr sz="1725">
                          <a:solidFill>
                            <a:srgbClr val="173E48"/>
                          </a:solidFill>
                          <a:latin typeface="Arial"/>
                          <a:ea typeface="Arial"/>
                          <a:cs typeface="Arial"/>
                        </a:rPr>
                        <a:t>Complete information, then consultant ACCEPT</a:t>
                      </a:r>
                    </a:p>
                  </a:txBody>
                  <a:tcPr marL="123825" marR="123825" marT="104775" marB="76200" anchor="t">
                    <a:solidFill>
                      <a:srgbClr val="FFFFFF"/>
                    </a:solidFill>
                  </a:tcPr>
                </a:tc>
                <a:tc>
                  <a:txBody>
                    <a:bodyPr/>
                    <a:lstStyle/>
                    <a:p>
                      <a:r>
                        <a:rPr sz="1725">
                          <a:solidFill>
                            <a:srgbClr val="173E48"/>
                          </a:solidFill>
                          <a:latin typeface="Arial"/>
                          <a:ea typeface="Arial"/>
                          <a:cs typeface="Arial"/>
                        </a:rPr>
                        <a:t>Deng</a:t>
                      </a:r>
                    </a:p>
                  </a:txBody>
                  <a:tcPr marL="123825" marR="123825" marT="104775" marB="76200" anchor="t">
                    <a:solidFill>
                      <a:srgbClr val="FFFFFF"/>
                    </a:solidFill>
                  </a:tcPr>
                </a:tc>
              </a:tr>
              <a:tr h="643890">
                <a:tc>
                  <a:txBody>
                    <a:bodyPr/>
                    <a:lstStyle/>
                    <a:p>
                      <a:r>
                        <a:rPr sz="1725">
                          <a:solidFill>
                            <a:srgbClr val="173E48"/>
                          </a:solidFill>
                          <a:latin typeface="Arial"/>
                          <a:ea typeface="Arial"/>
                          <a:cs typeface="Arial"/>
                        </a:rPr>
                        <a:t>Appointment</a:t>
                      </a:r>
                    </a:p>
                  </a:txBody>
                  <a:tcPr marL="123825" marR="123825" marT="104775" marB="76200" anchor="t">
                    <a:solidFill>
                      <a:srgbClr val="EDF3F3"/>
                    </a:solidFill>
                  </a:tcPr>
                </a:tc>
                <a:tc>
                  <a:txBody>
                    <a:bodyPr/>
                    <a:lstStyle/>
                    <a:p>
                      <a:r>
                        <a:rPr sz="1725">
                          <a:solidFill>
                            <a:srgbClr val="173E48"/>
                          </a:solidFill>
                          <a:latin typeface="Arial"/>
                          <a:ea typeface="Arial"/>
                          <a:cs typeface="Arial"/>
                        </a:rPr>
                        <a:t>Slot found; letter sent; phone if within 14 days</a:t>
                      </a:r>
                    </a:p>
                  </a:txBody>
                  <a:tcPr marL="123825" marR="123825" marT="104775" marB="76200" anchor="t">
                    <a:solidFill>
                      <a:srgbClr val="EDF3F3"/>
                    </a:solidFill>
                  </a:tcPr>
                </a:tc>
                <a:tc>
                  <a:txBody>
                    <a:bodyPr/>
                    <a:lstStyle/>
                    <a:p>
                      <a:r>
                        <a:rPr sz="1725">
                          <a:solidFill>
                            <a:srgbClr val="173E48"/>
                          </a:solidFill>
                          <a:latin typeface="Arial"/>
                          <a:ea typeface="Arial"/>
                          <a:cs typeface="Arial"/>
                        </a:rPr>
                        <a:t>Wu</a:t>
                      </a:r>
                    </a:p>
                  </a:txBody>
                  <a:tcPr marL="123825" marR="123825" marT="104775" marB="76200" anchor="t">
                    <a:solidFill>
                      <a:srgbClr val="EDF3F3"/>
                    </a:solidFill>
                  </a:tcPr>
                </a:tc>
              </a:tr>
              <a:tr h="643890">
                <a:tc>
                  <a:txBody>
                    <a:bodyPr/>
                    <a:lstStyle/>
                    <a:p>
                      <a:r>
                        <a:rPr sz="1725">
                          <a:solidFill>
                            <a:srgbClr val="173E48"/>
                          </a:solidFill>
                          <a:latin typeface="Arial"/>
                          <a:ea typeface="Arial"/>
                          <a:cs typeface="Arial"/>
                        </a:rPr>
                        <a:t>Finance</a:t>
                      </a:r>
                    </a:p>
                  </a:txBody>
                  <a:tcPr marL="123825" marR="123825" marT="104775" marB="76200" anchor="t">
                    <a:solidFill>
                      <a:srgbClr val="FFFFFF"/>
                    </a:solidFill>
                  </a:tcPr>
                </a:tc>
                <a:tc>
                  <a:txBody>
                    <a:bodyPr/>
                    <a:lstStyle/>
                    <a:p>
                      <a:r>
                        <a:rPr sz="1725">
                          <a:solidFill>
                            <a:srgbClr val="173E48"/>
                          </a:solidFill>
                          <a:latin typeface="Arial"/>
                          <a:ea typeface="Arial"/>
                          <a:cs typeface="Arial"/>
                        </a:rPr>
                        <a:t>Funding approved, paid, or documented urgent override</a:t>
                      </a:r>
                    </a:p>
                  </a:txBody>
                  <a:tcPr marL="123825" marR="123825" marT="104775" marB="76200" anchor="t">
                    <a:solidFill>
                      <a:srgbClr val="FFFFFF"/>
                    </a:solidFill>
                  </a:tcPr>
                </a:tc>
                <a:tc>
                  <a:txBody>
                    <a:bodyPr/>
                    <a:lstStyle/>
                    <a:p>
                      <a:r>
                        <a:rPr sz="1725">
                          <a:solidFill>
                            <a:srgbClr val="173E48"/>
                          </a:solidFill>
                          <a:latin typeface="Arial"/>
                          <a:ea typeface="Arial"/>
                          <a:cs typeface="Arial"/>
                        </a:rPr>
                        <a:t>Tong</a:t>
                      </a:r>
                    </a:p>
                  </a:txBody>
                  <a:tcPr marL="123825" marR="123825" marT="104775" marB="76200" anchor="t">
                    <a:solidFill>
                      <a:srgbClr val="FFFFFF"/>
                    </a:solidFill>
                  </a:tcPr>
                </a:tc>
              </a:tr>
              <a:tr h="643890">
                <a:tc>
                  <a:txBody>
                    <a:bodyPr/>
                    <a:lstStyle/>
                    <a:p>
                      <a:r>
                        <a:rPr sz="1725">
                          <a:solidFill>
                            <a:srgbClr val="173E48"/>
                          </a:solidFill>
                          <a:latin typeface="Arial"/>
                          <a:ea typeface="Arial"/>
                          <a:cs typeface="Arial"/>
                        </a:rPr>
                        <a:t>Treatment</a:t>
                      </a:r>
                    </a:p>
                  </a:txBody>
                  <a:tcPr marL="123825" marR="123825" marT="104775" marB="76200" anchor="t">
                    <a:solidFill>
                      <a:srgbClr val="EDF3F3"/>
                    </a:solidFill>
                  </a:tcPr>
                </a:tc>
                <a:tc>
                  <a:txBody>
                    <a:bodyPr/>
                    <a:lstStyle/>
                    <a:p>
                      <a:r>
                        <a:rPr sz="1725">
                          <a:solidFill>
                            <a:srgbClr val="173E48"/>
                          </a:solidFill>
                          <a:latin typeface="Arial"/>
                          <a:ea typeface="Arial"/>
                          <a:cs typeface="Arial"/>
                        </a:rPr>
                        <a:t>Consent, authorised request and resources</a:t>
                      </a:r>
                    </a:p>
                  </a:txBody>
                  <a:tcPr marL="123825" marR="123825" marT="104775" marB="76200" anchor="t">
                    <a:solidFill>
                      <a:srgbClr val="EDF3F3"/>
                    </a:solidFill>
                  </a:tcPr>
                </a:tc>
                <a:tc>
                  <a:txBody>
                    <a:bodyPr/>
                    <a:lstStyle/>
                    <a:p>
                      <a:r>
                        <a:rPr sz="1725">
                          <a:solidFill>
                            <a:srgbClr val="173E48"/>
                          </a:solidFill>
                          <a:latin typeface="Arial"/>
                          <a:ea typeface="Arial"/>
                          <a:cs typeface="Arial"/>
                        </a:rPr>
                        <a:t>Lin</a:t>
                      </a:r>
                    </a:p>
                  </a:txBody>
                  <a:tcPr marL="123825" marR="123825" marT="104775" marB="76200" anchor="t">
                    <a:solidFill>
                      <a:srgbClr val="EDF3F3"/>
                    </a:solidFill>
                  </a:tcPr>
                </a:tc>
              </a:tr>
              <a:tr h="643890">
                <a:tc>
                  <a:txBody>
                    <a:bodyPr/>
                    <a:lstStyle/>
                    <a:p>
                      <a:r>
                        <a:rPr sz="1725">
                          <a:solidFill>
                            <a:srgbClr val="173E48"/>
                          </a:solidFill>
                          <a:latin typeface="Arial"/>
                          <a:ea typeface="Arial"/>
                          <a:cs typeface="Arial"/>
                        </a:rPr>
                        <a:t>Clinic letter</a:t>
                      </a:r>
                    </a:p>
                  </a:txBody>
                  <a:tcPr marL="123825" marR="123825" marT="104775" marB="76200" anchor="t">
                    <a:solidFill>
                      <a:srgbClr val="FFFFFF"/>
                    </a:solidFill>
                  </a:tcPr>
                </a:tc>
                <a:tc>
                  <a:txBody>
                    <a:bodyPr/>
                    <a:lstStyle/>
                    <a:p>
                      <a:r>
                        <a:rPr sz="1725">
                          <a:solidFill>
                            <a:srgbClr val="173E48"/>
                          </a:solidFill>
                          <a:latin typeface="Arial"/>
                          <a:ea typeface="Arial"/>
                          <a:cs typeface="Arial"/>
                        </a:rPr>
                        <a:t>Clinical approval before distribution</a:t>
                      </a:r>
                    </a:p>
                  </a:txBody>
                  <a:tcPr marL="123825" marR="123825" marT="104775" marB="76200" anchor="t">
                    <a:solidFill>
                      <a:srgbClr val="FFFFFF"/>
                    </a:solidFill>
                  </a:tcPr>
                </a:tc>
                <a:tc>
                  <a:txBody>
                    <a:bodyPr/>
                    <a:lstStyle/>
                    <a:p>
                      <a:r>
                        <a:rPr sz="1725">
                          <a:solidFill>
                            <a:srgbClr val="173E48"/>
                          </a:solidFill>
                          <a:latin typeface="Arial"/>
                          <a:ea typeface="Arial"/>
                          <a:cs typeface="Arial"/>
                        </a:rPr>
                        <a:t>Xiao</a:t>
                      </a:r>
                    </a:p>
                  </a:txBody>
                  <a:tcPr marL="123825" marR="123825" marT="104775" marB="76200" anchor="t">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F222961-4177-43A5-9F4E-45B9BF5A1F36}"/>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Enquiries and refunds start separately. The master passes child variables between modules.</a:t>
            </a:r>
          </a:p>
        </p:txBody>
      </p:sp>
    </p:spTree>
    <p:extLst>
      <p:ext uri="{BB962C8B-B14F-4D97-AF65-F5344CB8AC3E}">
        <p14:creationId xmlns:p14="http://schemas.microsoft.com/office/powerpoint/2010/main" val="29416686"/>
      </p:ext>
    </p:extLst>
  </p:cSld>
</p:sld>
</file>

<file path=ppt/slides/slide3.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D35CBE-70A8-4516-82E9-057324D36D5E}"/>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What changed in the current design</a:t>
            </a:r>
          </a:p>
        </p:txBody>
      </p:sp>
      <p:sp>
        <p:nvSpPr>
          <p:cNvPr id="2" name="">
            <a:extLst xmlns:a="http://schemas.openxmlformats.org/drawingml/2006/main">
              <a:ext uri="{FF2B5EF4-FFF2-40B4-BE49-F238E27FC236}">
                <a16:creationId xmlns:a16="http://schemas.microsoft.com/office/drawing/2014/main" id="{56E12880-3CF5-4325-A1FC-F82191EF564A}"/>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03</a:t>
            </a:r>
          </a:p>
        </p:txBody>
      </p:sp>
      <p:graphicFrame>
        <p:nvGraphicFramePr>
          <p:cNvPr id="7" name=""/>
          <p:cNvGraphicFramePr/>
          <p:nvPr/>
        </p:nvGraphicFramePr>
        <p:xfrm>
          <a:off xmlns:a="http://schemas.openxmlformats.org/drawingml/2006/main" x="571500" y="1847850"/>
          <a:ext xmlns:a="http://schemas.openxmlformats.org/drawingml/2006/main" cx="11049000" cy="3695700"/>
        </p:xfrm>
        <a:graphic xmlns:a="http://schemas.openxmlformats.org/drawingml/2006/main">
          <a:graphicData uri="http://schemas.openxmlformats.org/drawingml/2006/table">
            <a:tbl>
              <a:tblPr/>
              <a:tblGrid>
                <a:gridCol w="2667000"/>
                <a:gridCol w="3905250"/>
                <a:gridCol w="4476750"/>
              </a:tblGrid>
              <a:tr h="495300">
                <a:tc>
                  <a:txBody>
                    <a:bodyPr/>
                    <a:lstStyle/>
                    <a:p>
                      <a:r>
                        <a:rPr sz="1650" b="1">
                          <a:solidFill>
                            <a:srgbClr val="FFFFFF"/>
                          </a:solidFill>
                          <a:latin typeface="Arial"/>
                          <a:ea typeface="Arial"/>
                          <a:cs typeface="Arial"/>
                        </a:rPr>
                        <a:t>Decision</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Earlier behaviour</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Current behaviour</a:t>
                      </a:r>
                    </a:p>
                  </a:txBody>
                  <a:tcPr marL="123825" marR="123825" marT="104775" marB="76200" anchor="t">
                    <a:solidFill>
                      <a:srgbClr val="173E48"/>
                    </a:solidFill>
                  </a:tcPr>
                </a:tc>
              </a:tr>
              <a:tr h="800100">
                <a:tc>
                  <a:txBody>
                    <a:bodyPr/>
                    <a:lstStyle/>
                    <a:p>
                      <a:r>
                        <a:rPr sz="1650">
                          <a:solidFill>
                            <a:srgbClr val="173E48"/>
                          </a:solidFill>
                          <a:latin typeface="Arial"/>
                          <a:ea typeface="Arial"/>
                          <a:cs typeface="Arial"/>
                        </a:rPr>
                        <a:t>Treatment entry</a:t>
                      </a:r>
                    </a:p>
                  </a:txBody>
                  <a:tcPr marL="123825" marR="123825" marT="104775" marB="76200" anchor="t">
                    <a:solidFill>
                      <a:srgbClr val="FFFFFF"/>
                    </a:solidFill>
                  </a:tcPr>
                </a:tc>
                <a:tc>
                  <a:txBody>
                    <a:bodyPr/>
                    <a:lstStyle/>
                    <a:p>
                      <a:r>
                        <a:rPr sz="1650">
                          <a:solidFill>
                            <a:srgbClr val="173E48"/>
                          </a:solidFill>
                          <a:latin typeface="Arial"/>
                          <a:ea typeface="Arial"/>
                          <a:cs typeface="Arial"/>
                        </a:rPr>
                        <a:t>Finance and treatment ran in parallel</a:t>
                      </a:r>
                    </a:p>
                  </a:txBody>
                  <a:tcPr marL="123825" marR="123825" marT="104775" marB="76200" anchor="t">
                    <a:solidFill>
                      <a:srgbClr val="FFFFFF"/>
                    </a:solidFill>
                  </a:tcPr>
                </a:tc>
                <a:tc>
                  <a:txBody>
                    <a:bodyPr/>
                    <a:lstStyle/>
                    <a:p>
                      <a:r>
                        <a:rPr sz="1650">
                          <a:solidFill>
                            <a:srgbClr val="173E48"/>
                          </a:solidFill>
                          <a:latin typeface="Arial"/>
                          <a:ea typeface="Arial"/>
                          <a:cs typeface="Arial"/>
                        </a:rPr>
                        <a:t>Finance clearance gates treatment</a:t>
                      </a:r>
                    </a:p>
                  </a:txBody>
                  <a:tcPr marL="123825" marR="123825" marT="104775" marB="76200" anchor="t">
                    <a:solidFill>
                      <a:srgbClr val="FFFFFF"/>
                    </a:solidFill>
                  </a:tcPr>
                </a:tc>
              </a:tr>
              <a:tr h="800100">
                <a:tc>
                  <a:txBody>
                    <a:bodyPr/>
                    <a:lstStyle/>
                    <a:p>
                      <a:r>
                        <a:rPr sz="1650">
                          <a:solidFill>
                            <a:srgbClr val="173E48"/>
                          </a:solidFill>
                          <a:latin typeface="Arial"/>
                          <a:ea typeface="Arial"/>
                          <a:cs typeface="Arial"/>
                        </a:rPr>
                        <a:t>Retry</a:t>
                      </a:r>
                    </a:p>
                  </a:txBody>
                  <a:tcPr marL="123825" marR="123825" marT="104775" marB="76200" anchor="t">
                    <a:solidFill>
                      <a:srgbClr val="EDF3F3"/>
                    </a:solidFill>
                  </a:tcPr>
                </a:tc>
                <a:tc>
                  <a:txBody>
                    <a:bodyPr/>
                    <a:lstStyle/>
                    <a:p>
                      <a:r>
                        <a:rPr sz="1650">
                          <a:solidFill>
                            <a:srgbClr val="173E48"/>
                          </a:solidFill>
                          <a:latin typeface="Arial"/>
                          <a:ea typeface="Arial"/>
                          <a:cs typeface="Arial"/>
                        </a:rPr>
                        <a:t>No editable inputs on three retry tasks</a:t>
                      </a:r>
                    </a:p>
                  </a:txBody>
                  <a:tcPr marL="123825" marR="123825" marT="104775" marB="76200" anchor="t">
                    <a:solidFill>
                      <a:srgbClr val="EDF3F3"/>
                    </a:solidFill>
                  </a:tcPr>
                </a:tc>
                <a:tc>
                  <a:txBody>
                    <a:bodyPr/>
                    <a:lstStyle/>
                    <a:p>
                      <a:r>
                        <a:rPr sz="1650">
                          <a:solidFill>
                            <a:srgbClr val="173E48"/>
                          </a:solidFill>
                          <a:latin typeface="Arial"/>
                          <a:ea typeface="Arial"/>
                          <a:cs typeface="Arial"/>
                        </a:rPr>
                        <a:t>Input forms reopen before a new attempt</a:t>
                      </a:r>
                    </a:p>
                  </a:txBody>
                  <a:tcPr marL="123825" marR="123825" marT="104775" marB="76200" anchor="t">
                    <a:solidFill>
                      <a:srgbClr val="EDF3F3"/>
                    </a:solidFill>
                  </a:tcPr>
                </a:tc>
              </a:tr>
              <a:tr h="800100">
                <a:tc>
                  <a:txBody>
                    <a:bodyPr/>
                    <a:lstStyle/>
                    <a:p>
                      <a:r>
                        <a:rPr sz="1650">
                          <a:solidFill>
                            <a:srgbClr val="173E48"/>
                          </a:solidFill>
                          <a:latin typeface="Arial"/>
                          <a:ea typeface="Arial"/>
                          <a:cs typeface="Arial"/>
                        </a:rPr>
                        <a:t>Refund</a:t>
                      </a:r>
                    </a:p>
                  </a:txBody>
                  <a:tcPr marL="123825" marR="123825" marT="104775" marB="76200" anchor="t">
                    <a:solidFill>
                      <a:srgbClr val="FFFFFF"/>
                    </a:solidFill>
                  </a:tcPr>
                </a:tc>
                <a:tc>
                  <a:txBody>
                    <a:bodyPr/>
                    <a:lstStyle/>
                    <a:p>
                      <a:r>
                        <a:rPr sz="1650">
                          <a:solidFill>
                            <a:srgbClr val="173E48"/>
                          </a:solidFill>
                          <a:latin typeface="Arial"/>
                          <a:ea typeface="Arial"/>
                          <a:cs typeface="Arial"/>
                        </a:rPr>
                        <a:t>Approval alone allowed the branch</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Required AND approved</a:t>
                      </a:r>
                    </a:p>
                  </a:txBody>
                  <a:tcPr marL="123825" marR="123825" marT="104775" marB="76200" anchor="t">
                    <a:solidFill>
                      <a:srgbClr val="FFFFFF"/>
                    </a:solidFill>
                  </a:tcPr>
                </a:tc>
              </a:tr>
              <a:tr h="800100">
                <a:tc>
                  <a:txBody>
                    <a:bodyPr/>
                    <a:lstStyle/>
                    <a:p>
                      <a:r>
                        <a:rPr sz="1650">
                          <a:solidFill>
                            <a:srgbClr val="173E48"/>
                          </a:solidFill>
                          <a:latin typeface="Arial"/>
                          <a:ea typeface="Arial"/>
                          <a:cs typeface="Arial"/>
                        </a:rPr>
                        <a:t>Clinic letter</a:t>
                      </a:r>
                    </a:p>
                  </a:txBody>
                  <a:tcPr marL="123825" marR="123825" marT="104775" marB="76200" anchor="t">
                    <a:solidFill>
                      <a:srgbClr val="EDF3F3"/>
                    </a:solidFill>
                  </a:tcPr>
                </a:tc>
                <a:tc>
                  <a:txBody>
                    <a:bodyPr/>
                    <a:lstStyle/>
                    <a:p>
                      <a:r>
                        <a:rPr sz="1650">
                          <a:solidFill>
                            <a:srgbClr val="173E48"/>
                          </a:solidFill>
                          <a:latin typeface="Arial"/>
                          <a:ea typeface="Arial"/>
                          <a:cs typeface="Arial"/>
                        </a:rPr>
                        <a:t>Preparation carried mixed fields</a:t>
                      </a:r>
                    </a:p>
                  </a:txBody>
                  <a:tcPr marL="123825" marR="123825" marT="104775" marB="76200" anchor="t">
                    <a:solidFill>
                      <a:srgbClr val="EDF3F3"/>
                    </a:solidFill>
                  </a:tcPr>
                </a:tc>
                <a:tc>
                  <a:txBody>
                    <a:bodyPr/>
                    <a:lstStyle/>
                    <a:p>
                      <a:r>
                        <a:rPr sz="1650">
                          <a:solidFill>
                            <a:srgbClr val="173E48"/>
                          </a:solidFill>
                          <a:latin typeface="Arial"/>
                          <a:ea typeface="Arial"/>
                          <a:cs typeface="Arial"/>
                        </a:rPr>
                        <a:t>Separate approval and monitoring</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B7D3BCC6-A23B-4AA1-BF55-D03680AC37D6}"/>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A86419"/>
                </a:solidFill>
                <a:latin typeface="Arial"/>
                <a:ea typeface="Arial"/>
                <a:cs typeface="Arial"/>
              </a:defRPr>
            </a:pPr>
            <a:r>
              <a:rPr sz="1425" b="0">
                <a:solidFill>
                  <a:srgbClr val="A86419"/>
                </a:solidFill>
                <a:latin typeface="Arial"/>
                <a:ea typeface="Arial"/>
                <a:cs typeface="Arial"/>
              </a:rPr>
              <a:t>The before/after comparison confirms implementation changes. Tutor feedback attribution is still open.</a:t>
            </a:r>
          </a:p>
        </p:txBody>
      </p:sp>
    </p:spTree>
    <p:extLst>
      <p:ext uri="{BB962C8B-B14F-4D97-AF65-F5344CB8AC3E}">
        <p14:creationId xmlns:p14="http://schemas.microsoft.com/office/powerpoint/2010/main" val="1739516677"/>
      </p:ext>
    </p:extLst>
  </p:cSld>
</p:sld>
</file>

<file path=ppt/slides/slide4.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DF0AAD-D3A8-4742-8952-65E7C9B417FA}"/>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How we will prove a path</a:t>
            </a:r>
          </a:p>
        </p:txBody>
      </p:sp>
      <p:sp>
        <p:nvSpPr>
          <p:cNvPr id="2" name="">
            <a:extLst xmlns:a="http://schemas.openxmlformats.org/drawingml/2006/main">
              <a:ext uri="{FF2B5EF4-FFF2-40B4-BE49-F238E27FC236}">
                <a16:creationId xmlns:a16="http://schemas.microsoft.com/office/drawing/2014/main" id="{1EAB0F5E-7DFF-49A9-B131-8126C04B408F}"/>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04</a:t>
            </a:r>
          </a:p>
        </p:txBody>
      </p:sp>
      <p:sp>
        <p:nvSpPr>
          <p:cNvPr id="3" name="">
            <a:extLst xmlns:a="http://schemas.openxmlformats.org/drawingml/2006/main">
              <a:ext uri="{FF2B5EF4-FFF2-40B4-BE49-F238E27FC236}">
                <a16:creationId xmlns:a16="http://schemas.microsoft.com/office/drawing/2014/main" id="{C120A66D-E308-499B-8D60-794E3407092B}"/>
              </a:ext>
            </a:extLst>
          </p:cNvPr>
          <p:cNvSpPr>
            <a:spLocks xmlns:a="http://schemas.openxmlformats.org/drawingml/2006/main" noGrp="1"/>
          </p:cNvSpPr>
          <p:nvPr/>
        </p:nvSpPr>
        <p:spPr>
          <a:xfrm xmlns:a="http://schemas.openxmlformats.org/drawingml/2006/main">
            <a:off x="571500" y="20478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At each decision</a:t>
            </a:r>
          </a:p>
        </p:txBody>
      </p:sp>
      <p:sp>
        <p:nvSpPr>
          <p:cNvPr id="4" name="">
            <a:extLst xmlns:a="http://schemas.openxmlformats.org/drawingml/2006/main">
              <a:ext uri="{FF2B5EF4-FFF2-40B4-BE49-F238E27FC236}">
                <a16:creationId xmlns:a16="http://schemas.microsoft.com/office/drawing/2014/main" id="{EBE8BC6B-68D4-474C-9515-CBF2D6C6A1EB}"/>
              </a:ext>
            </a:extLst>
          </p:cNvPr>
          <p:cNvSpPr>
            <a:spLocks xmlns:a="http://schemas.openxmlformats.org/drawingml/2006/main" noGrp="1"/>
          </p:cNvSpPr>
          <p:nvPr/>
        </p:nvSpPr>
        <p:spPr>
          <a:xfrm xmlns:a="http://schemas.openxmlformats.org/drawingml/2006/main">
            <a:off x="571500" y="2600325"/>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Show input values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Show the selected branch</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Show the resulting variables</a:t>
            </a:r>
          </a:p>
        </p:txBody>
      </p:sp>
      <p:sp>
        <p:nvSpPr>
          <p:cNvPr id="5" name="">
            <a:extLst xmlns:a="http://schemas.openxmlformats.org/drawingml/2006/main">
              <a:ext uri="{FF2B5EF4-FFF2-40B4-BE49-F238E27FC236}">
                <a16:creationId xmlns:a16="http://schemas.microsoft.com/office/drawing/2014/main" id="{F80C4FC0-6580-447D-B2F1-BA5DB104E5C8}"/>
              </a:ext>
            </a:extLst>
          </p:cNvPr>
          <p:cNvSpPr>
            <a:spLocks xmlns:a="http://schemas.openxmlformats.org/drawingml/2006/main" noGrp="1"/>
          </p:cNvSpPr>
          <p:nvPr/>
        </p:nvSpPr>
        <p:spPr>
          <a:xfrm xmlns:a="http://schemas.openxmlformats.org/drawingml/2006/main">
            <a:off x="6477000" y="20478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At the end</a:t>
            </a:r>
          </a:p>
        </p:txBody>
      </p:sp>
      <p:sp>
        <p:nvSpPr>
          <p:cNvPr id="6" name="">
            <a:extLst xmlns:a="http://schemas.openxmlformats.org/drawingml/2006/main">
              <a:ext uri="{FF2B5EF4-FFF2-40B4-BE49-F238E27FC236}">
                <a16:creationId xmlns:a16="http://schemas.microsoft.com/office/drawing/2014/main" id="{44BA33AD-B140-4827-AFBF-A3761ED86CFD}"/>
              </a:ext>
            </a:extLst>
          </p:cNvPr>
          <p:cNvSpPr>
            <a:spLocks xmlns:a="http://schemas.openxmlformats.org/drawingml/2006/main" noGrp="1"/>
          </p:cNvSpPr>
          <p:nvPr/>
        </p:nvSpPr>
        <p:spPr>
          <a:xfrm xmlns:a="http://schemas.openxmlformats.org/drawingml/2006/main">
            <a:off x="6477000" y="2600325"/>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Record process version and instance key</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Keep the completed or pending outcome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Link the exact screenshot to that run</a:t>
            </a:r>
          </a:p>
        </p:txBody>
      </p:sp>
      <p:sp>
        <p:nvSpPr>
          <p:cNvPr id="7" name="">
            <a:extLst xmlns:a="http://schemas.openxmlformats.org/drawingml/2006/main">
              <a:ext uri="{FF2B5EF4-FFF2-40B4-BE49-F238E27FC236}">
                <a16:creationId xmlns:a16="http://schemas.microsoft.com/office/drawing/2014/main" id="{419CABBF-E3CA-4815-A7A5-5F834BCDF641}"/>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11 existing Java logic tests passed. This does not demonstrate every BPMN route or external service.</a:t>
            </a:r>
          </a:p>
        </p:txBody>
      </p:sp>
    </p:spTree>
    <p:extLst>
      <p:ext uri="{BB962C8B-B14F-4D97-AF65-F5344CB8AC3E}">
        <p14:creationId xmlns:p14="http://schemas.microsoft.com/office/powerpoint/2010/main" val="482004213"/>
      </p:ext>
    </p:extLst>
  </p:cSld>
</p:sld>
</file>

<file path=ppt/slides/slide5.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E834DA-1B90-485F-9831-68AD032F496D}"/>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Referral and consultant review: process diagram</a:t>
            </a:r>
          </a:p>
        </p:txBody>
      </p:sp>
      <p:sp>
        <p:nvSpPr>
          <p:cNvPr id="2" name="">
            <a:extLst xmlns:a="http://schemas.openxmlformats.org/drawingml/2006/main">
              <a:ext uri="{FF2B5EF4-FFF2-40B4-BE49-F238E27FC236}">
                <a16:creationId xmlns:a16="http://schemas.microsoft.com/office/drawing/2014/main" id="{62252668-26F0-4CBE-8EC8-AD94E6F4C137}"/>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05</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d4c394092d04790"/>
          <a:stretch xmlns:a="http://schemas.openxmlformats.org/drawingml/2006/main"/>
        </p:blipFill>
        <p:spPr>
          <a:xfrm xmlns:a="http://schemas.openxmlformats.org/drawingml/2006/main">
            <a:off x="2728136" y="1409700"/>
            <a:ext cx="6735729"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A957F95-F37D-4F31-9DFF-B45DADBA84E7}"/>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Read from intake to the information check, then follow one of four consultant outcomes.</a:t>
            </a:r>
          </a:p>
        </p:txBody>
      </p:sp>
    </p:spTree>
    <p:extLst>
      <p:ext uri="{BB962C8B-B14F-4D97-AF65-F5344CB8AC3E}">
        <p14:creationId xmlns:p14="http://schemas.microsoft.com/office/powerpoint/2010/main" val="1064693640"/>
      </p:ext>
    </p:extLst>
  </p:cSld>
</p:sld>
</file>

<file path=ppt/slides/slide6.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C8E6DF-D07E-4A70-B09A-E602941DD769}"/>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Referral: the acceptance gate</a:t>
            </a:r>
          </a:p>
        </p:txBody>
      </p:sp>
      <p:sp>
        <p:nvSpPr>
          <p:cNvPr id="2" name="">
            <a:extLst xmlns:a="http://schemas.openxmlformats.org/drawingml/2006/main">
              <a:ext uri="{FF2B5EF4-FFF2-40B4-BE49-F238E27FC236}">
                <a16:creationId xmlns:a16="http://schemas.microsoft.com/office/drawing/2014/main" id="{9BDD27B5-9891-4A29-A4D7-2247DD7F4439}"/>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06</a:t>
            </a:r>
          </a:p>
        </p:txBody>
      </p:sp>
      <p:graphicFrame>
        <p:nvGraphicFramePr>
          <p:cNvPr id="7" name=""/>
          <p:cNvGraphicFramePr/>
          <p:nvPr/>
        </p:nvGraphicFramePr>
        <p:xfrm>
          <a:off xmlns:a="http://schemas.openxmlformats.org/drawingml/2006/main" x="571500" y="1847850"/>
          <a:ext xmlns:a="http://schemas.openxmlformats.org/drawingml/2006/main" cx="11049000" cy="3810000"/>
        </p:xfrm>
        <a:graphic xmlns:a="http://schemas.openxmlformats.org/drawingml/2006/main">
          <a:graphicData uri="http://schemas.openxmlformats.org/drawingml/2006/table">
            <a:tbl>
              <a:tblPr/>
              <a:tblGrid>
                <a:gridCol w="3048000"/>
                <a:gridCol w="4714875"/>
                <a:gridCol w="3286125"/>
              </a:tblGrid>
              <a:tr h="495300">
                <a:tc>
                  <a:txBody>
                    <a:bodyPr/>
                    <a:lstStyle/>
                    <a:p>
                      <a:r>
                        <a:rPr sz="1650" b="1">
                          <a:solidFill>
                            <a:srgbClr val="FFFFFF"/>
                          </a:solidFill>
                          <a:latin typeface="Arial"/>
                          <a:ea typeface="Arial"/>
                          <a:cs typeface="Arial"/>
                        </a:rPr>
                        <a:t>Input or decision</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Branch taken</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Result</a:t>
                      </a:r>
                    </a:p>
                  </a:txBody>
                  <a:tcPr marL="123825" marR="123825" marT="104775" marB="76200" anchor="t">
                    <a:solidFill>
                      <a:srgbClr val="173E48"/>
                    </a:solidFill>
                  </a:tcPr>
                </a:tc>
              </a:tr>
              <a:tr h="828675">
                <a:tc>
                  <a:txBody>
                    <a:bodyPr/>
                    <a:lstStyle/>
                    <a:p>
                      <a:r>
                        <a:rPr sz="1650">
                          <a:solidFill>
                            <a:srgbClr val="173E48"/>
                          </a:solidFill>
                          <a:latin typeface="Arial"/>
                          <a:ea typeface="Arial"/>
                          <a:cs typeface="Arial"/>
                        </a:rPr>
                        <a:t>informationComplete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Request missing information</a:t>
                      </a:r>
                    </a:p>
                  </a:txBody>
                  <a:tcPr marL="123825" marR="123825" marT="104775" marB="76200" anchor="t">
                    <a:solidFill>
                      <a:srgbClr val="FFFFFF"/>
                    </a:solidFill>
                  </a:tcPr>
                </a:tc>
                <a:tc>
                  <a:txBody>
                    <a:bodyPr/>
                    <a:lstStyle/>
                    <a:p>
                      <a:r>
                        <a:rPr sz="1650">
                          <a:solidFill>
                            <a:srgbClr val="173E48"/>
                          </a:solidFill>
                          <a:latin typeface="Arial"/>
                          <a:ea typeface="Arial"/>
                          <a:cs typeface="Arial"/>
                        </a:rPr>
                        <a:t>Loop to a new check</a:t>
                      </a:r>
                    </a:p>
                  </a:txBody>
                  <a:tcPr marL="123825" marR="123825" marT="104775" marB="76200" anchor="t">
                    <a:solidFill>
                      <a:srgbClr val="FFFFFF"/>
                    </a:solidFill>
                  </a:tcPr>
                </a:tc>
              </a:tr>
              <a:tr h="828675">
                <a:tc>
                  <a:txBody>
                    <a:bodyPr/>
                    <a:lstStyle/>
                    <a:p>
                      <a:r>
                        <a:rPr sz="1650">
                          <a:solidFill>
                            <a:srgbClr val="173E48"/>
                          </a:solidFill>
                          <a:latin typeface="Arial"/>
                          <a:ea typeface="Arial"/>
                          <a:cs typeface="Arial"/>
                        </a:rPr>
                        <a:t>ACCEPT</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Record acceptance and booking needs</a:t>
                      </a:r>
                    </a:p>
                  </a:txBody>
                  <a:tcPr marL="123825" marR="123825" marT="104775" marB="76200" anchor="t">
                    <a:solidFill>
                      <a:srgbClr val="EDF3F3"/>
                    </a:solidFill>
                  </a:tcPr>
                </a:tc>
                <a:tc>
                  <a:txBody>
                    <a:bodyPr/>
                    <a:lstStyle/>
                    <a:p>
                      <a:r>
                        <a:rPr sz="1650">
                          <a:solidFill>
                            <a:srgbClr val="173E48"/>
                          </a:solidFill>
                          <a:latin typeface="Arial"/>
                          <a:ea typeface="Arial"/>
                          <a:cs typeface="Arial"/>
                        </a:rPr>
                        <a:t>Appointment handover</a:t>
                      </a:r>
                    </a:p>
                  </a:txBody>
                  <a:tcPr marL="123825" marR="123825" marT="104775" marB="76200" anchor="t">
                    <a:solidFill>
                      <a:srgbClr val="EDF3F3"/>
                    </a:solidFill>
                  </a:tcPr>
                </a:tc>
              </a:tr>
              <a:tr h="828675">
                <a:tc>
                  <a:txBody>
                    <a:bodyPr/>
                    <a:lstStyle/>
                    <a:p>
                      <a:r>
                        <a:rPr sz="1650">
                          <a:solidFill>
                            <a:srgbClr val="173E48"/>
                          </a:solidFill>
                          <a:latin typeface="Arial"/>
                          <a:ea typeface="Arial"/>
                          <a:cs typeface="Arial"/>
                        </a:rPr>
                        <a:t>REJECT or REDIRECT</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Record reason or target service</a:t>
                      </a:r>
                    </a:p>
                  </a:txBody>
                  <a:tcPr marL="123825" marR="123825" marT="104775" marB="76200" anchor="t">
                    <a:solidFill>
                      <a:srgbClr val="FFFFFF"/>
                    </a:solidFill>
                  </a:tcPr>
                </a:tc>
                <a:tc>
                  <a:txBody>
                    <a:bodyPr/>
                    <a:lstStyle/>
                    <a:p>
                      <a:r>
                        <a:rPr sz="1650">
                          <a:solidFill>
                            <a:srgbClr val="173E48"/>
                          </a:solidFill>
                          <a:latin typeface="Arial"/>
                          <a:ea typeface="Arial"/>
                          <a:cs typeface="Arial"/>
                        </a:rPr>
                        <a:t>Separate endpoint</a:t>
                      </a:r>
                    </a:p>
                  </a:txBody>
                  <a:tcPr marL="123825" marR="123825" marT="104775" marB="76200" anchor="t">
                    <a:solidFill>
                      <a:srgbClr val="FFFFFF"/>
                    </a:solidFill>
                  </a:tcPr>
                </a:tc>
              </a:tr>
              <a:tr h="828675">
                <a:tc>
                  <a:txBody>
                    <a:bodyPr/>
                    <a:lstStyle/>
                    <a:p>
                      <a:r>
                        <a:rPr sz="1650">
                          <a:solidFill>
                            <a:srgbClr val="173E48"/>
                          </a:solidFill>
                          <a:latin typeface="Arial"/>
                          <a:ea typeface="Arial"/>
                          <a:cs typeface="Arial"/>
                        </a:rPr>
                        <a:t>MORE_INFORMATION</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Request clinical detail</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Return to intake</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A93B3B1C-A323-4CD5-B10D-E4C778A3FEB0}"/>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Design reason: administrative completeness and consultant acceptance are different decisions.</a:t>
            </a:r>
          </a:p>
        </p:txBody>
      </p:sp>
    </p:spTree>
    <p:extLst>
      <p:ext uri="{BB962C8B-B14F-4D97-AF65-F5344CB8AC3E}">
        <p14:creationId xmlns:p14="http://schemas.microsoft.com/office/powerpoint/2010/main" val="1452709866"/>
      </p:ext>
    </p:extLst>
  </p:cSld>
</p:sld>
</file>

<file path=ppt/slides/slide7.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24DE3C-DD9D-4359-9981-8CDF365A5F90}"/>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Referral: a live branch to demonstrate</a:t>
            </a:r>
          </a:p>
        </p:txBody>
      </p:sp>
      <p:sp>
        <p:nvSpPr>
          <p:cNvPr id="2" name="">
            <a:extLst xmlns:a="http://schemas.openxmlformats.org/drawingml/2006/main">
              <a:ext uri="{FF2B5EF4-FFF2-40B4-BE49-F238E27FC236}">
                <a16:creationId xmlns:a16="http://schemas.microsoft.com/office/drawing/2014/main" id="{B0ED5A1F-8EA9-40DB-B8A3-5892690DCEA8}"/>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07</a:t>
            </a:r>
          </a:p>
        </p:txBody>
      </p:sp>
      <p:sp>
        <p:nvSpPr>
          <p:cNvPr id="3" name="">
            <a:extLst xmlns:a="http://schemas.openxmlformats.org/drawingml/2006/main">
              <a:ext uri="{FF2B5EF4-FFF2-40B4-BE49-F238E27FC236}">
                <a16:creationId xmlns:a16="http://schemas.microsoft.com/office/drawing/2014/main" id="{49C5E628-2A32-4080-BE4D-261556B1DE85}"/>
              </a:ext>
            </a:extLst>
          </p:cNvPr>
          <p:cNvSpPr>
            <a:spLocks xmlns:a="http://schemas.openxmlformats.org/drawingml/2006/main" noGrp="1"/>
          </p:cNvSpPr>
          <p:nvPr/>
        </p:nvSpPr>
        <p:spPr>
          <a:xfrm xmlns:a="http://schemas.openxmlformats.org/drawingml/2006/main">
            <a:off x="571500" y="2076450"/>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Demo input</a:t>
            </a:r>
          </a:p>
        </p:txBody>
      </p:sp>
      <p:sp>
        <p:nvSpPr>
          <p:cNvPr id="4" name="">
            <a:extLst xmlns:a="http://schemas.openxmlformats.org/drawingml/2006/main">
              <a:ext uri="{FF2B5EF4-FFF2-40B4-BE49-F238E27FC236}">
                <a16:creationId xmlns:a16="http://schemas.microsoft.com/office/drawing/2014/main" id="{5C037645-B624-48B7-A2D7-94F04823B11A}"/>
              </a:ext>
            </a:extLst>
          </p:cNvPr>
          <p:cNvSpPr>
            <a:spLocks xmlns:a="http://schemas.openxmlformats.org/drawingml/2006/main" noGrp="1"/>
          </p:cNvSpPr>
          <p:nvPr/>
        </p:nvSpPr>
        <p:spPr>
          <a:xfrm xmlns:a="http://schemas.openxmlformats.org/drawingml/2006/main">
            <a:off x="571500" y="2628900"/>
            <a:ext cx="52863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Patient and referral IDs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informationComplete = false, then true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referralDecision = ACCEPT</a:t>
            </a:r>
          </a:p>
        </p:txBody>
      </p:sp>
      <p:sp>
        <p:nvSpPr>
          <p:cNvPr id="5" name="">
            <a:extLst xmlns:a="http://schemas.openxmlformats.org/drawingml/2006/main">
              <a:ext uri="{FF2B5EF4-FFF2-40B4-BE49-F238E27FC236}">
                <a16:creationId xmlns:a16="http://schemas.microsoft.com/office/drawing/2014/main" id="{C5927E5D-B59F-4170-803E-B129DD28AA28}"/>
              </a:ext>
            </a:extLst>
          </p:cNvPr>
          <p:cNvSpPr>
            <a:spLocks xmlns:a="http://schemas.openxmlformats.org/drawingml/2006/main" noGrp="1"/>
          </p:cNvSpPr>
          <p:nvPr/>
        </p:nvSpPr>
        <p:spPr>
          <a:xfrm xmlns:a="http://schemas.openxmlformats.org/drawingml/2006/main">
            <a:off x="6477000" y="20764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Expected observation</a:t>
            </a:r>
          </a:p>
        </p:txBody>
      </p:sp>
      <p:sp>
        <p:nvSpPr>
          <p:cNvPr id="6" name="">
            <a:extLst xmlns:a="http://schemas.openxmlformats.org/drawingml/2006/main">
              <a:ext uri="{FF2B5EF4-FFF2-40B4-BE49-F238E27FC236}">
                <a16:creationId xmlns:a16="http://schemas.microsoft.com/office/drawing/2014/main" id="{DAFD7F60-6313-4248-A3B5-C2143FC50E72}"/>
              </a:ext>
            </a:extLst>
          </p:cNvPr>
          <p:cNvSpPr>
            <a:spLocks xmlns:a="http://schemas.openxmlformats.org/drawingml/2006/main" noGrp="1"/>
          </p:cNvSpPr>
          <p:nvPr/>
        </p:nvSpPr>
        <p:spPr>
          <a:xfrm xmlns:a="http://schemas.openxmlformats.org/drawingml/2006/main">
            <a:off x="6477000" y="2628900"/>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Missing-information loop first</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Then accepted handover</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Appointment starts only after ACCEPT</a:t>
            </a:r>
          </a:p>
        </p:txBody>
      </p:sp>
      <p:sp>
        <p:nvSpPr>
          <p:cNvPr id="7" name="">
            <a:extLst xmlns:a="http://schemas.openxmlformats.org/drawingml/2006/main">
              <a:ext uri="{FF2B5EF4-FFF2-40B4-BE49-F238E27FC236}">
                <a16:creationId xmlns:a16="http://schemas.microsoft.com/office/drawing/2014/main" id="{37392343-FF69-48ED-8ECE-691EE92D1B64}"/>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Historical completed evidence exists for ACCEPT; other decisions need separate runs.</a:t>
            </a:r>
          </a:p>
        </p:txBody>
      </p:sp>
    </p:spTree>
    <p:extLst>
      <p:ext uri="{BB962C8B-B14F-4D97-AF65-F5344CB8AC3E}">
        <p14:creationId xmlns:p14="http://schemas.microsoft.com/office/powerpoint/2010/main" val="1589579629"/>
      </p:ext>
    </p:extLst>
  </p:cSld>
</p:sld>
</file>

<file path=ppt/slides/slide8.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57F47B-2E0C-4641-9929-D9DFB6EE9834}"/>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Referral: design defence</a:t>
            </a:r>
          </a:p>
        </p:txBody>
      </p:sp>
      <p:sp>
        <p:nvSpPr>
          <p:cNvPr id="2" name="">
            <a:extLst xmlns:a="http://schemas.openxmlformats.org/drawingml/2006/main">
              <a:ext uri="{FF2B5EF4-FFF2-40B4-BE49-F238E27FC236}">
                <a16:creationId xmlns:a16="http://schemas.microsoft.com/office/drawing/2014/main" id="{633F62A1-625D-49FD-80C0-B8C6EFDCAA3F}"/>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DENG JIN WANG    /    08</a:t>
            </a:r>
          </a:p>
        </p:txBody>
      </p:sp>
      <p:sp>
        <p:nvSpPr>
          <p:cNvPr id="3" name="">
            <a:extLst xmlns:a="http://schemas.openxmlformats.org/drawingml/2006/main">
              <a:ext uri="{FF2B5EF4-FFF2-40B4-BE49-F238E27FC236}">
                <a16:creationId xmlns:a16="http://schemas.microsoft.com/office/drawing/2014/main" id="{3C65DF0F-B249-4922-B9BD-15CB244A8B95}"/>
              </a:ext>
            </a:extLst>
          </p:cNvPr>
          <p:cNvSpPr>
            <a:spLocks xmlns:a="http://schemas.openxmlformats.org/drawingml/2006/main" noGrp="1"/>
          </p:cNvSpPr>
          <p:nvPr/>
        </p:nvSpPr>
        <p:spPr>
          <a:xfrm xmlns:a="http://schemas.openxmlformats.org/drawingml/2006/main">
            <a:off x="571500" y="20478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Why human review?</a:t>
            </a:r>
          </a:p>
        </p:txBody>
      </p:sp>
      <p:sp>
        <p:nvSpPr>
          <p:cNvPr id="4" name="">
            <a:extLst xmlns:a="http://schemas.openxmlformats.org/drawingml/2006/main">
              <a:ext uri="{FF2B5EF4-FFF2-40B4-BE49-F238E27FC236}">
                <a16:creationId xmlns:a16="http://schemas.microsoft.com/office/drawing/2014/main" id="{2B418572-9AB8-4E59-8326-D3B31ED29ED6}"/>
              </a:ext>
            </a:extLst>
          </p:cNvPr>
          <p:cNvSpPr>
            <a:spLocks xmlns:a="http://schemas.openxmlformats.org/drawingml/2006/main" noGrp="1"/>
          </p:cNvSpPr>
          <p:nvPr/>
        </p:nvSpPr>
        <p:spPr>
          <a:xfrm xmlns:a="http://schemas.openxmlformats.org/drawingml/2006/main">
            <a:off x="571500" y="260032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A complete form does not equal clinical acceptance. Consultant decisions remain explicit and auditable in the process.</a:t>
            </a:r>
          </a:p>
        </p:txBody>
      </p:sp>
      <p:sp>
        <p:nvSpPr>
          <p:cNvPr id="5" name="">
            <a:extLst xmlns:a="http://schemas.openxmlformats.org/drawingml/2006/main">
              <a:ext uri="{FF2B5EF4-FFF2-40B4-BE49-F238E27FC236}">
                <a16:creationId xmlns:a16="http://schemas.microsoft.com/office/drawing/2014/main" id="{5E4AA218-51AF-424E-AE08-C5083999C87F}"/>
              </a:ext>
            </a:extLst>
          </p:cNvPr>
          <p:cNvSpPr>
            <a:spLocks xmlns:a="http://schemas.openxmlformats.org/drawingml/2006/main" noGrp="1"/>
          </p:cNvSpPr>
          <p:nvPr/>
        </p:nvSpPr>
        <p:spPr>
          <a:xfrm xmlns:a="http://schemas.openxmlformats.org/drawingml/2006/main">
            <a:off x="6477000" y="20478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What still needs work?</a:t>
            </a:r>
          </a:p>
        </p:txBody>
      </p:sp>
      <p:sp>
        <p:nvSpPr>
          <p:cNvPr id="6" name="">
            <a:extLst xmlns:a="http://schemas.openxmlformats.org/drawingml/2006/main">
              <a:ext uri="{FF2B5EF4-FFF2-40B4-BE49-F238E27FC236}">
                <a16:creationId xmlns:a16="http://schemas.microsoft.com/office/drawing/2014/main" id="{7FDB1C72-3377-4BBB-AFEA-D8EC3F4DB2CE}"/>
              </a:ext>
            </a:extLst>
          </p:cNvPr>
          <p:cNvSpPr>
            <a:spLocks xmlns:a="http://schemas.openxmlformats.org/drawingml/2006/main" noGrp="1"/>
          </p:cNvSpPr>
          <p:nvPr/>
        </p:nvSpPr>
        <p:spPr>
          <a:xfrm xmlns:a="http://schemas.openxmlformats.org/drawingml/2006/main">
            <a:off x="6477000" y="260032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Several user tasks lack a bound form. Unknown decision values from external input have no default branch.</a:t>
            </a:r>
          </a:p>
        </p:txBody>
      </p:sp>
      <p:sp>
        <p:nvSpPr>
          <p:cNvPr id="7" name="">
            <a:extLst xmlns:a="http://schemas.openxmlformats.org/drawingml/2006/main">
              <a:ext uri="{FF2B5EF4-FFF2-40B4-BE49-F238E27FC236}">
                <a16:creationId xmlns:a16="http://schemas.microsoft.com/office/drawing/2014/main" id="{2ABB7CDC-38F8-4EBF-98F0-2416184C15B6}"/>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Answer with the actual gate and its variable, then state the untested edge case.</a:t>
            </a:r>
          </a:p>
        </p:txBody>
      </p:sp>
    </p:spTree>
    <p:extLst>
      <p:ext uri="{BB962C8B-B14F-4D97-AF65-F5344CB8AC3E}">
        <p14:creationId xmlns:p14="http://schemas.microsoft.com/office/powerpoint/2010/main" val="462813735"/>
      </p:ext>
    </p:extLst>
  </p:cSld>
</p:sld>
</file>

<file path=ppt/slides/slide9.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8776B4-C1DB-445B-B3EA-D7CF5B9BE11B}"/>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Appointment diagram: slot and retry paths</a:t>
            </a:r>
          </a:p>
        </p:txBody>
      </p:sp>
      <p:sp>
        <p:nvSpPr>
          <p:cNvPr id="2" name="">
            <a:extLst xmlns:a="http://schemas.openxmlformats.org/drawingml/2006/main">
              <a:ext uri="{FF2B5EF4-FFF2-40B4-BE49-F238E27FC236}">
                <a16:creationId xmlns:a16="http://schemas.microsoft.com/office/drawing/2014/main" id="{385A796B-2409-4B5F-81DC-E9CFA04D53B4}"/>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09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133c1808a9d4e40"/>
          <a:stretch xmlns:a="http://schemas.openxmlformats.org/drawingml/2006/main"/>
        </p:blipFill>
        <p:spPr>
          <a:xfrm xmlns:a="http://schemas.openxmlformats.org/drawingml/2006/main">
            <a:off x="1158305" y="1390650"/>
            <a:ext cx="9875391"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0B0E0E1-B540-4B8C-B331-4DAA56B6CFBC}"/>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First decision: slotAvailable. No slot returns to a changed search request.</a:t>
            </a:r>
          </a:p>
        </p:txBody>
      </p:sp>
    </p:spTree>
    <p:extLst>
      <p:ext uri="{BB962C8B-B14F-4D97-AF65-F5344CB8AC3E}">
        <p14:creationId xmlns:p14="http://schemas.microsoft.com/office/powerpoint/2010/main" val="1741536068"/>
      </p:ext>
    </p:extLst>
  </p:cSld>
</p:sld>
</file>

<file path=ppt/slides/slide10.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F21B99-E48B-4D47-920D-4F350E89B725}"/>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Appointment diagram: patient contact paths</a:t>
            </a:r>
          </a:p>
        </p:txBody>
      </p:sp>
      <p:sp>
        <p:nvSpPr>
          <p:cNvPr id="2" name="">
            <a:extLst xmlns:a="http://schemas.openxmlformats.org/drawingml/2006/main">
              <a:ext uri="{FF2B5EF4-FFF2-40B4-BE49-F238E27FC236}">
                <a16:creationId xmlns:a16="http://schemas.microsoft.com/office/drawing/2014/main" id="{D2564C38-6AC7-40E5-B029-923406A920F4}"/>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10</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c05b07a77704ae6"/>
          <a:stretch xmlns:a="http://schemas.openxmlformats.org/drawingml/2006/main"/>
        </p:blipFill>
        <p:spPr>
          <a:xfrm xmlns:a="http://schemas.openxmlformats.org/drawingml/2006/main">
            <a:off x="1069906" y="1390650"/>
            <a:ext cx="10052188"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9EB764E-89FF-497B-9D1F-968335B03A86}"/>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Second decision: appointmentWithinTwoWeeks. Reschedule loops back to the search.</a:t>
            </a:r>
          </a:p>
        </p:txBody>
      </p:sp>
    </p:spTree>
    <p:extLst>
      <p:ext uri="{BB962C8B-B14F-4D97-AF65-F5344CB8AC3E}">
        <p14:creationId xmlns:p14="http://schemas.microsoft.com/office/powerpoint/2010/main" val="321558494"/>
      </p:ext>
    </p:extLst>
  </p:cSld>
</p:sld>
</file>

<file path=ppt/slides/slide11.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BBCB18-8BFE-4DCE-A43D-A69613BC2A4B}"/>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Appointment: the worker controls two gateways</a:t>
            </a:r>
          </a:p>
        </p:txBody>
      </p:sp>
      <p:sp>
        <p:nvSpPr>
          <p:cNvPr id="2" name="">
            <a:extLst xmlns:a="http://schemas.openxmlformats.org/drawingml/2006/main">
              <a:ext uri="{FF2B5EF4-FFF2-40B4-BE49-F238E27FC236}">
                <a16:creationId xmlns:a16="http://schemas.microsoft.com/office/drawing/2014/main" id="{05A75959-4C5E-47ED-AA88-079C7CA90451}"/>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11</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381375"/>
                <a:gridCol w="4810125"/>
                <a:gridCol w="2857500"/>
              </a:tblGrid>
              <a:tr h="495300">
                <a:tc>
                  <a:txBody>
                    <a:bodyPr/>
                    <a:lstStyle/>
                    <a:p>
                      <a:r>
                        <a:rPr sz="1650" b="1">
                          <a:solidFill>
                            <a:srgbClr val="FFFFFF"/>
                          </a:solidFill>
                          <a:latin typeface="Arial"/>
                          <a:ea typeface="Arial"/>
                          <a:cs typeface="Arial"/>
                        </a:rPr>
                        <a:t>Input / output</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Rule in the running logic</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Route</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requestedSlotAvailable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Worker returns slotAvailable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Edit booking request and retry</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slotAvailable = true</a:t>
                      </a:r>
                    </a:p>
                  </a:txBody>
                  <a:tcPr marL="123825" marR="123825" marT="104775" marB="76200" anchor="t">
                    <a:solidFill>
                      <a:srgbClr val="EDF3F3"/>
                    </a:solidFill>
                  </a:tcPr>
                </a:tc>
                <a:tc>
                  <a:txBody>
                    <a:bodyPr/>
                    <a:lstStyle/>
                    <a:p>
                      <a:r>
                        <a:rPr sz="1650">
                          <a:solidFill>
                            <a:srgbClr val="173E48"/>
                          </a:solidFill>
                          <a:latin typeface="Arial"/>
                          <a:ea typeface="Arial"/>
                          <a:cs typeface="Arial"/>
                        </a:rPr>
                        <a:t>Confirm appointment, send letter</a:t>
                      </a:r>
                    </a:p>
                  </a:txBody>
                  <a:tcPr marL="123825" marR="123825" marT="104775" marB="76200" anchor="t">
                    <a:solidFill>
                      <a:srgbClr val="EDF3F3"/>
                    </a:solidFill>
                  </a:tcPr>
                </a:tc>
                <a:tc>
                  <a:txBody>
                    <a:bodyPr/>
                    <a:lstStyle/>
                    <a:p>
                      <a:r>
                        <a:rPr sz="1650">
                          <a:solidFill>
                            <a:srgbClr val="173E48"/>
                          </a:solidFill>
                          <a:latin typeface="Arial"/>
                          <a:ea typeface="Arial"/>
                          <a:cs typeface="Arial"/>
                        </a:rPr>
                        <a:t>Check 14-day rule</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0 to 14 days ahead</a:t>
                      </a:r>
                    </a:p>
                  </a:txBody>
                  <a:tcPr marL="123825" marR="123825" marT="104775" marB="76200" anchor="t">
                    <a:solidFill>
                      <a:srgbClr val="FFFFFF"/>
                    </a:solidFill>
                  </a:tcPr>
                </a:tc>
                <a:tc>
                  <a:txBody>
                    <a:bodyPr/>
                    <a:lstStyle/>
                    <a:p>
                      <a:r>
                        <a:rPr sz="1650">
                          <a:solidFill>
                            <a:srgbClr val="173E48"/>
                          </a:solidFill>
                          <a:latin typeface="Arial"/>
                          <a:ea typeface="Arial"/>
                          <a:cs typeface="Arial"/>
                        </a:rPr>
                        <a:t>appointmentWithinTwoWeeks = true</a:t>
                      </a:r>
                    </a:p>
                  </a:txBody>
                  <a:tcPr marL="123825" marR="123825" marT="104775" marB="76200" anchor="t">
                    <a:solidFill>
                      <a:srgbClr val="FFFFFF"/>
                    </a:solidFill>
                  </a:tcPr>
                </a:tc>
                <a:tc>
                  <a:txBody>
                    <a:bodyPr/>
                    <a:lstStyle/>
                    <a:p>
                      <a:r>
                        <a:rPr sz="1650">
                          <a:solidFill>
                            <a:srgbClr val="173E48"/>
                          </a:solidFill>
                          <a:latin typeface="Arial"/>
                          <a:ea typeface="Arial"/>
                          <a:cs typeface="Arial"/>
                        </a:rPr>
                        <a:t>Telephone contact required</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Telephone outcome = RESCHEDULE</a:t>
                      </a:r>
                    </a:p>
                  </a:txBody>
                  <a:tcPr marL="123825" marR="123825" marT="104775" marB="76200" anchor="t">
                    <a:solidFill>
                      <a:srgbClr val="EDF3F3"/>
                    </a:solidFill>
                  </a:tcPr>
                </a:tc>
                <a:tc>
                  <a:txBody>
                    <a:bodyPr/>
                    <a:lstStyle/>
                    <a:p>
                      <a:r>
                        <a:rPr sz="1650">
                          <a:solidFill>
                            <a:srgbClr val="173E48"/>
                          </a:solidFill>
                          <a:latin typeface="Arial"/>
                          <a:ea typeface="Arial"/>
                          <a:cs typeface="Arial"/>
                        </a:rPr>
                        <a:t>New search is needed</a:t>
                      </a:r>
                    </a:p>
                  </a:txBody>
                  <a:tcPr marL="123825" marR="123825" marT="104775" marB="76200" anchor="t">
                    <a:solidFill>
                      <a:srgbClr val="EDF3F3"/>
                    </a:solidFill>
                  </a:tcPr>
                </a:tc>
                <a:tc>
                  <a:txBody>
                    <a:bodyPr/>
                    <a:lstStyle/>
                    <a:p>
                      <a:r>
                        <a:rPr sz="1650">
                          <a:solidFill>
                            <a:srgbClr val="173E48"/>
                          </a:solidFill>
                          <a:latin typeface="Arial"/>
                          <a:ea typeface="Arial"/>
                          <a:cs typeface="Arial"/>
                        </a:rPr>
                        <a:t>Loop to scheduling</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52538BC0-E9BF-4C94-8711-2A20FC8250EC}"/>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The service is simulated. Day 0 and day 14 count; past dates need stronger rejection.</a:t>
            </a:r>
          </a:p>
        </p:txBody>
      </p:sp>
    </p:spTree>
    <p:extLst>
      <p:ext uri="{BB962C8B-B14F-4D97-AF65-F5344CB8AC3E}">
        <p14:creationId xmlns:p14="http://schemas.microsoft.com/office/powerpoint/2010/main" val="2036914970"/>
      </p:ext>
    </p:extLst>
  </p:cSld>
</p:sld>
</file>

<file path=ppt/slides/slide12.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4BA99B-E2C9-4A90-96D2-13C2FDA3A926}"/>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Appointment: normal and exception demonstrations</a:t>
            </a:r>
          </a:p>
        </p:txBody>
      </p:sp>
      <p:sp>
        <p:nvSpPr>
          <p:cNvPr id="2" name="">
            <a:extLst xmlns:a="http://schemas.openxmlformats.org/drawingml/2006/main">
              <a:ext uri="{FF2B5EF4-FFF2-40B4-BE49-F238E27FC236}">
                <a16:creationId xmlns:a16="http://schemas.microsoft.com/office/drawing/2014/main" id="{F163B38D-41AC-4E26-9081-D42E5D2889A3}"/>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12</a:t>
            </a:r>
          </a:p>
        </p:txBody>
      </p:sp>
      <p:sp>
        <p:nvSpPr>
          <p:cNvPr id="3" name="">
            <a:extLst xmlns:a="http://schemas.openxmlformats.org/drawingml/2006/main">
              <a:ext uri="{FF2B5EF4-FFF2-40B4-BE49-F238E27FC236}">
                <a16:creationId xmlns:a16="http://schemas.microsoft.com/office/drawing/2014/main" id="{4FD3ACAE-70AE-47F5-95C9-E69399B9F0C4}"/>
              </a:ext>
            </a:extLst>
          </p:cNvPr>
          <p:cNvSpPr>
            <a:spLocks xmlns:a="http://schemas.openxmlformats.org/drawingml/2006/main" noGrp="1"/>
          </p:cNvSpPr>
          <p:nvPr/>
        </p:nvSpPr>
        <p:spPr>
          <a:xfrm xmlns:a="http://schemas.openxmlformats.org/drawingml/2006/main">
            <a:off x="571500" y="20669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Normal path</a:t>
            </a:r>
          </a:p>
        </p:txBody>
      </p:sp>
      <p:sp>
        <p:nvSpPr>
          <p:cNvPr id="4" name="">
            <a:extLst xmlns:a="http://schemas.openxmlformats.org/drawingml/2006/main">
              <a:ext uri="{FF2B5EF4-FFF2-40B4-BE49-F238E27FC236}">
                <a16:creationId xmlns:a16="http://schemas.microsoft.com/office/drawing/2014/main" id="{2E02720B-4904-4879-808C-3B897DAECBCA}"/>
              </a:ext>
            </a:extLst>
          </p:cNvPr>
          <p:cNvSpPr>
            <a:spLocks xmlns:a="http://schemas.openxmlformats.org/drawingml/2006/main" noGrp="1"/>
          </p:cNvSpPr>
          <p:nvPr/>
        </p:nvSpPr>
        <p:spPr>
          <a:xfrm xmlns:a="http://schemas.openxmlformats.org/drawingml/2006/main">
            <a:off x="571500" y="261937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Slot available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Date more than 14 days ahead</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Letter sent, no phone task</a:t>
            </a:r>
          </a:p>
        </p:txBody>
      </p:sp>
      <p:sp>
        <p:nvSpPr>
          <p:cNvPr id="5" name="">
            <a:extLst xmlns:a="http://schemas.openxmlformats.org/drawingml/2006/main">
              <a:ext uri="{FF2B5EF4-FFF2-40B4-BE49-F238E27FC236}">
                <a16:creationId xmlns:a16="http://schemas.microsoft.com/office/drawing/2014/main" id="{B5041890-3DE9-4CFB-B0EC-6135F2DA84B5}"/>
              </a:ext>
            </a:extLst>
          </p:cNvPr>
          <p:cNvSpPr>
            <a:spLocks xmlns:a="http://schemas.openxmlformats.org/drawingml/2006/main" noGrp="1"/>
          </p:cNvSpPr>
          <p:nvPr/>
        </p:nvSpPr>
        <p:spPr>
          <a:xfrm xmlns:a="http://schemas.openxmlformats.org/drawingml/2006/main">
            <a:off x="6477000" y="20669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Exception path</a:t>
            </a:r>
          </a:p>
        </p:txBody>
      </p:sp>
      <p:sp>
        <p:nvSpPr>
          <p:cNvPr id="6" name="">
            <a:extLst xmlns:a="http://schemas.openxmlformats.org/drawingml/2006/main">
              <a:ext uri="{FF2B5EF4-FFF2-40B4-BE49-F238E27FC236}">
                <a16:creationId xmlns:a16="http://schemas.microsoft.com/office/drawing/2014/main" id="{283E1D7E-BDA1-4133-8BCF-D5D2CF948B08}"/>
              </a:ext>
            </a:extLst>
          </p:cNvPr>
          <p:cNvSpPr>
            <a:spLocks xmlns:a="http://schemas.openxmlformats.org/drawingml/2006/main" noGrp="1"/>
          </p:cNvSpPr>
          <p:nvPr/>
        </p:nvSpPr>
        <p:spPr>
          <a:xfrm xmlns:a="http://schemas.openxmlformats.org/drawingml/2006/main">
            <a:off x="6477000" y="261937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No slot, edit the request, retry</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Or choose a date within 14 days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Record the phone outcome</a:t>
            </a:r>
          </a:p>
        </p:txBody>
      </p:sp>
      <p:sp>
        <p:nvSpPr>
          <p:cNvPr id="7" name="">
            <a:extLst xmlns:a="http://schemas.openxmlformats.org/drawingml/2006/main">
              <a:ext uri="{FF2B5EF4-FFF2-40B4-BE49-F238E27FC236}">
                <a16:creationId xmlns:a16="http://schemas.microsoft.com/office/drawing/2014/main" id="{FD1645A5-0ED8-4758-BBD2-DB2D236D68B6}"/>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Check slotAvailable and appointmentWithinTwoWeeks in the instance variables.</a:t>
            </a:r>
          </a:p>
        </p:txBody>
      </p:sp>
    </p:spTree>
    <p:extLst>
      <p:ext uri="{BB962C8B-B14F-4D97-AF65-F5344CB8AC3E}">
        <p14:creationId xmlns:p14="http://schemas.microsoft.com/office/powerpoint/2010/main" val="1247336767"/>
      </p:ext>
    </p:extLst>
  </p:cSld>
</p:sld>
</file>

<file path=ppt/slides/slide13.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89B6AD-B7D1-449F-823F-11D0B40B36FD}"/>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Treatment diagram: consent and authorisation</a:t>
            </a:r>
          </a:p>
        </p:txBody>
      </p:sp>
      <p:sp>
        <p:nvSpPr>
          <p:cNvPr id="2" name="">
            <a:extLst xmlns:a="http://schemas.openxmlformats.org/drawingml/2006/main">
              <a:ext uri="{FF2B5EF4-FFF2-40B4-BE49-F238E27FC236}">
                <a16:creationId xmlns:a16="http://schemas.microsoft.com/office/drawing/2014/main" id="{BF0484D6-A2FC-4ED4-BECB-88146400E16D}"/>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LIN JIA QIANG    /    13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f09112f5c314ad4"/>
          <a:stretch xmlns:a="http://schemas.openxmlformats.org/drawingml/2006/main"/>
        </p:blipFill>
        <p:spPr>
          <a:xfrm xmlns:a="http://schemas.openxmlformats.org/drawingml/2006/main">
            <a:off x="3127995" y="1400175"/>
            <a:ext cx="5936011"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231B063-83B1-4593-A051-39CF56E96B5A}"/>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Consent and authorised request are separate gates before checking resources.</a:t>
            </a:r>
          </a:p>
        </p:txBody>
      </p:sp>
    </p:spTree>
    <p:extLst>
      <p:ext uri="{BB962C8B-B14F-4D97-AF65-F5344CB8AC3E}">
        <p14:creationId xmlns:p14="http://schemas.microsoft.com/office/powerpoint/2010/main" val="1596266967"/>
      </p:ext>
    </p:extLst>
  </p:cSld>
</p:sld>
</file>

<file path=ppt/slides/slide14.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CF98F0-7625-4FB3-B82D-EA60A9737C49}"/>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Treatment diagram: resources and cycles</a:t>
            </a:r>
          </a:p>
        </p:txBody>
      </p:sp>
      <p:sp>
        <p:nvSpPr>
          <p:cNvPr id="2" name="">
            <a:extLst xmlns:a="http://schemas.openxmlformats.org/drawingml/2006/main">
              <a:ext uri="{FF2B5EF4-FFF2-40B4-BE49-F238E27FC236}">
                <a16:creationId xmlns:a16="http://schemas.microsoft.com/office/drawing/2014/main" id="{89B16CB6-8E44-4AD6-B7DB-24102B5F0914}"/>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LIN JIA QIANG    /    14</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ae10411222945a7"/>
          <a:stretch xmlns:a="http://schemas.openxmlformats.org/drawingml/2006/main"/>
        </p:blipFill>
        <p:spPr>
          <a:xfrm xmlns:a="http://schemas.openxmlformats.org/drawingml/2006/main">
            <a:off x="3127995" y="1400175"/>
            <a:ext cx="5936011"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CD412A7-E98A-4FF3-86A4-30B4D79A98D4}"/>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Resource failure returns through an editable retry form; cycle count is a human decision.</a:t>
            </a:r>
          </a:p>
        </p:txBody>
      </p:sp>
    </p:spTree>
    <p:extLst>
      <p:ext uri="{BB962C8B-B14F-4D97-AF65-F5344CB8AC3E}">
        <p14:creationId xmlns:p14="http://schemas.microsoft.com/office/powerpoint/2010/main" val="1872553972"/>
      </p:ext>
    </p:extLst>
  </p:cSld>
</p:sld>
</file>

<file path=ppt/slides/slide15.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E180BA-47DC-4835-9D8D-41A15A217AF7}"/>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Treatment diagram: clinical review branches</a:t>
            </a:r>
          </a:p>
        </p:txBody>
      </p:sp>
      <p:sp>
        <p:nvSpPr>
          <p:cNvPr id="2" name="">
            <a:extLst xmlns:a="http://schemas.openxmlformats.org/drawingml/2006/main">
              <a:ext uri="{FF2B5EF4-FFF2-40B4-BE49-F238E27FC236}">
                <a16:creationId xmlns:a16="http://schemas.microsoft.com/office/drawing/2014/main" id="{B457A133-7BA0-4D49-8326-C405BE3406FC}"/>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LIN JIA QIANG    /    15</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5b78ed9bc449ea"/>
          <a:stretch xmlns:a="http://schemas.openxmlformats.org/drawingml/2006/main"/>
        </p:blipFill>
        <p:spPr>
          <a:xfrm xmlns:a="http://schemas.openxmlformats.org/drawingml/2006/main">
            <a:off x="3284014" y="1400175"/>
            <a:ext cx="5623971"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686CFE-2BBE-4703-998A-52D488F606F4}"/>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Clinical decisions are human; financial impact requires a manual follow-up in this model.</a:t>
            </a:r>
          </a:p>
        </p:txBody>
      </p:sp>
    </p:spTree>
    <p:extLst>
      <p:ext uri="{BB962C8B-B14F-4D97-AF65-F5344CB8AC3E}">
        <p14:creationId xmlns:p14="http://schemas.microsoft.com/office/powerpoint/2010/main" val="1134866405"/>
      </p:ext>
    </p:extLst>
  </p:cSld>
</p:sld>
</file>

<file path=ppt/slides/slide16.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FD2E365-8E57-4D84-B455-1F124522F323}"/>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Treatment: how to exercise the important paths</a:t>
            </a:r>
          </a:p>
        </p:txBody>
      </p:sp>
      <p:sp>
        <p:nvSpPr>
          <p:cNvPr id="2" name="">
            <a:extLst xmlns:a="http://schemas.openxmlformats.org/drawingml/2006/main">
              <a:ext uri="{FF2B5EF4-FFF2-40B4-BE49-F238E27FC236}">
                <a16:creationId xmlns:a16="http://schemas.microsoft.com/office/drawing/2014/main" id="{5AB138EB-0D9D-4662-9281-3C36262920BC}"/>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LIN JIA QIANG    /    16</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2857500"/>
                <a:gridCol w="3952875"/>
                <a:gridCol w="4238625"/>
              </a:tblGrid>
              <a:tr h="495300">
                <a:tc>
                  <a:txBody>
                    <a:bodyPr/>
                    <a:lstStyle/>
                    <a:p>
                      <a:r>
                        <a:rPr sz="1650" b="1">
                          <a:solidFill>
                            <a:srgbClr val="FFFFFF"/>
                          </a:solidFill>
                          <a:latin typeface="Arial"/>
                          <a:ea typeface="Arial"/>
                          <a:cs typeface="Arial"/>
                        </a:rPr>
                        <a:t>Scenario</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Set the input</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Expected branch</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Declined treatment</a:t>
                      </a:r>
                    </a:p>
                  </a:txBody>
                  <a:tcPr marL="123825" marR="123825" marT="104775" marB="76200" anchor="t">
                    <a:solidFill>
                      <a:srgbClr val="FFFFFF"/>
                    </a:solidFill>
                  </a:tcPr>
                </a:tc>
                <a:tc>
                  <a:txBody>
                    <a:bodyPr/>
                    <a:lstStyle/>
                    <a:p>
                      <a:r>
                        <a:rPr sz="1650">
                          <a:solidFill>
                            <a:srgbClr val="173E48"/>
                          </a:solidFill>
                          <a:latin typeface="Arial"/>
                          <a:ea typeface="Arial"/>
                          <a:cs typeface="Arial"/>
                        </a:rPr>
                        <a:t>patientConsent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No-treatment end; master still calls letter</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Unauthorised request</a:t>
                      </a:r>
                    </a:p>
                  </a:txBody>
                  <a:tcPr marL="123825" marR="123825" marT="104775" marB="76200" anchor="t">
                    <a:solidFill>
                      <a:srgbClr val="EDF3F3"/>
                    </a:solidFill>
                  </a:tcPr>
                </a:tc>
                <a:tc>
                  <a:txBody>
                    <a:bodyPr/>
                    <a:lstStyle/>
                    <a:p>
                      <a:r>
                        <a:rPr sz="1650">
                          <a:solidFill>
                            <a:srgbClr val="173E48"/>
                          </a:solidFill>
                          <a:latin typeface="Arial"/>
                          <a:ea typeface="Arial"/>
                          <a:cs typeface="Arial"/>
                        </a:rPr>
                        <a:t>treatmentAuthorised = false</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Return for correction</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Unavailable resource</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requestedTreatmentAvailable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Pending, edit form, then retry</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Cycle review</a:t>
                      </a:r>
                    </a:p>
                  </a:txBody>
                  <a:tcPr marL="123825" marR="123825" marT="104775" marB="76200" anchor="t">
                    <a:solidFill>
                      <a:srgbClr val="EDF3F3"/>
                    </a:solidFill>
                  </a:tcPr>
                </a:tc>
                <a:tc>
                  <a:txBody>
                    <a:bodyPr/>
                    <a:lstStyle/>
                    <a:p>
                      <a:r>
                        <a:rPr sz="1650">
                          <a:solidFill>
                            <a:srgbClr val="173E48"/>
                          </a:solidFill>
                          <a:latin typeface="Arial"/>
                          <a:ea typeface="Arial"/>
                          <a:cs typeface="Arial"/>
                        </a:rPr>
                        <a:t>moreCycles = true; choose DELAY or MODIFY</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Review loop or financial-impact check</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920C9236-93FA-455B-904C-8D47BFEB8EBA}"/>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Do not call resource simulation a real booking or manual financial follow-up an automated approval.</a:t>
            </a:r>
          </a:p>
        </p:txBody>
      </p:sp>
    </p:spTree>
    <p:extLst>
      <p:ext uri="{BB962C8B-B14F-4D97-AF65-F5344CB8AC3E}">
        <p14:creationId xmlns:p14="http://schemas.microsoft.com/office/powerpoint/2010/main" val="2054376016"/>
      </p:ext>
    </p:extLst>
  </p:cSld>
</p:sld>
</file>

<file path=ppt/slides/slide17.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D09905-8D4C-4025-9AA8-48E58553BD8F}"/>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Finance diagram: funding and payment</a:t>
            </a:r>
          </a:p>
        </p:txBody>
      </p:sp>
      <p:sp>
        <p:nvSpPr>
          <p:cNvPr id="2" name="">
            <a:extLst xmlns:a="http://schemas.openxmlformats.org/drawingml/2006/main">
              <a:ext uri="{FF2B5EF4-FFF2-40B4-BE49-F238E27FC236}">
                <a16:creationId xmlns:a16="http://schemas.microsoft.com/office/drawing/2014/main" id="{9F5D9022-3888-4D5F-9C09-1F578D9859EE}"/>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17</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afce60b88fe4d63"/>
          <a:stretch xmlns:a="http://schemas.openxmlformats.org/drawingml/2006/main"/>
        </p:blipFill>
        <p:spPr>
          <a:xfrm xmlns:a="http://schemas.openxmlformats.org/drawingml/2006/main">
            <a:off x="611065" y="1390650"/>
            <a:ext cx="10969870"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C9CD361-B640-48DC-AA27-E74F34C1CF09}"/>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Payment result and funding route both lead to a clear financial handover or pending endpoint.</a:t>
            </a:r>
          </a:p>
        </p:txBody>
      </p:sp>
    </p:spTree>
    <p:extLst>
      <p:ext uri="{BB962C8B-B14F-4D97-AF65-F5344CB8AC3E}">
        <p14:creationId xmlns:p14="http://schemas.microsoft.com/office/powerpoint/2010/main" val="1113231218"/>
      </p:ext>
    </p:extLst>
  </p:cSld>
</p:sld>
</file>

<file path=ppt/slides/slide18.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5F02BDC-E518-4B9D-B27C-8373B498C34B}"/>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Finance diagram: outcomes and refund result</a:t>
            </a:r>
          </a:p>
        </p:txBody>
      </p:sp>
      <p:sp>
        <p:nvSpPr>
          <p:cNvPr id="2" name="">
            <a:extLst xmlns:a="http://schemas.openxmlformats.org/drawingml/2006/main">
              <a:ext uri="{FF2B5EF4-FFF2-40B4-BE49-F238E27FC236}">
                <a16:creationId xmlns:a16="http://schemas.microsoft.com/office/drawing/2014/main" id="{6A248842-4E9F-49C5-B095-49FE7159C3C3}"/>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18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7bb2df54ffd45cb"/>
          <a:stretch xmlns:a="http://schemas.openxmlformats.org/drawingml/2006/main"/>
        </p:blipFill>
        <p:spPr>
          <a:xfrm xmlns:a="http://schemas.openxmlformats.org/drawingml/2006/main">
            <a:off x="571500" y="1507236"/>
            <a:ext cx="11049000" cy="416737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E3DF50D-E442-4CF5-AD4C-70431C014653}"/>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Lower half: payment retry or investigation, urgent override, clearance and refund result.</a:t>
            </a:r>
          </a:p>
        </p:txBody>
      </p:sp>
    </p:spTree>
    <p:extLst>
      <p:ext uri="{BB962C8B-B14F-4D97-AF65-F5344CB8AC3E}">
        <p14:creationId xmlns:p14="http://schemas.microsoft.com/office/powerpoint/2010/main" val="540323119"/>
      </p:ext>
    </p:extLst>
  </p:cSld>
</p:sld>
</file>

<file path=ppt/slides/slide19.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CCB00A4-D97E-41EC-B6A4-A952799B9F08}"/>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Finance: why lost confirmation is different</a:t>
            </a:r>
          </a:p>
        </p:txBody>
      </p:sp>
      <p:sp>
        <p:nvSpPr>
          <p:cNvPr id="2" name="">
            <a:extLst xmlns:a="http://schemas.openxmlformats.org/drawingml/2006/main">
              <a:ext uri="{FF2B5EF4-FFF2-40B4-BE49-F238E27FC236}">
                <a16:creationId xmlns:a16="http://schemas.microsoft.com/office/drawing/2014/main" id="{A16EC356-BCA0-47C9-B727-3F1DDFC0AF30}"/>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19</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238500"/>
                <a:gridCol w="4000500"/>
                <a:gridCol w="3810000"/>
              </a:tblGrid>
              <a:tr h="495300">
                <a:tc>
                  <a:txBody>
                    <a:bodyPr/>
                    <a:lstStyle/>
                    <a:p>
                      <a:r>
                        <a:rPr sz="1650" b="1">
                          <a:solidFill>
                            <a:srgbClr val="FFFFFF"/>
                          </a:solidFill>
                          <a:latin typeface="Arial"/>
                          <a:ea typeface="Arial"/>
                          <a:cs typeface="Arial"/>
                        </a:rPr>
                        <a:t>Worker result</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Process response</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Reason</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SUCCESSFUL</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Record payment, permit clearance</a:t>
                      </a:r>
                    </a:p>
                  </a:txBody>
                  <a:tcPr marL="123825" marR="123825" marT="104775" marB="76200" anchor="t">
                    <a:solidFill>
                      <a:srgbClr val="FFFFFF"/>
                    </a:solidFill>
                  </a:tcPr>
                </a:tc>
                <a:tc>
                  <a:txBody>
                    <a:bodyPr/>
                    <a:lstStyle/>
                    <a:p>
                      <a:r>
                        <a:rPr sz="1650">
                          <a:solidFill>
                            <a:srgbClr val="173E48"/>
                          </a:solidFill>
                          <a:latin typeface="Arial"/>
                          <a:ea typeface="Arial"/>
                          <a:cs typeface="Arial"/>
                        </a:rPr>
                        <a:t>Confirmed outcome</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DECLINED / CANCELLED / INCOMPLETE</a:t>
                      </a:r>
                    </a:p>
                  </a:txBody>
                  <a:tcPr marL="123825" marR="123825" marT="104775" marB="76200" anchor="t">
                    <a:solidFill>
                      <a:srgbClr val="EDF3F3"/>
                    </a:solidFill>
                  </a:tcPr>
                </a:tc>
                <a:tc>
                  <a:txBody>
                    <a:bodyPr/>
                    <a:lstStyle/>
                    <a:p>
                      <a:r>
                        <a:rPr sz="1650">
                          <a:solidFill>
                            <a:srgbClr val="173E48"/>
                          </a:solidFill>
                          <a:latin typeface="Arial"/>
                          <a:ea typeface="Arial"/>
                          <a:cs typeface="Arial"/>
                        </a:rPr>
                        <a:t>Edit details, then retry</a:t>
                      </a:r>
                    </a:p>
                  </a:txBody>
                  <a:tcPr marL="123825" marR="123825" marT="104775" marB="76200" anchor="t">
                    <a:solidFill>
                      <a:srgbClr val="EDF3F3"/>
                    </a:solidFill>
                  </a:tcPr>
                </a:tc>
                <a:tc>
                  <a:txBody>
                    <a:bodyPr/>
                    <a:lstStyle/>
                    <a:p>
                      <a:r>
                        <a:rPr sz="1650">
                          <a:solidFill>
                            <a:srgbClr val="173E48"/>
                          </a:solidFill>
                          <a:latin typeface="Arial"/>
                          <a:ea typeface="Arial"/>
                          <a:cs typeface="Arial"/>
                        </a:rPr>
                        <a:t>Attempt did not complete</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CONFIRMATION_LOST / DUPLICATE_RISK</a:t>
                      </a:r>
                    </a:p>
                  </a:txBody>
                  <a:tcPr marL="123825" marR="123825" marT="104775" marB="76200" anchor="t">
                    <a:solidFill>
                      <a:srgbClr val="FFFFFF"/>
                    </a:solidFill>
                  </a:tcPr>
                </a:tc>
                <a:tc>
                  <a:txBody>
                    <a:bodyPr/>
                    <a:lstStyle/>
                    <a:p>
                      <a:r>
                        <a:rPr sz="1650">
                          <a:solidFill>
                            <a:srgbClr val="173E48"/>
                          </a:solidFill>
                          <a:latin typeface="Arial"/>
                          <a:ea typeface="Arial"/>
                          <a:cs typeface="Arial"/>
                        </a:rPr>
                        <a:t>Investigate; no automatic recharge</a:t>
                      </a:r>
                    </a:p>
                  </a:txBody>
                  <a:tcPr marL="123825" marR="123825" marT="104775" marB="76200" anchor="t">
                    <a:solidFill>
                      <a:srgbClr val="FFFFFF"/>
                    </a:solidFill>
                  </a:tcPr>
                </a:tc>
                <a:tc>
                  <a:txBody>
                    <a:bodyPr/>
                    <a:lstStyle/>
                    <a:p>
                      <a:r>
                        <a:rPr sz="1650">
                          <a:solidFill>
                            <a:srgbClr val="173E48"/>
                          </a:solidFill>
                          <a:latin typeface="Arial"/>
                          <a:ea typeface="Arial"/>
                          <a:cs typeface="Arial"/>
                        </a:rPr>
                        <a:t>Outcome is uncertain</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Urgent clinical override</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Record exception and refer to Finance</a:t>
                      </a:r>
                    </a:p>
                  </a:txBody>
                  <a:tcPr marL="123825" marR="123825" marT="104775" marB="76200" anchor="t">
                    <a:solidFill>
                      <a:srgbClr val="EDF3F3"/>
                    </a:solidFill>
                  </a:tcPr>
                </a:tc>
                <a:tc>
                  <a:txBody>
                    <a:bodyPr/>
                    <a:lstStyle/>
                    <a:p>
                      <a:r>
                        <a:rPr sz="1650">
                          <a:solidFill>
                            <a:srgbClr val="173E48"/>
                          </a:solidFill>
                          <a:latin typeface="Arial"/>
                          <a:ea typeface="Arial"/>
                          <a:cs typeface="Arial"/>
                        </a:rPr>
                        <a:t>Care may need to continue</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6D42D054-84B9-4D23-8169-9F57A0441AE6}"/>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No durable idempotency store exists in the current worker layer.</a:t>
            </a:r>
          </a:p>
        </p:txBody>
      </p:sp>
    </p:spTree>
    <p:extLst>
      <p:ext uri="{BB962C8B-B14F-4D97-AF65-F5344CB8AC3E}">
        <p14:creationId xmlns:p14="http://schemas.microsoft.com/office/powerpoint/2010/main" val="833411495"/>
      </p:ext>
    </p:extLst>
  </p:cSld>
</p:sld>
</file>

<file path=ppt/slides/slide20.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7A476A-A394-41B3-93E8-ED7A39FB2749}"/>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Finance: demonstration and evidence boundary</a:t>
            </a:r>
          </a:p>
        </p:txBody>
      </p:sp>
      <p:sp>
        <p:nvSpPr>
          <p:cNvPr id="2" name="">
            <a:extLst xmlns:a="http://schemas.openxmlformats.org/drawingml/2006/main">
              <a:ext uri="{FF2B5EF4-FFF2-40B4-BE49-F238E27FC236}">
                <a16:creationId xmlns:a16="http://schemas.microsoft.com/office/drawing/2014/main" id="{FA1F152B-7290-4FF1-8BD3-5BD426594219}"/>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20</a:t>
            </a:r>
          </a:p>
        </p:txBody>
      </p:sp>
      <p:sp>
        <p:nvSpPr>
          <p:cNvPr id="3" name="">
            <a:extLst xmlns:a="http://schemas.openxmlformats.org/drawingml/2006/main">
              <a:ext uri="{FF2B5EF4-FFF2-40B4-BE49-F238E27FC236}">
                <a16:creationId xmlns:a16="http://schemas.microsoft.com/office/drawing/2014/main" id="{60B16659-9C1D-4FC4-903A-E90635E26CA8}"/>
              </a:ext>
            </a:extLst>
          </p:cNvPr>
          <p:cNvSpPr>
            <a:spLocks xmlns:a="http://schemas.openxmlformats.org/drawingml/2006/main" noGrp="1"/>
          </p:cNvSpPr>
          <p:nvPr/>
        </p:nvSpPr>
        <p:spPr>
          <a:xfrm xmlns:a="http://schemas.openxmlformats.org/drawingml/2006/main">
            <a:off x="571500" y="2057400"/>
            <a:ext cx="519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Primary funding demo</a:t>
            </a:r>
          </a:p>
        </p:txBody>
      </p:sp>
      <p:sp>
        <p:nvSpPr>
          <p:cNvPr id="4" name="">
            <a:extLst xmlns:a="http://schemas.openxmlformats.org/drawingml/2006/main">
              <a:ext uri="{FF2B5EF4-FFF2-40B4-BE49-F238E27FC236}">
                <a16:creationId xmlns:a16="http://schemas.microsoft.com/office/drawing/2014/main" id="{A1EDD4D8-394E-44C0-926C-677013134AC4}"/>
              </a:ext>
            </a:extLst>
          </p:cNvPr>
          <p:cNvSpPr>
            <a:spLocks xmlns:a="http://schemas.openxmlformats.org/drawingml/2006/main" noGrp="1"/>
          </p:cNvSpPr>
          <p:nvPr/>
        </p:nvSpPr>
        <p:spPr>
          <a:xfrm xmlns:a="http://schemas.openxmlformats.org/drawingml/2006/main">
            <a:off x="571500" y="2609850"/>
            <a:ext cx="51911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Hospital / exemption gives clearance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Patient payment with lost confirmation goes to investigation</a:t>
            </a:r>
          </a:p>
        </p:txBody>
      </p:sp>
      <p:sp>
        <p:nvSpPr>
          <p:cNvPr id="5" name="">
            <a:extLst xmlns:a="http://schemas.openxmlformats.org/drawingml/2006/main">
              <a:ext uri="{FF2B5EF4-FFF2-40B4-BE49-F238E27FC236}">
                <a16:creationId xmlns:a16="http://schemas.microsoft.com/office/drawing/2014/main" id="{4EA0627B-CF5F-4724-A235-6A3A13A675D4}"/>
              </a:ext>
            </a:extLst>
          </p:cNvPr>
          <p:cNvSpPr>
            <a:spLocks xmlns:a="http://schemas.openxmlformats.org/drawingml/2006/main" noGrp="1"/>
          </p:cNvSpPr>
          <p:nvPr/>
        </p:nvSpPr>
        <p:spPr>
          <a:xfrm xmlns:a="http://schemas.openxmlformats.org/drawingml/2006/main">
            <a:off x="6477000" y="205740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Separate refund demo</a:t>
            </a:r>
          </a:p>
        </p:txBody>
      </p:sp>
      <p:sp>
        <p:nvSpPr>
          <p:cNvPr id="6" name="">
            <a:extLst xmlns:a="http://schemas.openxmlformats.org/drawingml/2006/main">
              <a:ext uri="{FF2B5EF4-FFF2-40B4-BE49-F238E27FC236}">
                <a16:creationId xmlns:a16="http://schemas.microsoft.com/office/drawing/2014/main" id="{948C67CE-FEE0-41EC-A52B-E957FB158C54}"/>
              </a:ext>
            </a:extLst>
          </p:cNvPr>
          <p:cNvSpPr>
            <a:spLocks xmlns:a="http://schemas.openxmlformats.org/drawingml/2006/main" noGrp="1"/>
          </p:cNvSpPr>
          <p:nvPr/>
        </p:nvSpPr>
        <p:spPr>
          <a:xfrm xmlns:a="http://schemas.openxmlformats.org/drawingml/2006/main">
            <a:off x="6477000" y="2609850"/>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Required = false blocks refund</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Required = true AND approved = true permits the worker</a:t>
            </a:r>
          </a:p>
        </p:txBody>
      </p:sp>
      <p:sp>
        <p:nvSpPr>
          <p:cNvPr id="7" name="">
            <a:extLst xmlns:a="http://schemas.openxmlformats.org/drawingml/2006/main">
              <a:ext uri="{FF2B5EF4-FFF2-40B4-BE49-F238E27FC236}">
                <a16:creationId xmlns:a16="http://schemas.microsoft.com/office/drawing/2014/main" id="{586DD2BF-75BA-4536-9E0A-E0D25EC7A8F2}"/>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Historical screenshot shows hospital funding only. Payment and refund paths need their own instance evidence.</a:t>
            </a:r>
          </a:p>
        </p:txBody>
      </p:sp>
    </p:spTree>
    <p:extLst>
      <p:ext uri="{BB962C8B-B14F-4D97-AF65-F5344CB8AC3E}">
        <p14:creationId xmlns:p14="http://schemas.microsoft.com/office/powerpoint/2010/main" val="1003670612"/>
      </p:ext>
    </p:extLst>
  </p:cSld>
</p:sld>
</file>

<file path=ppt/slides/slide21.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1D0C7F-C0E1-41D8-B25D-77A9F93E6952}"/>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Enquiry and letter diagram: two starts</a:t>
            </a:r>
          </a:p>
        </p:txBody>
      </p:sp>
      <p:sp>
        <p:nvSpPr>
          <p:cNvPr id="2" name="">
            <a:extLst xmlns:a="http://schemas.openxmlformats.org/drawingml/2006/main">
              <a:ext uri="{FF2B5EF4-FFF2-40B4-BE49-F238E27FC236}">
                <a16:creationId xmlns:a16="http://schemas.microsoft.com/office/drawing/2014/main" id="{032FF8C7-B428-4015-B664-500019321315}"/>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492183b84764e5a"/>
          <a:stretch xmlns:a="http://schemas.openxmlformats.org/drawingml/2006/main"/>
        </p:blipFill>
        <p:spPr>
          <a:xfrm xmlns:a="http://schemas.openxmlformats.org/drawingml/2006/main">
            <a:off x="571500" y="1692667"/>
            <a:ext cx="11049000" cy="378699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106CCD4-B477-44D7-98AA-689586EE4399}"/>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Left: enquiry classification. Right: clinic-letter preparation and initial timing choice.</a:t>
            </a:r>
          </a:p>
        </p:txBody>
      </p:sp>
    </p:spTree>
    <p:extLst>
      <p:ext uri="{BB962C8B-B14F-4D97-AF65-F5344CB8AC3E}">
        <p14:creationId xmlns:p14="http://schemas.microsoft.com/office/powerpoint/2010/main" val="527868713"/>
      </p:ext>
    </p:extLst>
  </p:cSld>
</p:sld>
</file>

<file path=ppt/slides/slide22.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9FB200-1AD0-4BCD-9FDA-C68911EF9B25}"/>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Clinic letter diagram: reminder and escalation</a:t>
            </a:r>
          </a:p>
        </p:txBody>
      </p:sp>
      <p:sp>
        <p:nvSpPr>
          <p:cNvPr id="2" name="">
            <a:extLst xmlns:a="http://schemas.openxmlformats.org/drawingml/2006/main">
              <a:ext uri="{FF2B5EF4-FFF2-40B4-BE49-F238E27FC236}">
                <a16:creationId xmlns:a16="http://schemas.microsoft.com/office/drawing/2014/main" id="{7D922611-BE88-4121-9A29-9C6D489D714F}"/>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22</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b204f53fffa40c8"/>
          <a:stretch xmlns:a="http://schemas.openxmlformats.org/drawingml/2006/main"/>
        </p:blipFill>
        <p:spPr>
          <a:xfrm xmlns:a="http://schemas.openxmlformats.org/drawingml/2006/main">
            <a:off x="571500" y="1642116"/>
            <a:ext cx="11049000" cy="388809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6063288-9946-42C9-907E-2A57E2627C23}"/>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The P7D timer waits seven days. A human-entered age band selects the reminder level.</a:t>
            </a:r>
          </a:p>
        </p:txBody>
      </p:sp>
    </p:spTree>
    <p:extLst>
      <p:ext uri="{BB962C8B-B14F-4D97-AF65-F5344CB8AC3E}">
        <p14:creationId xmlns:p14="http://schemas.microsoft.com/office/powerpoint/2010/main" val="445677692"/>
      </p:ext>
    </p:extLst>
  </p:cSld>
</p:sld>
</file>

<file path=ppt/slides/slide23.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6E8C34-E011-4056-B4C0-897903AF3ABC}"/>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Clinic letter diagram: approval and distribution</a:t>
            </a:r>
          </a:p>
        </p:txBody>
      </p:sp>
      <p:sp>
        <p:nvSpPr>
          <p:cNvPr id="2" name="">
            <a:extLst xmlns:a="http://schemas.openxmlformats.org/drawingml/2006/main">
              <a:ext uri="{FF2B5EF4-FFF2-40B4-BE49-F238E27FC236}">
                <a16:creationId xmlns:a16="http://schemas.microsoft.com/office/drawing/2014/main" id="{B2612BF7-7CCF-4894-B135-572423667D7C}"/>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8a518faa2494794"/>
          <a:stretch xmlns:a="http://schemas.openxmlformats.org/drawingml/2006/main"/>
        </p:blipFill>
        <p:spPr>
          <a:xfrm xmlns:a="http://schemas.openxmlformats.org/drawingml/2006/main">
            <a:off x="571500" y="1642116"/>
            <a:ext cx="11049000" cy="388809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50AA829-FF4D-4F5A-930B-6AC5C128A0A1}"/>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2676D"/>
                </a:solidFill>
                <a:latin typeface="Arial"/>
                <a:ea typeface="Arial"/>
                <a:cs typeface="Arial"/>
              </a:defRPr>
            </a:pPr>
            <a:r>
              <a:rPr sz="1500" b="0">
                <a:solidFill>
                  <a:srgbClr val="52676D"/>
                </a:solidFill>
                <a:latin typeface="Arial"/>
                <a:ea typeface="Arial"/>
                <a:cs typeface="Arial"/>
              </a:rPr>
              <a:t>Approval and recipient checking precede distribution; consultation-based SLA remains unproven.</a:t>
            </a:r>
          </a:p>
        </p:txBody>
      </p:sp>
    </p:spTree>
    <p:extLst>
      <p:ext uri="{BB962C8B-B14F-4D97-AF65-F5344CB8AC3E}">
        <p14:creationId xmlns:p14="http://schemas.microsoft.com/office/powerpoint/2010/main" val="1974654943"/>
      </p:ext>
    </p:extLst>
  </p:cSld>
</p:sld>
</file>

<file path=ppt/slides/slide24.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656112-CAD4-430B-A1D7-F9EF8C5102ED}"/>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Clinic letter: approval and delay demonstrations</a:t>
            </a:r>
          </a:p>
        </p:txBody>
      </p:sp>
      <p:sp>
        <p:nvSpPr>
          <p:cNvPr id="2" name="">
            <a:extLst xmlns:a="http://schemas.openxmlformats.org/drawingml/2006/main">
              <a:ext uri="{FF2B5EF4-FFF2-40B4-BE49-F238E27FC236}">
                <a16:creationId xmlns:a16="http://schemas.microsoft.com/office/drawing/2014/main" id="{054BBB4F-DAD4-4EC9-BDE9-C2D872234CD0}"/>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24</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095625"/>
                <a:gridCol w="4191000"/>
                <a:gridCol w="3762375"/>
              </a:tblGrid>
              <a:tr h="495300">
                <a:tc>
                  <a:txBody>
                    <a:bodyPr/>
                    <a:lstStyle/>
                    <a:p>
                      <a:r>
                        <a:rPr sz="1650" b="1">
                          <a:solidFill>
                            <a:srgbClr val="FFFFFF"/>
                          </a:solidFill>
                          <a:latin typeface="Arial"/>
                          <a:ea typeface="Arial"/>
                          <a:cs typeface="Arial"/>
                        </a:rPr>
                        <a:t>Path to show</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Input / observation</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Expected result</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Unapproved letter</a:t>
                      </a:r>
                    </a:p>
                  </a:txBody>
                  <a:tcPr marL="123825" marR="123825" marT="104775" marB="76200" anchor="t">
                    <a:solidFill>
                      <a:srgbClr val="FFFFFF"/>
                    </a:solidFill>
                  </a:tcPr>
                </a:tc>
                <a:tc>
                  <a:txBody>
                    <a:bodyPr/>
                    <a:lstStyle/>
                    <a:p>
                      <a:r>
                        <a:rPr sz="1650">
                          <a:solidFill>
                            <a:srgbClr val="173E48"/>
                          </a:solidFill>
                          <a:latin typeface="Arial"/>
                          <a:ea typeface="Arial"/>
                          <a:cs typeface="Arial"/>
                        </a:rPr>
                        <a:t>clinicLetterApproved = false</a:t>
                      </a:r>
                    </a:p>
                  </a:txBody>
                  <a:tcPr marL="123825" marR="123825" marT="104775" marB="76200" anchor="t">
                    <a:solidFill>
                      <a:srgbClr val="FFFFFF"/>
                    </a:solidFill>
                  </a:tcPr>
                </a:tc>
                <a:tc>
                  <a:txBody>
                    <a:bodyPr/>
                    <a:lstStyle/>
                    <a:p>
                      <a:r>
                        <a:rPr sz="1650">
                          <a:solidFill>
                            <a:srgbClr val="173E48"/>
                          </a:solidFill>
                          <a:latin typeface="Arial"/>
                          <a:ea typeface="Arial"/>
                          <a:cs typeface="Arial"/>
                        </a:rPr>
                        <a:t>No distribution</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Approved letter</a:t>
                      </a:r>
                    </a:p>
                  </a:txBody>
                  <a:tcPr marL="123825" marR="123825" marT="104775" marB="76200" anchor="t">
                    <a:solidFill>
                      <a:srgbClr val="EDF3F3"/>
                    </a:solidFill>
                  </a:tcPr>
                </a:tc>
                <a:tc>
                  <a:txBody>
                    <a:bodyPr/>
                    <a:lstStyle/>
                    <a:p>
                      <a:r>
                        <a:rPr sz="1650">
                          <a:solidFill>
                            <a:srgbClr val="173E48"/>
                          </a:solidFill>
                          <a:latin typeface="Arial"/>
                          <a:ea typeface="Arial"/>
                          <a:cs typeface="Arial"/>
                        </a:rPr>
                        <a:t>Approval true; recipients checked</a:t>
                      </a:r>
                    </a:p>
                  </a:txBody>
                  <a:tcPr marL="123825" marR="123825" marT="104775" marB="76200" anchor="t">
                    <a:solidFill>
                      <a:srgbClr val="EDF3F3"/>
                    </a:solidFill>
                  </a:tcPr>
                </a:tc>
                <a:tc>
                  <a:txBody>
                    <a:bodyPr/>
                    <a:lstStyle/>
                    <a:p>
                      <a:r>
                        <a:rPr sz="1650">
                          <a:solidFill>
                            <a:srgbClr val="173E48"/>
                          </a:solidFill>
                          <a:latin typeface="Arial"/>
                          <a:ea typeface="Arial"/>
                          <a:cs typeface="Arial"/>
                        </a:rPr>
                        <a:t>Send task completes</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Delayed letter</a:t>
                      </a:r>
                    </a:p>
                  </a:txBody>
                  <a:tcPr marL="123825" marR="123825" marT="104775" marB="76200" anchor="t">
                    <a:solidFill>
                      <a:srgbClr val="FFFFFF"/>
                    </a:solidFill>
                  </a:tcPr>
                </a:tc>
                <a:tc>
                  <a:txBody>
                    <a:bodyPr/>
                    <a:lstStyle/>
                    <a:p>
                      <a:r>
                        <a:rPr sz="1650">
                          <a:solidFill>
                            <a:srgbClr val="173E48"/>
                          </a:solidFill>
                          <a:latin typeface="Arial"/>
                          <a:ea typeface="Arial"/>
                          <a:cs typeface="Arial"/>
                        </a:rPr>
                        <a:t>Manual age band + P7D wait</a:t>
                      </a:r>
                    </a:p>
                  </a:txBody>
                  <a:tcPr marL="123825" marR="123825" marT="104775" marB="76200" anchor="t">
                    <a:solidFill>
                      <a:srgbClr val="FFFFFF"/>
                    </a:solidFill>
                  </a:tcPr>
                </a:tc>
                <a:tc>
                  <a:txBody>
                    <a:bodyPr/>
                    <a:lstStyle/>
                    <a:p>
                      <a:r>
                        <a:rPr sz="1650">
                          <a:solidFill>
                            <a:srgbClr val="173E48"/>
                          </a:solidFill>
                          <a:latin typeface="Arial"/>
                          <a:ea typeface="Arial"/>
                          <a:cs typeface="Arial"/>
                        </a:rPr>
                        <a:t>Reminder or escalation</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Urgent clinical enquiry</a:t>
                      </a:r>
                    </a:p>
                  </a:txBody>
                  <a:tcPr marL="123825" marR="123825" marT="104775" marB="76200" anchor="t">
                    <a:solidFill>
                      <a:srgbClr val="EDF3F3"/>
                    </a:solidFill>
                  </a:tcPr>
                </a:tc>
                <a:tc>
                  <a:txBody>
                    <a:bodyPr/>
                    <a:lstStyle/>
                    <a:p>
                      <a:r>
                        <a:rPr sz="1650">
                          <a:solidFill>
                            <a:srgbClr val="173E48"/>
                          </a:solidFill>
                          <a:latin typeface="Arial"/>
                          <a:ea typeface="Arial"/>
                          <a:cs typeface="Arial"/>
                        </a:rPr>
                        <a:t>urgentClinicalConcern = true</a:t>
                      </a:r>
                    </a:p>
                  </a:txBody>
                  <a:tcPr marL="123825" marR="123825" marT="104775" marB="76200" anchor="t">
                    <a:solidFill>
                      <a:srgbClr val="EDF3F3"/>
                    </a:solidFill>
                  </a:tcPr>
                </a:tc>
                <a:tc>
                  <a:txBody>
                    <a:bodyPr/>
                    <a:lstStyle/>
                    <a:p>
                      <a:r>
                        <a:rPr sz="1650">
                          <a:solidFill>
                            <a:srgbClr val="173E48"/>
                          </a:solidFill>
                          <a:latin typeface="Arial"/>
                          <a:ea typeface="Arial"/>
                          <a:cs typeface="Arial"/>
                        </a:rPr>
                        <a:t>Clinical escalation</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89BB042E-6F30-4EE2-9885-001789DBB81F}"/>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The completed historical screenshot covers the approved letter path only.</a:t>
            </a:r>
          </a:p>
        </p:txBody>
      </p:sp>
    </p:spTree>
    <p:extLst>
      <p:ext uri="{BB962C8B-B14F-4D97-AF65-F5344CB8AC3E}">
        <p14:creationId xmlns:p14="http://schemas.microsoft.com/office/powerpoint/2010/main" val="13006303"/>
      </p:ext>
    </p:extLst>
  </p:cSld>
</p:sld>
</file>

<file path=ppt/slides/slide25.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79D451-CBC1-4FE8-BFED-D41A4BD8AC2B}"/>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End-to-end demonstration sequence</a:t>
            </a:r>
          </a:p>
        </p:txBody>
      </p:sp>
      <p:sp>
        <p:nvSpPr>
          <p:cNvPr id="2" name="">
            <a:extLst xmlns:a="http://schemas.openxmlformats.org/drawingml/2006/main">
              <a:ext uri="{FF2B5EF4-FFF2-40B4-BE49-F238E27FC236}">
                <a16:creationId xmlns:a16="http://schemas.microsoft.com/office/drawing/2014/main" id="{75A0358A-F158-4C85-BDD3-FD86F1ECABDD}"/>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JIA WEI    /    25</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1905000"/>
                <a:gridCol w="4333875"/>
                <a:gridCol w="4810125"/>
              </a:tblGrid>
              <a:tr h="495300">
                <a:tc>
                  <a:txBody>
                    <a:bodyPr/>
                    <a:lstStyle/>
                    <a:p>
                      <a:r>
                        <a:rPr sz="1650" b="1">
                          <a:solidFill>
                            <a:srgbClr val="FFFFFF"/>
                          </a:solidFill>
                          <a:latin typeface="Arial"/>
                          <a:ea typeface="Arial"/>
                          <a:cs typeface="Arial"/>
                        </a:rPr>
                        <a:t>Speaker</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Set or complete</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What to show in Camunda</a:t>
                      </a:r>
                    </a:p>
                  </a:txBody>
                  <a:tcPr marL="123825" marR="123825" marT="104775" marB="76200" anchor="t">
                    <a:solidFill>
                      <a:srgbClr val="173E48"/>
                    </a:solidFill>
                  </a:tcPr>
                </a:tc>
              </a:tr>
              <a:tr h="643890">
                <a:tc>
                  <a:txBody>
                    <a:bodyPr/>
                    <a:lstStyle/>
                    <a:p>
                      <a:r>
                        <a:rPr sz="1650">
                          <a:solidFill>
                            <a:srgbClr val="173E48"/>
                          </a:solidFill>
                          <a:latin typeface="Arial"/>
                          <a:ea typeface="Arial"/>
                          <a:cs typeface="Arial"/>
                        </a:rPr>
                        <a:t>Deng</a:t>
                      </a:r>
                    </a:p>
                  </a:txBody>
                  <a:tcPr marL="123825" marR="123825" marT="104775" marB="76200" anchor="t">
                    <a:solidFill>
                      <a:srgbClr val="FFFFFF"/>
                    </a:solidFill>
                  </a:tcPr>
                </a:tc>
                <a:tc>
                  <a:txBody>
                    <a:bodyPr/>
                    <a:lstStyle/>
                    <a:p>
                      <a:r>
                        <a:rPr sz="1650">
                          <a:solidFill>
                            <a:srgbClr val="173E48"/>
                          </a:solidFill>
                          <a:latin typeface="Arial"/>
                          <a:ea typeface="Arial"/>
                          <a:cs typeface="Arial"/>
                        </a:rPr>
                        <a:t>Complete intake; ACCEPT</a:t>
                      </a:r>
                    </a:p>
                  </a:txBody>
                  <a:tcPr marL="123825" marR="123825" marT="104775" marB="76200" anchor="t">
                    <a:solidFill>
                      <a:srgbClr val="FFFFFF"/>
                    </a:solidFill>
                  </a:tcPr>
                </a:tc>
                <a:tc>
                  <a:txBody>
                    <a:bodyPr/>
                    <a:lstStyle/>
                    <a:p>
                      <a:r>
                        <a:rPr sz="1650">
                          <a:solidFill>
                            <a:srgbClr val="173E48"/>
                          </a:solidFill>
                          <a:latin typeface="Arial"/>
                          <a:ea typeface="Arial"/>
                          <a:cs typeface="Arial"/>
                        </a:rPr>
                        <a:t>Accepted handover</a:t>
                      </a:r>
                    </a:p>
                  </a:txBody>
                  <a:tcPr marL="123825" marR="123825" marT="104775" marB="76200" anchor="t">
                    <a:solidFill>
                      <a:srgbClr val="FFFFFF"/>
                    </a:solidFill>
                  </a:tcPr>
                </a:tc>
              </a:tr>
              <a:tr h="643890">
                <a:tc>
                  <a:txBody>
                    <a:bodyPr/>
                    <a:lstStyle/>
                    <a:p>
                      <a:r>
                        <a:rPr sz="1650">
                          <a:solidFill>
                            <a:srgbClr val="173E48"/>
                          </a:solidFill>
                          <a:latin typeface="Arial"/>
                          <a:ea typeface="Arial"/>
                          <a:cs typeface="Arial"/>
                        </a:rPr>
                        <a:t>Wu</a:t>
                      </a:r>
                    </a:p>
                  </a:txBody>
                  <a:tcPr marL="123825" marR="123825" marT="104775" marB="76200" anchor="t">
                    <a:solidFill>
                      <a:srgbClr val="EDF3F3"/>
                    </a:solidFill>
                  </a:tcPr>
                </a:tc>
                <a:tc>
                  <a:txBody>
                    <a:bodyPr/>
                    <a:lstStyle/>
                    <a:p>
                      <a:r>
                        <a:rPr sz="1650">
                          <a:solidFill>
                            <a:srgbClr val="173E48"/>
                          </a:solidFill>
                          <a:latin typeface="Arial"/>
                          <a:ea typeface="Arial"/>
                          <a:cs typeface="Arial"/>
                        </a:rPr>
                        <a:t>Available slot; choose date</a:t>
                      </a:r>
                    </a:p>
                  </a:txBody>
                  <a:tcPr marL="123825" marR="123825" marT="104775" marB="76200" anchor="t">
                    <a:solidFill>
                      <a:srgbClr val="EDF3F3"/>
                    </a:solidFill>
                  </a:tcPr>
                </a:tc>
                <a:tc>
                  <a:txBody>
                    <a:bodyPr/>
                    <a:lstStyle/>
                    <a:p>
                      <a:r>
                        <a:rPr sz="1650">
                          <a:solidFill>
                            <a:srgbClr val="173E48"/>
                          </a:solidFill>
                          <a:latin typeface="Arial"/>
                          <a:ea typeface="Arial"/>
                          <a:cs typeface="Arial"/>
                        </a:rPr>
                        <a:t>Letter and phone branch</a:t>
                      </a:r>
                    </a:p>
                  </a:txBody>
                  <a:tcPr marL="123825" marR="123825" marT="104775" marB="76200" anchor="t">
                    <a:solidFill>
                      <a:srgbClr val="EDF3F3"/>
                    </a:solidFill>
                  </a:tcPr>
                </a:tc>
              </a:tr>
              <a:tr h="643890">
                <a:tc>
                  <a:txBody>
                    <a:bodyPr/>
                    <a:lstStyle/>
                    <a:p>
                      <a:r>
                        <a:rPr sz="1650">
                          <a:solidFill>
                            <a:srgbClr val="173E48"/>
                          </a:solidFill>
                          <a:latin typeface="Arial"/>
                          <a:ea typeface="Arial"/>
                          <a:cs typeface="Arial"/>
                        </a:rPr>
                        <a:t>Tong</a:t>
                      </a:r>
                    </a:p>
                  </a:txBody>
                  <a:tcPr marL="123825" marR="123825" marT="104775" marB="76200" anchor="t">
                    <a:solidFill>
                      <a:srgbClr val="FFFFFF"/>
                    </a:solidFill>
                  </a:tcPr>
                </a:tc>
                <a:tc>
                  <a:txBody>
                    <a:bodyPr/>
                    <a:lstStyle/>
                    <a:p>
                      <a:r>
                        <a:rPr sz="1650">
                          <a:solidFill>
                            <a:srgbClr val="173E48"/>
                          </a:solidFill>
                          <a:latin typeface="Arial"/>
                          <a:ea typeface="Arial"/>
                          <a:cs typeface="Arial"/>
                        </a:rPr>
                        <a:t>Hospital funding or payment result</a:t>
                      </a:r>
                    </a:p>
                  </a:txBody>
                  <a:tcPr marL="123825" marR="123825" marT="104775" marB="76200" anchor="t">
                    <a:solidFill>
                      <a:srgbClr val="FFFFFF"/>
                    </a:solidFill>
                  </a:tcPr>
                </a:tc>
                <a:tc>
                  <a:txBody>
                    <a:bodyPr/>
                    <a:lstStyle/>
                    <a:p>
                      <a:r>
                        <a:rPr sz="1650">
                          <a:solidFill>
                            <a:srgbClr val="173E48"/>
                          </a:solidFill>
                          <a:latin typeface="Arial"/>
                          <a:ea typeface="Arial"/>
                          <a:cs typeface="Arial"/>
                        </a:rPr>
                        <a:t>financialClearance</a:t>
                      </a:r>
                    </a:p>
                  </a:txBody>
                  <a:tcPr marL="123825" marR="123825" marT="104775" marB="76200" anchor="t">
                    <a:solidFill>
                      <a:srgbClr val="FFFFFF"/>
                    </a:solidFill>
                  </a:tcPr>
                </a:tc>
              </a:tr>
              <a:tr h="643890">
                <a:tc>
                  <a:txBody>
                    <a:bodyPr/>
                    <a:lstStyle/>
                    <a:p>
                      <a:r>
                        <a:rPr sz="1650">
                          <a:solidFill>
                            <a:srgbClr val="173E48"/>
                          </a:solidFill>
                          <a:latin typeface="Arial"/>
                          <a:ea typeface="Arial"/>
                          <a:cs typeface="Arial"/>
                        </a:rPr>
                        <a:t>Lin</a:t>
                      </a:r>
                    </a:p>
                  </a:txBody>
                  <a:tcPr marL="123825" marR="123825" marT="104775" marB="76200" anchor="t">
                    <a:solidFill>
                      <a:srgbClr val="EDF3F3"/>
                    </a:solidFill>
                  </a:tcPr>
                </a:tc>
                <a:tc>
                  <a:txBody>
                    <a:bodyPr/>
                    <a:lstStyle/>
                    <a:p>
                      <a:r>
                        <a:rPr sz="1650">
                          <a:solidFill>
                            <a:srgbClr val="173E48"/>
                          </a:solidFill>
                          <a:latin typeface="Arial"/>
                          <a:ea typeface="Arial"/>
                          <a:cs typeface="Arial"/>
                        </a:rPr>
                        <a:t>Consent, authorisation, resources</a:t>
                      </a:r>
                    </a:p>
                  </a:txBody>
                  <a:tcPr marL="123825" marR="123825" marT="104775" marB="76200" anchor="t">
                    <a:solidFill>
                      <a:srgbClr val="EDF3F3"/>
                    </a:solidFill>
                  </a:tcPr>
                </a:tc>
                <a:tc>
                  <a:txBody>
                    <a:bodyPr/>
                    <a:lstStyle/>
                    <a:p>
                      <a:r>
                        <a:rPr sz="1650">
                          <a:solidFill>
                            <a:srgbClr val="173E48"/>
                          </a:solidFill>
                          <a:latin typeface="Arial"/>
                          <a:ea typeface="Arial"/>
                          <a:cs typeface="Arial"/>
                        </a:rPr>
                        <a:t>Treatment result</a:t>
                      </a:r>
                    </a:p>
                  </a:txBody>
                  <a:tcPr marL="123825" marR="123825" marT="104775" marB="76200" anchor="t">
                    <a:solidFill>
                      <a:srgbClr val="EDF3F3"/>
                    </a:solidFill>
                  </a:tcPr>
                </a:tc>
              </a:tr>
              <a:tr h="643890">
                <a:tc>
                  <a:txBody>
                    <a:bodyPr/>
                    <a:lstStyle/>
                    <a:p>
                      <a:r>
                        <a:rPr sz="1650">
                          <a:solidFill>
                            <a:srgbClr val="173E48"/>
                          </a:solidFill>
                          <a:latin typeface="Arial"/>
                          <a:ea typeface="Arial"/>
                          <a:cs typeface="Arial"/>
                        </a:rPr>
                        <a:t>Xiao</a:t>
                      </a:r>
                    </a:p>
                  </a:txBody>
                  <a:tcPr marL="123825" marR="123825" marT="104775" marB="76200" anchor="t">
                    <a:solidFill>
                      <a:srgbClr val="FFFFFF"/>
                    </a:solidFill>
                  </a:tcPr>
                </a:tc>
                <a:tc>
                  <a:txBody>
                    <a:bodyPr/>
                    <a:lstStyle/>
                    <a:p>
                      <a:r>
                        <a:rPr sz="1650">
                          <a:solidFill>
                            <a:srgbClr val="173E48"/>
                          </a:solidFill>
                          <a:latin typeface="Arial"/>
                          <a:ea typeface="Arial"/>
                          <a:cs typeface="Arial"/>
                        </a:rPr>
                        <a:t>Approve letter; check recipients</a:t>
                      </a:r>
                    </a:p>
                  </a:txBody>
                  <a:tcPr marL="123825" marR="123825" marT="104775" marB="76200" anchor="t">
                    <a:solidFill>
                      <a:srgbClr val="FFFFFF"/>
                    </a:solidFill>
                  </a:tcPr>
                </a:tc>
                <a:tc>
                  <a:txBody>
                    <a:bodyPr/>
                    <a:lstStyle/>
                    <a:p>
                      <a:r>
                        <a:rPr sz="1650">
                          <a:solidFill>
                            <a:srgbClr val="173E48"/>
                          </a:solidFill>
                          <a:latin typeface="Arial"/>
                          <a:ea typeface="Arial"/>
                          <a:cs typeface="Arial"/>
                        </a:rPr>
                        <a:t>Letter distribution</a:t>
                      </a:r>
                    </a:p>
                  </a:txBody>
                  <a:tcPr marL="123825" marR="123825" marT="104775" marB="76200" anchor="t">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3116D47-D7CA-40A0-A9C9-EA400DB1863E}"/>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Run one normal journey plus one chosen exception. Keep version, instance key and final status.</a:t>
            </a:r>
          </a:p>
        </p:txBody>
      </p:sp>
    </p:spTree>
    <p:extLst>
      <p:ext uri="{BB962C8B-B14F-4D97-AF65-F5344CB8AC3E}">
        <p14:creationId xmlns:p14="http://schemas.microsoft.com/office/powerpoint/2010/main" val="261985525"/>
      </p:ext>
    </p:extLst>
  </p:cSld>
</p:sld>
</file>

<file path=ppt/slides/slide26.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10F4B4-ACDE-48BF-B402-98A94A3656FA}"/>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Feedback response: decision, change, outcome</a:t>
            </a:r>
          </a:p>
        </p:txBody>
      </p:sp>
      <p:sp>
        <p:nvSpPr>
          <p:cNvPr id="2" name="">
            <a:extLst xmlns:a="http://schemas.openxmlformats.org/drawingml/2006/main">
              <a:ext uri="{FF2B5EF4-FFF2-40B4-BE49-F238E27FC236}">
                <a16:creationId xmlns:a16="http://schemas.microsoft.com/office/drawing/2014/main" id="{7D0835FA-BBC8-487C-9929-7BFF50C64301}"/>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26</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238500"/>
                <a:gridCol w="4524375"/>
                <a:gridCol w="3286125"/>
              </a:tblGrid>
              <a:tr h="495300">
                <a:tc>
                  <a:txBody>
                    <a:bodyPr/>
                    <a:lstStyle/>
                    <a:p>
                      <a:r>
                        <a:rPr sz="1650" b="1">
                          <a:solidFill>
                            <a:srgbClr val="FFFFFF"/>
                          </a:solidFill>
                          <a:latin typeface="Arial"/>
                          <a:ea typeface="Arial"/>
                          <a:cs typeface="Arial"/>
                        </a:rPr>
                        <a:t>Problem observed</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Decision and implemented change</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Outcome still to confirm</a:t>
                      </a:r>
                    </a:p>
                  </a:txBody>
                  <a:tcPr marL="123825" marR="123825" marT="104775" marB="76200" anchor="t">
                    <a:solidFill>
                      <a:srgbClr val="173E48"/>
                    </a:solidFill>
                  </a:tcPr>
                </a:tc>
              </a:tr>
              <a:tr h="1073150">
                <a:tc>
                  <a:txBody>
                    <a:bodyPr/>
                    <a:lstStyle/>
                    <a:p>
                      <a:r>
                        <a:rPr sz="1650">
                          <a:solidFill>
                            <a:srgbClr val="173E48"/>
                          </a:solidFill>
                          <a:latin typeface="Arial"/>
                          <a:ea typeface="Arial"/>
                          <a:cs typeface="Arial"/>
                        </a:rPr>
                        <a:t>Treatment could begin beside finance</a:t>
                      </a:r>
                    </a:p>
                  </a:txBody>
                  <a:tcPr marL="123825" marR="123825" marT="104775" marB="76200" anchor="t">
                    <a:solidFill>
                      <a:srgbClr val="FFFFFF"/>
                    </a:solidFill>
                  </a:tcPr>
                </a:tc>
                <a:tc>
                  <a:txBody>
                    <a:bodyPr/>
                    <a:lstStyle/>
                    <a:p>
                      <a:r>
                        <a:rPr sz="1650">
                          <a:solidFill>
                            <a:srgbClr val="173E48"/>
                          </a:solidFill>
                          <a:latin typeface="Arial"/>
                          <a:ea typeface="Arial"/>
                          <a:cs typeface="Arial"/>
                        </a:rPr>
                        <a:t>Finance clearance before treatment</a:t>
                      </a:r>
                    </a:p>
                  </a:txBody>
                  <a:tcPr marL="123825" marR="123825" marT="104775" marB="76200" anchor="t">
                    <a:solidFill>
                      <a:srgbClr val="FFFFFF"/>
                    </a:solidFill>
                  </a:tcPr>
                </a:tc>
                <a:tc>
                  <a:txBody>
                    <a:bodyPr/>
                    <a:lstStyle/>
                    <a:p>
                      <a:r>
                        <a:rPr sz="1650">
                          <a:solidFill>
                            <a:srgbClr val="173E48"/>
                          </a:solidFill>
                          <a:latin typeface="Arial"/>
                          <a:ea typeface="Arial"/>
                          <a:cs typeface="Arial"/>
                        </a:rPr>
                        <a:t>Current master instance</a:t>
                      </a:r>
                    </a:p>
                  </a:txBody>
                  <a:tcPr marL="123825" marR="123825" marT="104775" marB="76200" anchor="t">
                    <a:solidFill>
                      <a:srgbClr val="FFFFFF"/>
                    </a:solidFill>
                  </a:tcPr>
                </a:tc>
              </a:tr>
              <a:tr h="1073150">
                <a:tc>
                  <a:txBody>
                    <a:bodyPr/>
                    <a:lstStyle/>
                    <a:p>
                      <a:r>
                        <a:rPr sz="1650">
                          <a:solidFill>
                            <a:srgbClr val="173E48"/>
                          </a:solidFill>
                          <a:latin typeface="Arial"/>
                          <a:ea typeface="Arial"/>
                          <a:cs typeface="Arial"/>
                        </a:rPr>
                        <a:t>Retry without editable data</a:t>
                      </a:r>
                    </a:p>
                  </a:txBody>
                  <a:tcPr marL="123825" marR="123825" marT="104775" marB="76200" anchor="t">
                    <a:solidFill>
                      <a:srgbClr val="EDF3F3"/>
                    </a:solidFill>
                  </a:tcPr>
                </a:tc>
                <a:tc>
                  <a:txBody>
                    <a:bodyPr/>
                    <a:lstStyle/>
                    <a:p>
                      <a:r>
                        <a:rPr sz="1650">
                          <a:solidFill>
                            <a:srgbClr val="173E48"/>
                          </a:solidFill>
                          <a:latin typeface="Arial"/>
                          <a:ea typeface="Arial"/>
                          <a:cs typeface="Arial"/>
                        </a:rPr>
                        <a:t>Reopen the right form on retry</a:t>
                      </a:r>
                    </a:p>
                  </a:txBody>
                  <a:tcPr marL="123825" marR="123825" marT="104775" marB="76200" anchor="t">
                    <a:solidFill>
                      <a:srgbClr val="EDF3F3"/>
                    </a:solidFill>
                  </a:tcPr>
                </a:tc>
                <a:tc>
                  <a:txBody>
                    <a:bodyPr/>
                    <a:lstStyle/>
                    <a:p>
                      <a:r>
                        <a:rPr sz="1650">
                          <a:solidFill>
                            <a:srgbClr val="173E48"/>
                          </a:solidFill>
                          <a:latin typeface="Arial"/>
                          <a:ea typeface="Arial"/>
                          <a:cs typeface="Arial"/>
                        </a:rPr>
                        <a:t>No-slot, resource and payment reruns</a:t>
                      </a:r>
                    </a:p>
                  </a:txBody>
                  <a:tcPr marL="123825" marR="123825" marT="104775" marB="76200" anchor="t">
                    <a:solidFill>
                      <a:srgbClr val="EDF3F3"/>
                    </a:solidFill>
                  </a:tcPr>
                </a:tc>
              </a:tr>
              <a:tr h="1073150">
                <a:tc>
                  <a:txBody>
                    <a:bodyPr/>
                    <a:lstStyle/>
                    <a:p>
                      <a:r>
                        <a:rPr sz="1650">
                          <a:solidFill>
                            <a:srgbClr val="173E48"/>
                          </a:solidFill>
                          <a:latin typeface="Arial"/>
                          <a:ea typeface="Arial"/>
                          <a:cs typeface="Arial"/>
                        </a:rPr>
                        <a:t>Approval boundary unclear</a:t>
                      </a:r>
                    </a:p>
                  </a:txBody>
                  <a:tcPr marL="123825" marR="123825" marT="104775" marB="76200" anchor="t">
                    <a:solidFill>
                      <a:srgbClr val="FFFFFF"/>
                    </a:solidFill>
                  </a:tcPr>
                </a:tc>
                <a:tc>
                  <a:txBody>
                    <a:bodyPr/>
                    <a:lstStyle/>
                    <a:p>
                      <a:r>
                        <a:rPr sz="1650">
                          <a:solidFill>
                            <a:srgbClr val="173E48"/>
                          </a:solidFill>
                          <a:latin typeface="Arial"/>
                          <a:ea typeface="Arial"/>
                          <a:cs typeface="Arial"/>
                        </a:rPr>
                        <a:t>Separate clinic approval; two-part refund gate</a:t>
                      </a:r>
                    </a:p>
                  </a:txBody>
                  <a:tcPr marL="123825" marR="123825" marT="104775" marB="76200" anchor="t">
                    <a:solidFill>
                      <a:srgbClr val="FFFFFF"/>
                    </a:solidFill>
                  </a:tcPr>
                </a:tc>
                <a:tc>
                  <a:txBody>
                    <a:bodyPr/>
                    <a:lstStyle/>
                    <a:p>
                      <a:r>
                        <a:rPr sz="1650">
                          <a:solidFill>
                            <a:srgbClr val="173E48"/>
                          </a:solidFill>
                          <a:latin typeface="Arial"/>
                          <a:ea typeface="Arial"/>
                          <a:cs typeface="Arial"/>
                        </a:rPr>
                        <a:t>Negative branches in engine</a:t>
                      </a:r>
                    </a:p>
                  </a:txBody>
                  <a:tcPr marL="123825" marR="123825" marT="104775" marB="76200" anchor="t">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3A3BB03-4A42-4539-B552-F0839975BB5E}"/>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A86419"/>
                </a:solidFill>
                <a:latin typeface="Arial"/>
                <a:ea typeface="Arial"/>
                <a:cs typeface="Arial"/>
              </a:defRPr>
            </a:pPr>
            <a:r>
              <a:rPr sz="1425" b="0">
                <a:solidFill>
                  <a:srgbClr val="A86419"/>
                </a:solidFill>
                <a:latin typeface="Arial"/>
                <a:ea typeface="Arial"/>
                <a:cs typeface="Arial"/>
              </a:rPr>
              <a:t>No completed tutor feedback record was supplied. This table presents verified internal changes.</a:t>
            </a:r>
          </a:p>
        </p:txBody>
      </p:sp>
    </p:spTree>
    <p:extLst>
      <p:ext uri="{BB962C8B-B14F-4D97-AF65-F5344CB8AC3E}">
        <p14:creationId xmlns:p14="http://schemas.microsoft.com/office/powerpoint/2010/main" val="1544424613"/>
      </p:ext>
    </p:extLst>
  </p:cSld>
</p:sld>
</file>

<file path=ppt/slides/slide27.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3B0749-375B-47AC-A10C-8EEE129785DD}"/>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Plan evaluation: what the records can support</a:t>
            </a:r>
          </a:p>
        </p:txBody>
      </p:sp>
      <p:sp>
        <p:nvSpPr>
          <p:cNvPr id="2" name="">
            <a:extLst xmlns:a="http://schemas.openxmlformats.org/drawingml/2006/main">
              <a:ext uri="{FF2B5EF4-FFF2-40B4-BE49-F238E27FC236}">
                <a16:creationId xmlns:a16="http://schemas.microsoft.com/office/drawing/2014/main" id="{EE70CCB9-4898-4D71-B7A9-F665CDC4B974}"/>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WU TONG YU    /    27</a:t>
            </a:r>
          </a:p>
        </p:txBody>
      </p:sp>
      <p:graphicFrame>
        <p:nvGraphicFramePr>
          <p:cNvPr id="7" name=""/>
          <p:cNvGraphicFramePr/>
          <p:nvPr/>
        </p:nvGraphicFramePr>
        <p:xfrm>
          <a:off xmlns:a="http://schemas.openxmlformats.org/drawingml/2006/main" x="571500" y="1847850"/>
          <a:ext xmlns:a="http://schemas.openxmlformats.org/drawingml/2006/main" cx="11049000" cy="3714750"/>
        </p:xfrm>
        <a:graphic xmlns:a="http://schemas.openxmlformats.org/drawingml/2006/main">
          <a:graphicData uri="http://schemas.openxmlformats.org/drawingml/2006/table">
            <a:tbl>
              <a:tblPr/>
              <a:tblGrid>
                <a:gridCol w="3714750"/>
                <a:gridCol w="1905000"/>
                <a:gridCol w="5429250"/>
              </a:tblGrid>
              <a:tr h="495300">
                <a:tc>
                  <a:txBody>
                    <a:bodyPr/>
                    <a:lstStyle/>
                    <a:p>
                      <a:r>
                        <a:rPr sz="1650" b="1">
                          <a:solidFill>
                            <a:srgbClr val="FFFFFF"/>
                          </a:solidFill>
                          <a:latin typeface="Arial"/>
                          <a:ea typeface="Arial"/>
                          <a:cs typeface="Arial"/>
                        </a:rPr>
                        <a:t>Plan item</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Recorded estimate</a:t>
                      </a:r>
                    </a:p>
                  </a:txBody>
                  <a:tcPr marL="123825" marR="123825" marT="104775" marB="76200" anchor="t">
                    <a:solidFill>
                      <a:srgbClr val="173E48"/>
                    </a:solidFill>
                  </a:tcPr>
                </a:tc>
                <a:tc>
                  <a:txBody>
                    <a:bodyPr/>
                    <a:lstStyle/>
                    <a:p>
                      <a:r>
                        <a:rPr sz="1650" b="1">
                          <a:solidFill>
                            <a:srgbClr val="FFFFFF"/>
                          </a:solidFill>
                          <a:latin typeface="Arial"/>
                          <a:ea typeface="Arial"/>
                          <a:cs typeface="Arial"/>
                        </a:rPr>
                        <a:t>Observed status</a:t>
                      </a:r>
                    </a:p>
                  </a:txBody>
                  <a:tcPr marL="123825" marR="123825" marT="104775" marB="76200" anchor="t">
                    <a:solidFill>
                      <a:srgbClr val="173E48"/>
                    </a:solidFill>
                  </a:tcPr>
                </a:tc>
              </a:tr>
              <a:tr h="804863">
                <a:tc>
                  <a:txBody>
                    <a:bodyPr/>
                    <a:lstStyle/>
                    <a:p>
                      <a:r>
                        <a:rPr sz="1650">
                          <a:solidFill>
                            <a:srgbClr val="173E48"/>
                          </a:solidFill>
                          <a:latin typeface="Arial"/>
                          <a:ea typeface="Arial"/>
                          <a:cs typeface="Arial"/>
                        </a:rPr>
                        <a:t>Sprint 1 models and integration</a:t>
                      </a:r>
                    </a:p>
                  </a:txBody>
                  <a:tcPr marL="123825" marR="123825" marT="104775" marB="76200" anchor="t">
                    <a:solidFill>
                      <a:srgbClr val="FFFFFF"/>
                    </a:solidFill>
                  </a:tcPr>
                </a:tc>
                <a:tc>
                  <a:txBody>
                    <a:bodyPr/>
                    <a:lstStyle/>
                    <a:p>
                      <a:r>
                        <a:rPr sz="1650">
                          <a:solidFill>
                            <a:srgbClr val="173E48"/>
                          </a:solidFill>
                          <a:latin typeface="Arial"/>
                          <a:ea typeface="Arial"/>
                          <a:cs typeface="Arial"/>
                        </a:rPr>
                        <a:t>40 hours</a:t>
                      </a:r>
                    </a:p>
                  </a:txBody>
                  <a:tcPr marL="123825" marR="123825" marT="104775" marB="76200" anchor="t">
                    <a:solidFill>
                      <a:srgbClr val="FFFFFF"/>
                    </a:solidFill>
                  </a:tcPr>
                </a:tc>
                <a:tc>
                  <a:txBody>
                    <a:bodyPr/>
                    <a:lstStyle/>
                    <a:p>
                      <a:r>
                        <a:rPr sz="1650">
                          <a:solidFill>
                            <a:srgbClr val="173E48"/>
                          </a:solidFill>
                          <a:latin typeface="Arial"/>
                          <a:ea typeface="Arial"/>
                          <a:cs typeface="Arial"/>
                        </a:rPr>
                        <a:t>Six processes present; current master run open</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Sprint 2 forms and workers</a:t>
                      </a:r>
                    </a:p>
                  </a:txBody>
                  <a:tcPr marL="123825" marR="123825" marT="104775" marB="76200" anchor="t">
                    <a:solidFill>
                      <a:srgbClr val="EDF3F3"/>
                    </a:solidFill>
                  </a:tcPr>
                </a:tc>
                <a:tc>
                  <a:txBody>
                    <a:bodyPr/>
                    <a:lstStyle/>
                    <a:p>
                      <a:r>
                        <a:rPr sz="1650">
                          <a:solidFill>
                            <a:srgbClr val="173E48"/>
                          </a:solidFill>
                          <a:latin typeface="Arial"/>
                          <a:ea typeface="Arial"/>
                          <a:cs typeface="Arial"/>
                        </a:rPr>
                        <a:t>35 hours</a:t>
                      </a:r>
                    </a:p>
                  </a:txBody>
                  <a:tcPr marL="123825" marR="123825" marT="104775" marB="76200" anchor="t">
                    <a:solidFill>
                      <a:srgbClr val="EDF3F3"/>
                    </a:solidFill>
                  </a:tcPr>
                </a:tc>
                <a:tc>
                  <a:txBody>
                    <a:bodyPr/>
                    <a:lstStyle/>
                    <a:p>
                      <a:r>
                        <a:rPr sz="1650">
                          <a:solidFill>
                            <a:srgbClr val="173E48"/>
                          </a:solidFill>
                          <a:latin typeface="Arial"/>
                          <a:ea typeface="Arial"/>
                          <a:cs typeface="Arial"/>
                        </a:rPr>
                        <a:t>14 forms and six service job types present</a:t>
                      </a:r>
                    </a:p>
                  </a:txBody>
                  <a:tcPr marL="123825" marR="123825" marT="104775" marB="76200" anchor="t">
                    <a:solidFill>
                      <a:srgbClr val="EDF3F3"/>
                    </a:solidFill>
                  </a:tcPr>
                </a:tc>
              </a:tr>
              <a:tr h="804863">
                <a:tc>
                  <a:txBody>
                    <a:bodyPr/>
                    <a:lstStyle/>
                    <a:p>
                      <a:r>
                        <a:rPr sz="1650">
                          <a:solidFill>
                            <a:srgbClr val="173E48"/>
                          </a:solidFill>
                          <a:latin typeface="Arial"/>
                          <a:ea typeface="Arial"/>
                          <a:cs typeface="Arial"/>
                        </a:rPr>
                        <a:t>Component logic tests</a:t>
                      </a:r>
                    </a:p>
                  </a:txBody>
                  <a:tcPr marL="123825" marR="123825" marT="104775" marB="76200" anchor="t">
                    <a:solidFill>
                      <a:srgbClr val="FFFFFF"/>
                    </a:solidFill>
                  </a:tcPr>
                </a:tc>
                <a:tc>
                  <a:txBody>
                    <a:bodyPr/>
                    <a:lstStyle/>
                    <a:p>
                      <a:r>
                        <a:rPr sz="1650">
                          <a:solidFill>
                            <a:srgbClr val="173E48"/>
                          </a:solidFill>
                          <a:latin typeface="Arial"/>
                          <a:ea typeface="Arial"/>
                          <a:cs typeface="Arial"/>
                        </a:rPr>
                        <a:t>Part of Sprint 2</a:t>
                      </a:r>
                    </a:p>
                  </a:txBody>
                  <a:tcPr marL="123825" marR="123825" marT="104775" marB="76200" anchor="t">
                    <a:solidFill>
                      <a:srgbClr val="FFFFFF"/>
                    </a:solidFill>
                  </a:tcPr>
                </a:tc>
                <a:tc>
                  <a:txBody>
                    <a:bodyPr/>
                    <a:lstStyle/>
                    <a:p>
                      <a:r>
                        <a:rPr sz="1650">
                          <a:solidFill>
                            <a:srgbClr val="173E48"/>
                          </a:solidFill>
                          <a:latin typeface="Arial"/>
                          <a:ea typeface="Arial"/>
                          <a:cs typeface="Arial"/>
                        </a:rPr>
                        <a:t>11 existing tests passed locally</a:t>
                      </a:r>
                    </a:p>
                  </a:txBody>
                  <a:tcPr marL="123825" marR="123825" marT="104775" marB="76200" anchor="t">
                    <a:solidFill>
                      <a:srgbClr val="FFFFFF"/>
                    </a:solidFill>
                  </a:tcPr>
                </a:tc>
              </a:tr>
              <a:tr h="804863">
                <a:tc>
                  <a:txBody>
                    <a:bodyPr/>
                    <a:lstStyle/>
                    <a:p>
                      <a:r>
                        <a:rPr sz="1650">
                          <a:solidFill>
                            <a:srgbClr val="173E48"/>
                          </a:solidFill>
                          <a:latin typeface="Arial"/>
                          <a:ea typeface="Arial"/>
                          <a:cs typeface="Arial"/>
                        </a:rPr>
                        <a:t>Actual hours and schedule variance</a:t>
                      </a:r>
                    </a:p>
                  </a:txBody>
                  <a:tcPr marL="123825" marR="123825" marT="104775" marB="76200" anchor="t">
                    <a:solidFill>
                      <a:srgbClr val="EDF3F3"/>
                    </a:solidFill>
                  </a:tcPr>
                </a:tc>
                <a:tc>
                  <a:txBody>
                    <a:bodyPr/>
                    <a:lstStyle/>
                    <a:p>
                      <a:r>
                        <a:rPr sz="1650">
                          <a:solidFill>
                            <a:srgbClr val="173E48"/>
                          </a:solidFill>
                          <a:latin typeface="Arial"/>
                          <a:ea typeface="Arial"/>
                          <a:cs typeface="Arial"/>
                        </a:rPr>
                        <a:t>No actual log</a:t>
                      </a:r>
                    </a:p>
                  </a:txBody>
                  <a:tcPr marL="123825" marR="123825" marT="104775" marB="76200" anchor="t">
                    <a:solidFill>
                      <a:srgbClr val="EDF3F3"/>
                    </a:solidFill>
                  </a:tcPr>
                </a:tc>
                <a:tc>
                  <a:txBody>
                    <a:bodyPr/>
                    <a:lstStyle/>
                    <a:p>
                      <a:r>
                        <a:rPr sz="1650">
                          <a:solidFill>
                            <a:srgbClr val="173E48"/>
                          </a:solidFill>
                          <a:latin typeface="Arial"/>
                          <a:ea typeface="Arial"/>
                          <a:cs typeface="Arial"/>
                        </a:rPr>
                        <a:t>Cannot calculate variance</a:t>
                      </a:r>
                    </a:p>
                  </a:txBody>
                  <a:tcPr marL="123825" marR="123825" marT="104775" marB="76200" anchor="t">
                    <a:solidFill>
                      <a:srgbClr val="EDF3F3"/>
                    </a:solidFill>
                  </a:tcPr>
                </a:tc>
              </a:tr>
            </a:tbl>
          </a:graphicData>
        </a:graphic>
      </p:graphicFrame>
      <p:sp>
        <p:nvSpPr>
          <p:cNvPr id="4" name="">
            <a:extLst xmlns:a="http://schemas.openxmlformats.org/drawingml/2006/main">
              <a:ext uri="{FF2B5EF4-FFF2-40B4-BE49-F238E27FC236}">
                <a16:creationId xmlns:a16="http://schemas.microsoft.com/office/drawing/2014/main" id="{C122B5AA-E77A-4D72-97B5-E4081E4659D0}"/>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A completed artefact, a passed logic test and a completed process instance are different evidence.</a:t>
            </a:r>
          </a:p>
        </p:txBody>
      </p:sp>
    </p:spTree>
    <p:extLst>
      <p:ext uri="{BB962C8B-B14F-4D97-AF65-F5344CB8AC3E}">
        <p14:creationId xmlns:p14="http://schemas.microsoft.com/office/powerpoint/2010/main" val="1112315171"/>
      </p:ext>
    </p:extLst>
  </p:cSld>
</p:sld>
</file>

<file path=ppt/slides/slide28.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3B985E-2507-4CD6-AB84-D920BD22CCA5}"/>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Release readiness and likely tutor questions</a:t>
            </a:r>
          </a:p>
        </p:txBody>
      </p:sp>
      <p:sp>
        <p:nvSpPr>
          <p:cNvPr id="2" name="">
            <a:extLst xmlns:a="http://schemas.openxmlformats.org/drawingml/2006/main">
              <a:ext uri="{FF2B5EF4-FFF2-40B4-BE49-F238E27FC236}">
                <a16:creationId xmlns:a16="http://schemas.microsoft.com/office/drawing/2014/main" id="{9DDE44F4-BD8E-429B-BD9D-C3E298EB8EF6}"/>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28</a:t>
            </a:r>
          </a:p>
        </p:txBody>
      </p:sp>
      <p:sp>
        <p:nvSpPr>
          <p:cNvPr id="3" name="">
            <a:extLst xmlns:a="http://schemas.openxmlformats.org/drawingml/2006/main">
              <a:ext uri="{FF2B5EF4-FFF2-40B4-BE49-F238E27FC236}">
                <a16:creationId xmlns:a16="http://schemas.microsoft.com/office/drawing/2014/main" id="{16C9EB3D-F98C-4DB9-A512-7E79339DBCEC}"/>
              </a:ext>
            </a:extLst>
          </p:cNvPr>
          <p:cNvSpPr>
            <a:spLocks xmlns:a="http://schemas.openxmlformats.org/drawingml/2006/main" noGrp="1"/>
          </p:cNvSpPr>
          <p:nvPr/>
        </p:nvSpPr>
        <p:spPr>
          <a:xfrm xmlns:a="http://schemas.openxmlformats.org/drawingml/2006/main">
            <a:off x="571500" y="20478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Ready to explain</a:t>
            </a:r>
          </a:p>
        </p:txBody>
      </p:sp>
      <p:sp>
        <p:nvSpPr>
          <p:cNvPr id="4" name="">
            <a:extLst xmlns:a="http://schemas.openxmlformats.org/drawingml/2006/main">
              <a:ext uri="{FF2B5EF4-FFF2-40B4-BE49-F238E27FC236}">
                <a16:creationId xmlns:a16="http://schemas.microsoft.com/office/drawing/2014/main" id="{C8FFABEF-5184-4213-BD12-ED9678C0CACF}"/>
              </a:ext>
            </a:extLst>
          </p:cNvPr>
          <p:cNvSpPr>
            <a:spLocks xmlns:a="http://schemas.openxmlformats.org/drawingml/2006/main" noGrp="1"/>
          </p:cNvSpPr>
          <p:nvPr/>
        </p:nvSpPr>
        <p:spPr>
          <a:xfrm xmlns:a="http://schemas.openxmlformats.org/drawingml/2006/main">
            <a:off x="571500" y="2600325"/>
            <a:ext cx="5143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Each owner has a source diagram</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Each path has an input and expected result</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11 component tests passed</a:t>
            </a:r>
          </a:p>
        </p:txBody>
      </p:sp>
      <p:sp>
        <p:nvSpPr>
          <p:cNvPr id="5" name="">
            <a:extLst xmlns:a="http://schemas.openxmlformats.org/drawingml/2006/main">
              <a:ext uri="{FF2B5EF4-FFF2-40B4-BE49-F238E27FC236}">
                <a16:creationId xmlns:a16="http://schemas.microsoft.com/office/drawing/2014/main" id="{B08D9C74-592F-4AA0-86C5-883518BE9DDB}"/>
              </a:ext>
            </a:extLst>
          </p:cNvPr>
          <p:cNvSpPr>
            <a:spLocks xmlns:a="http://schemas.openxmlformats.org/drawingml/2006/main" noGrp="1"/>
          </p:cNvSpPr>
          <p:nvPr/>
        </p:nvSpPr>
        <p:spPr>
          <a:xfrm xmlns:a="http://schemas.openxmlformats.org/drawingml/2006/main">
            <a:off x="6477000" y="20478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Still required for Release 2</a:t>
            </a:r>
          </a:p>
        </p:txBody>
      </p:sp>
      <p:sp>
        <p:nvSpPr>
          <p:cNvPr id="6" name="">
            <a:extLst xmlns:a="http://schemas.openxmlformats.org/drawingml/2006/main">
              <a:ext uri="{FF2B5EF4-FFF2-40B4-BE49-F238E27FC236}">
                <a16:creationId xmlns:a16="http://schemas.microsoft.com/office/drawing/2014/main" id="{D9DF1A55-3BB6-4996-B117-168FA8FEE31B}"/>
              </a:ext>
            </a:extLst>
          </p:cNvPr>
          <p:cNvSpPr>
            <a:spLocks xmlns:a="http://schemas.openxmlformats.org/drawingml/2006/main" noGrp="1"/>
          </p:cNvSpPr>
          <p:nvPr/>
        </p:nvSpPr>
        <p:spPr>
          <a:xfrm xmlns:a="http://schemas.openxmlformats.org/drawingml/2006/main">
            <a:off x="6477000" y="2600325"/>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Current master instance evidence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Actual tutor feedback and response</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Actual delivery dates and effort</a:t>
            </a:r>
          </a:p>
        </p:txBody>
      </p:sp>
      <p:sp>
        <p:nvSpPr>
          <p:cNvPr id="7" name="">
            <a:extLst xmlns:a="http://schemas.openxmlformats.org/drawingml/2006/main">
              <a:ext uri="{FF2B5EF4-FFF2-40B4-BE49-F238E27FC236}">
                <a16:creationId xmlns:a16="http://schemas.microsoft.com/office/drawing/2014/main" id="{AAFD5896-9E62-4389-945B-401BFEAAF935}"/>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Presentation requirement: development, feedback response and plan evaluation supported by evidence.</a:t>
            </a:r>
          </a:p>
        </p:txBody>
      </p:sp>
    </p:spTree>
    <p:extLst>
      <p:ext uri="{BB962C8B-B14F-4D97-AF65-F5344CB8AC3E}">
        <p14:creationId xmlns:p14="http://schemas.microsoft.com/office/powerpoint/2010/main" val="1241466798"/>
      </p:ext>
    </p:extLst>
  </p:cSld>
</p:sld>
</file>

<file path=ppt/slides/slide29.xml><?xml version="1.0" encoding="utf-8"?>
<p:sld xmlns:p="http://schemas.openxmlformats.org/presentationml/2006/main">
  <p:cSld>
    <p:bg>
      <p:bgPr>
        <a:solidFill xmlns:a="http://schemas.openxmlformats.org/drawingml/2006/main">
          <a:srgbClr val="F7F9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71A6FB-42A0-4F60-867E-5882B164C5A4}"/>
              </a:ext>
            </a:extLst>
          </p:cNvPr>
          <p:cNvSpPr>
            <a:spLocks xmlns:a="http://schemas.openxmlformats.org/drawingml/2006/main" noGrp="1"/>
          </p:cNvSpPr>
          <p:nvPr/>
        </p:nvSpPr>
        <p:spPr>
          <a:xfrm xmlns:a="http://schemas.openxmlformats.org/drawingml/2006/main">
            <a:off x="571500" y="4000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E48"/>
                </a:solidFill>
                <a:latin typeface="Arial"/>
                <a:ea typeface="Arial"/>
                <a:cs typeface="Arial"/>
              </a:defRPr>
            </a:pPr>
            <a:r>
              <a:rPr sz="3225" b="1">
                <a:solidFill>
                  <a:srgbClr val="173E48"/>
                </a:solidFill>
                <a:latin typeface="Arial"/>
                <a:ea typeface="Arial"/>
                <a:cs typeface="Arial"/>
              </a:rPr>
              <a:t>Sources and evidence used</a:t>
            </a:r>
          </a:p>
        </p:txBody>
      </p:sp>
      <p:sp>
        <p:nvSpPr>
          <p:cNvPr id="2" name="">
            <a:extLst xmlns:a="http://schemas.openxmlformats.org/drawingml/2006/main">
              <a:ext uri="{FF2B5EF4-FFF2-40B4-BE49-F238E27FC236}">
                <a16:creationId xmlns:a16="http://schemas.microsoft.com/office/drawing/2014/main" id="{39896517-4BEB-41A3-96F5-CF1D2E3B3272}"/>
              </a:ext>
            </a:extLst>
          </p:cNvPr>
          <p:cNvSpPr>
            <a:spLocks xmlns:a="http://schemas.openxmlformats.org/drawingml/2006/main" noGrp="1"/>
          </p:cNvSpPr>
          <p:nvPr/>
        </p:nvSpPr>
        <p:spPr>
          <a:xfrm xmlns:a="http://schemas.openxmlformats.org/drawingml/2006/main">
            <a:off x="571500" y="6448425"/>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76D"/>
                </a:solidFill>
                <a:latin typeface="Arial"/>
                <a:ea typeface="Arial"/>
                <a:cs typeface="Arial"/>
              </a:defRPr>
            </a:pPr>
            <a:r>
              <a:rPr sz="1125" b="0">
                <a:solidFill>
                  <a:srgbClr val="52676D"/>
                </a:solidFill>
                <a:latin typeface="Arial"/>
                <a:ea typeface="Arial"/>
                <a:cs typeface="Arial"/>
              </a:rPr>
              <a:t>XIAO YU YING    /    29</a:t>
            </a:r>
          </a:p>
        </p:txBody>
      </p:sp>
      <p:sp>
        <p:nvSpPr>
          <p:cNvPr id="3" name="">
            <a:extLst xmlns:a="http://schemas.openxmlformats.org/drawingml/2006/main">
              <a:ext uri="{FF2B5EF4-FFF2-40B4-BE49-F238E27FC236}">
                <a16:creationId xmlns:a16="http://schemas.microsoft.com/office/drawing/2014/main" id="{7704D8C9-4471-48F2-BD16-28A5F43C6835}"/>
              </a:ext>
            </a:extLst>
          </p:cNvPr>
          <p:cNvSpPr>
            <a:spLocks xmlns:a="http://schemas.openxmlformats.org/drawingml/2006/main" noGrp="1"/>
          </p:cNvSpPr>
          <p:nvPr/>
        </p:nvSpPr>
        <p:spPr>
          <a:xfrm xmlns:a="http://schemas.openxmlformats.org/drawingml/2006/main">
            <a:off x="571500" y="207645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Requirements</a:t>
            </a:r>
          </a:p>
        </p:txBody>
      </p:sp>
      <p:sp>
        <p:nvSpPr>
          <p:cNvPr id="4" name="">
            <a:extLst xmlns:a="http://schemas.openxmlformats.org/drawingml/2006/main">
              <a:ext uri="{FF2B5EF4-FFF2-40B4-BE49-F238E27FC236}">
                <a16:creationId xmlns:a16="http://schemas.microsoft.com/office/drawing/2014/main" id="{5ADC4116-D308-4646-A62C-63F83B36B43B}"/>
              </a:ext>
            </a:extLst>
          </p:cNvPr>
          <p:cNvSpPr>
            <a:spLocks xmlns:a="http://schemas.openxmlformats.org/drawingml/2006/main" noGrp="1"/>
          </p:cNvSpPr>
          <p:nvPr/>
        </p:nvSpPr>
        <p:spPr>
          <a:xfrm xmlns:a="http://schemas.openxmlformats.org/drawingml/2006/main">
            <a:off x="571500" y="2628900"/>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Presentation assessment brief</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Hospital case study</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Original team plan and reflection</a:t>
            </a:r>
          </a:p>
        </p:txBody>
      </p:sp>
      <p:sp>
        <p:nvSpPr>
          <p:cNvPr id="5" name="">
            <a:extLst xmlns:a="http://schemas.openxmlformats.org/drawingml/2006/main">
              <a:ext uri="{FF2B5EF4-FFF2-40B4-BE49-F238E27FC236}">
                <a16:creationId xmlns:a16="http://schemas.microsoft.com/office/drawing/2014/main" id="{EE91CFF5-257A-42C7-9F7A-A9D494A6CEF9}"/>
              </a:ext>
            </a:extLst>
          </p:cNvPr>
          <p:cNvSpPr>
            <a:spLocks xmlns:a="http://schemas.openxmlformats.org/drawingml/2006/main" noGrp="1"/>
          </p:cNvSpPr>
          <p:nvPr/>
        </p:nvSpPr>
        <p:spPr>
          <a:xfrm xmlns:a="http://schemas.openxmlformats.org/drawingml/2006/main">
            <a:off x="6477000" y="207645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8879"/>
                </a:solidFill>
                <a:latin typeface="Arial"/>
                <a:ea typeface="Arial"/>
                <a:cs typeface="Arial"/>
              </a:defRPr>
            </a:pPr>
            <a:r>
              <a:rPr sz="2175" b="1">
                <a:solidFill>
                  <a:srgbClr val="008879"/>
                </a:solidFill>
                <a:latin typeface="Arial"/>
                <a:ea typeface="Arial"/>
                <a:cs typeface="Arial"/>
              </a:rPr>
              <a:t>Implementation and observed results</a:t>
            </a:r>
          </a:p>
        </p:txBody>
      </p:sp>
      <p:sp>
        <p:nvSpPr>
          <p:cNvPr id="6" name="">
            <a:extLst xmlns:a="http://schemas.openxmlformats.org/drawingml/2006/main">
              <a:ext uri="{FF2B5EF4-FFF2-40B4-BE49-F238E27FC236}">
                <a16:creationId xmlns:a16="http://schemas.microsoft.com/office/drawing/2014/main" id="{C81E3250-F08D-466A-BCA4-FB178417BDE1}"/>
              </a:ext>
            </a:extLst>
          </p:cNvPr>
          <p:cNvSpPr>
            <a:spLocks xmlns:a="http://schemas.openxmlformats.org/drawingml/2006/main" noGrp="1"/>
          </p:cNvSpPr>
          <p:nvPr/>
        </p:nvSpPr>
        <p:spPr>
          <a:xfrm xmlns:a="http://schemas.openxmlformats.org/drawingml/2006/main">
            <a:off x="6477000" y="2628900"/>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Five team process diagrams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Current executable model and forms</a:t>
            </a:r>
          </a:p>
          <a:p xmlns:a="http://schemas.openxmlformats.org/drawingml/2006/main">
            <a:pPr>
              <a:defRPr sz="2025" b="0">
                <a:solidFill>
                  <a:srgbClr val="173E48"/>
                </a:solidFill>
                <a:latin typeface="Arial"/>
                <a:ea typeface="Arial"/>
                <a:cs typeface="Arial"/>
              </a:defRPr>
            </a:pPr>
            <a:r>
              <a:rPr sz="2025" b="0">
                <a:solidFill>
                  <a:srgbClr val="173E48"/>
                </a:solidFill>
                <a:latin typeface="Arial"/>
                <a:ea typeface="Arial"/>
                <a:cs typeface="Arial"/>
              </a:rPr>
              <a:t>Worker logic tests and selected instances</a:t>
            </a:r>
          </a:p>
        </p:txBody>
      </p:sp>
      <p:sp>
        <p:nvSpPr>
          <p:cNvPr id="7" name="">
            <a:extLst xmlns:a="http://schemas.openxmlformats.org/drawingml/2006/main">
              <a:ext uri="{FF2B5EF4-FFF2-40B4-BE49-F238E27FC236}">
                <a16:creationId xmlns:a16="http://schemas.microsoft.com/office/drawing/2014/main" id="{6A5D4B02-9C6F-4581-A791-FC62915ACD94}"/>
              </a:ext>
            </a:extLst>
          </p:cNvPr>
          <p:cNvSpPr>
            <a:spLocks xmlns:a="http://schemas.openxmlformats.org/drawingml/2006/main" noGrp="1"/>
          </p:cNvSpPr>
          <p:nvPr/>
        </p:nvSpPr>
        <p:spPr>
          <a:xfrm xmlns:a="http://schemas.openxmlformats.org/drawingml/2006/main">
            <a:off x="571500" y="59436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2676D"/>
                </a:solidFill>
                <a:latin typeface="Arial"/>
                <a:ea typeface="Arial"/>
                <a:cs typeface="Arial"/>
              </a:defRPr>
            </a:pPr>
            <a:r>
              <a:rPr sz="1425" b="0">
                <a:solidFill>
                  <a:srgbClr val="52676D"/>
                </a:solidFill>
                <a:latin typeface="Arial"/>
                <a:ea typeface="Arial"/>
                <a:cs typeface="Arial"/>
              </a:rPr>
              <a:t>Exact source paths and image evidence are in slide notes and the companion speaking guide.</a:t>
            </a:r>
          </a:p>
        </p:txBody>
      </p:sp>
    </p:spTree>
    <p:extLst>
      <p:ext uri="{BB962C8B-B14F-4D97-AF65-F5344CB8AC3E}">
        <p14:creationId xmlns:p14="http://schemas.microsoft.com/office/powerpoint/2010/main" val="16448788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2026-09-28T05:17:41.6150000Z</dcterms:created>
  <dcterms:modified xsi:type="dcterms:W3CDTF">2026-09-28T05:17:41.6150000Z</dcterms:modified>
</coreProperties>
</file>