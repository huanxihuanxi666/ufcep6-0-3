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259" r:id="rId5"/>
    <p:sldId id="260" r:id="rId6"/>
    <p:sldId id="261" r:id="rId7"/>
    <p:sldId id="262" r:id="rId8"/>
    <p:sldId id="276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3" r:id="rId18"/>
    <p:sldId id="274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8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03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9380" y="1988820"/>
            <a:ext cx="3184525" cy="3535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master process coordinates referral, appointment, finance, treatment, and clinic-letter work as one patient journey.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A positive decision in one area creates the data and control needed by the next area.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Human decisions stay in forms. Automated checks run through Camunda workers.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This integrated design prevents a treatment activity from starting before relevant referral, appointment and financial decisions are available.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5857875" y="1809750"/>
            <a:ext cx="5238750" cy="3714750"/>
          </a:xfrm>
          <a:prstGeom prst="roundRect">
            <a:avLst>
              <a:gd name="adj" fmla="val 1538"/>
            </a:avLst>
          </a:prstGeom>
          <a:solidFill>
            <a:srgbClr val="EDF2F7"/>
          </a:solidFill>
          <a:ln w="9525">
            <a:solidFill>
              <a:srgbClr val="C9D2DC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35280" y="866775"/>
            <a:ext cx="4705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1500" b="1">
                <a:solidFill>
                  <a:srgbClr val="102A43"/>
                </a:solidFill>
              </a:defRPr>
            </a:defPPr>
            <a:lvl1pPr algn="ctr">
              <a:defRPr sz="1500" b="1">
                <a:solidFill>
                  <a:srgbClr val="102A43"/>
                </a:solidFill>
              </a:defRPr>
            </a:lvl1pPr>
            <a:lvl2pPr algn="ctr">
              <a:defRPr sz="1500" b="1">
                <a:solidFill>
                  <a:srgbClr val="102A43"/>
                </a:solidFill>
              </a:defRPr>
            </a:lvl2pPr>
            <a:lvl3pPr algn="ctr">
              <a:defRPr sz="1500" b="1">
                <a:solidFill>
                  <a:srgbClr val="102A43"/>
                </a:solidFill>
              </a:defRPr>
            </a:lvl3pPr>
            <a:lvl4pPr algn="ctr">
              <a:defRPr sz="1500" b="1">
                <a:solidFill>
                  <a:srgbClr val="102A43"/>
                </a:solidFill>
              </a:defRPr>
            </a:lvl4pPr>
            <a:lvl5pPr algn="ctr">
              <a:defRPr sz="1500" b="1">
                <a:solidFill>
                  <a:srgbClr val="102A43"/>
                </a:solidFill>
              </a:defRPr>
            </a:lvl5pPr>
            <a:lvl6pPr algn="ctr">
              <a:defRPr sz="1500" b="1">
                <a:solidFill>
                  <a:srgbClr val="102A43"/>
                </a:solidFill>
              </a:defRPr>
            </a:lvl6pPr>
            <a:lvl7pPr algn="ctr">
              <a:defRPr sz="1500" b="1">
                <a:solidFill>
                  <a:srgbClr val="102A43"/>
                </a:solidFill>
              </a:defRPr>
            </a:lvl7pPr>
            <a:lvl8pPr algn="ctr">
              <a:defRPr sz="1500" b="1">
                <a:solidFill>
                  <a:srgbClr val="102A43"/>
                </a:solidFill>
              </a:defRPr>
            </a:lvl8pPr>
            <a:lvl9pPr algn="ctr">
              <a:defRPr sz="1500" b="1">
                <a:solidFill>
                  <a:srgbClr val="102A43"/>
                </a:solidFill>
              </a:defRPr>
            </a:lvl9pPr>
          </a:lstStyle>
          <a:p>
            <a:pPr algn="ctr"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Hospital Master BPMN</a:t>
            </a:r>
            <a:endParaRPr sz="1500" b="1">
              <a:solidFill>
                <a:srgbClr val="102A43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7890" y="1445895"/>
            <a:ext cx="8729980" cy="49612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Strategic BPMN: The Hospital Pathway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04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6990" y="1772920"/>
            <a:ext cx="3112770" cy="2150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strategic view starts with a referral and moves through booking, funding, treatment and follow-up communication.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It shows why each operational process exists and where a patient depends on the next service.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The operational BPMN models implement these stages with tasks, gateways, forms and workers.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5940" y="1485265"/>
            <a:ext cx="8990965" cy="44748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Strategic Dependency Model: Who Depends on Whom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05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63525" y="1628775"/>
            <a:ext cx="3237230" cy="29095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SD model contains six actors: Patient and Referrer, Referral and Consultant Review, Appointment and Patient Communication, Finance, Treatment and Chemotherapy, and Enquiry Clinic Letter and Monitoring.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Dependencies make hand-offs visible. Examples include referral details, accepted referral and booking requirements, financial clearance, consultation outcome and clinic letter updates.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The SD model supports accountability because each dependency has a depender, a dependee and a concrete dependum.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4" name="图片 13" descr="S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9365" y="1557020"/>
            <a:ext cx="8230235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Strategic Rationale Model: Goals and Decisions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06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0" y="1409700"/>
            <a:ext cx="3142615" cy="35185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SR model explains why each actor performs its tasks.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Referral work supports a safe referral decision and complete, traceable referral.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Appointment work supports a timely confirmed appointment and clear patient communication. Finance supports financial clearance before treatment. Treatment supports clinical safety. Enquiry and letter work supports accurate, timely updates.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AND refinements show activities that must work together. OR refinements show alternative ways to achieve a goal.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 descr="S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2615" y="1485265"/>
            <a:ext cx="8782685" cy="4964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Appointment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07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62865" y="1485265"/>
            <a:ext cx="2223135" cy="26739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  appointment confirmation and the patient-facing communication route. Explain how an appointment outcome becomes a controlled process decision.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update:</a:t>
            </a:r>
            <a:r>
              <a:rPr lang="en-US" sz="1350" b="0">
                <a:solidFill>
                  <a:srgbClr val="172B4D"/>
                </a:solidFill>
              </a:rPr>
              <a:t>M</a:t>
            </a:r>
            <a:r>
              <a:rPr sz="1350" b="0">
                <a:solidFill>
                  <a:srgbClr val="172B4D"/>
                </a:solidFill>
              </a:rPr>
              <a:t>odelled and connected. The next action was to verify their forms and integration conditions.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2665" y="1772920"/>
            <a:ext cx="9635490" cy="43103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7445" y="207645"/>
            <a:ext cx="9599295" cy="59550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23570" y="405130"/>
            <a:ext cx="6096000" cy="4375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250" b="1">
                <a:solidFill>
                  <a:srgbClr val="102A43"/>
                </a:solidFill>
                <a:sym typeface="+mn-ea"/>
              </a:rPr>
              <a:t>Referral </a:t>
            </a:r>
            <a:endParaRPr lang="zh-CN" altLang="en-US" sz="2250" b="1">
              <a:solidFill>
                <a:srgbClr val="102A43"/>
              </a:solidFill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9380" y="1917065"/>
            <a:ext cx="234315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1350" b="0">
                <a:solidFill>
                  <a:srgbClr val="172B4D"/>
                </a:solidFill>
              </a:defRPr>
            </a:pPr>
            <a:r>
              <a:rPr lang="en-US" sz="1350">
                <a:solidFill>
                  <a:srgbClr val="172B4D"/>
                </a:solidFill>
                <a:sym typeface="+mn-ea"/>
              </a:rPr>
              <a:t>T</a:t>
            </a:r>
            <a:r>
              <a:rPr sz="1350">
                <a:solidFill>
                  <a:srgbClr val="172B4D"/>
                </a:solidFill>
                <a:sym typeface="+mn-ea"/>
              </a:rPr>
              <a:t>he referral and consultant-review route. Explain how the referral details, consultant decision and safe routing support a traceable referral.</a:t>
            </a:r>
            <a:endParaRPr lang="zh-CN" altLang="en-US" sz="1350">
              <a:solidFill>
                <a:srgbClr val="172B4D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Further Development: External API and Patient Confirmation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08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91135" y="1485265"/>
            <a:ext cx="217424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The local mock exposes GET /patients/next and returns one patient record for the BPMN route.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Retrieve Patient Details maps patientId, patientName, referralType and referralStatus into process variables.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The reviewer sees these values in Tasklist and actively chooses whether the imported data is correct. The XOR gateway only routes after this choice.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</a:t>
            </a:r>
            <a:r>
              <a:rPr lang="en-US" sz="1350" b="0">
                <a:solidFill>
                  <a:srgbClr val="172B4D"/>
                </a:solidFill>
              </a:rPr>
              <a:t>U</a:t>
            </a:r>
            <a:r>
              <a:rPr sz="1350" b="0">
                <a:solidFill>
                  <a:srgbClr val="172B4D"/>
                </a:solidFill>
              </a:rPr>
              <a:t>pdate: the route was tested from API response to Tasklist confirmation, including a controlled missing-data branch.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405" y="1562735"/>
            <a:ext cx="5034915" cy="351536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320" y="1568450"/>
            <a:ext cx="4457065" cy="3541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Further Development: Finance and Persistent Data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09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46990" y="1485265"/>
            <a:ext cx="251714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Wu Tongyu developed the funding and payment route and implemented persistent patient application data.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The H2 repository stores application values under patientId so later workers can retrieve and update the same record.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Shared worker support merges existing saved values with values from the current task before writing the record back.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 </a:t>
            </a:r>
            <a:r>
              <a:rPr lang="en-US" sz="1350" b="0">
                <a:solidFill>
                  <a:srgbClr val="172B4D"/>
                </a:solidFill>
              </a:rPr>
              <a:t>P</a:t>
            </a:r>
            <a:r>
              <a:rPr sz="1350" b="0">
                <a:solidFill>
                  <a:srgbClr val="172B4D"/>
                </a:solidFill>
              </a:rPr>
              <a:t>rogress: persistence moved from a feedback requirement to a tested reopening scenario.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405" y="1576070"/>
            <a:ext cx="5946775" cy="393382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180" y="1891030"/>
            <a:ext cx="3682365" cy="33820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Teacher Feedback,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10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1905000"/>
            <a:ext cx="3429000" cy="400050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FFFFFF"/>
                </a:solidFill>
              </a:defRPr>
            </a:defPPr>
            <a:lvl1pPr algn="ctr">
              <a:defRPr sz="1275" b="1">
                <a:solidFill>
                  <a:srgbClr val="FFFFFF"/>
                </a:solidFill>
              </a:defRPr>
            </a:lvl1pPr>
            <a:lvl2pPr algn="ctr">
              <a:defRPr sz="1275" b="1">
                <a:solidFill>
                  <a:srgbClr val="FFFFFF"/>
                </a:solidFill>
              </a:defRPr>
            </a:lvl2pPr>
            <a:lvl3pPr algn="ctr">
              <a:defRPr sz="1275" b="1">
                <a:solidFill>
                  <a:srgbClr val="FFFFFF"/>
                </a:solidFill>
              </a:defRPr>
            </a:lvl3pPr>
            <a:lvl4pPr algn="ctr">
              <a:defRPr sz="1275" b="1">
                <a:solidFill>
                  <a:srgbClr val="FFFFFF"/>
                </a:solidFill>
              </a:defRPr>
            </a:lvl4pPr>
            <a:lvl5pPr algn="ctr">
              <a:defRPr sz="1275" b="1">
                <a:solidFill>
                  <a:srgbClr val="FFFFFF"/>
                </a:solidFill>
              </a:defRPr>
            </a:lvl5pPr>
            <a:lvl6pPr algn="ctr">
              <a:defRPr sz="1275" b="1">
                <a:solidFill>
                  <a:srgbClr val="FFFFFF"/>
                </a:solidFill>
              </a:defRPr>
            </a:lvl6pPr>
            <a:lvl7pPr algn="ctr">
              <a:defRPr sz="1275" b="1">
                <a:solidFill>
                  <a:srgbClr val="FFFFFF"/>
                </a:solidFill>
              </a:defRPr>
            </a:lvl7pPr>
            <a:lvl8pPr algn="ctr">
              <a:defRPr sz="1275" b="1">
                <a:solidFill>
                  <a:srgbClr val="FFFFFF"/>
                </a:solidFill>
              </a:defRPr>
            </a:lvl8pPr>
            <a:lvl9pPr algn="ctr">
              <a:defRPr sz="1275" b="1">
                <a:solidFill>
                  <a:srgbClr val="FFFFFF"/>
                </a:solidFill>
              </a:defRPr>
            </a:lvl9pPr>
          </a:lstStyle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Feedback point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4095750" y="1905000"/>
            <a:ext cx="6667500" cy="400050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 w="9525">
            <a:solidFill>
              <a:srgbClr val="102A43"/>
            </a:solidFill>
            <a:prstDash val="solid"/>
          </a:ln>
        </p:spPr>
        <p:txBody>
          <a:bodyPr anchor="ctr"/>
          <a:lstStyle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Priority decision and planned action</a:t>
            </a:r>
            <a:endParaRPr sz="1275" b="1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66750" y="2628900"/>
            <a:ext cx="3429000" cy="676275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Form validation</a:t>
            </a:r>
            <a:endParaRPr sz="1350" b="0">
              <a:solidFill>
                <a:srgbClr val="102A43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4095750" y="2628900"/>
            <a:ext cx="6667500" cy="676275"/>
          </a:xfrm>
          <a:prstGeom prst="roundRect">
            <a:avLst>
              <a:gd name="adj" fmla="val 845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lang="en-US" sz="1350" b="0">
                <a:solidFill>
                  <a:srgbClr val="172B4D"/>
                </a:solidFill>
              </a:rPr>
              <a:t>R</a:t>
            </a:r>
            <a:r>
              <a:rPr sz="1350" b="0">
                <a:solidFill>
                  <a:srgbClr val="172B4D"/>
                </a:solidFill>
              </a:rPr>
              <a:t>equire valid inputs and use controlled options for routing values.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66750" y="3352800"/>
            <a:ext cx="3429000" cy="676275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Merging gateways</a:t>
            </a:r>
            <a:endParaRPr sz="1350" b="0">
              <a:solidFill>
                <a:srgbClr val="102A4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095750" y="3352800"/>
            <a:ext cx="6667500" cy="676275"/>
          </a:xfrm>
          <a:prstGeom prst="roundRect">
            <a:avLst>
              <a:gd name="adj" fmla="val 845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lang="en-US" sz="1350" b="0">
                <a:solidFill>
                  <a:srgbClr val="172B4D"/>
                </a:solidFill>
              </a:rPr>
              <a:t>R</a:t>
            </a:r>
            <a:r>
              <a:rPr sz="1350" b="0">
                <a:solidFill>
                  <a:srgbClr val="172B4D"/>
                </a:solidFill>
              </a:rPr>
              <a:t>emove duplicate downstream paths and converge alternatives safely.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66750" y="4076700"/>
            <a:ext cx="3429000" cy="676275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Forms for scenarios</a:t>
            </a:r>
            <a:endParaRPr sz="1350" b="0">
              <a:solidFill>
                <a:srgbClr val="102A43"/>
              </a:solidFill>
            </a:endParaRPr>
          </a:p>
        </p:txBody>
      </p:sp>
      <p:sp>
        <p:nvSpPr>
          <p:cNvPr id="14" name="圆角矩形 1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095750" y="4076700"/>
            <a:ext cx="6667500" cy="676275"/>
          </a:xfrm>
          <a:prstGeom prst="roundRect">
            <a:avLst>
              <a:gd name="adj" fmla="val 845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lang="en-US" sz="1350" b="0">
                <a:solidFill>
                  <a:srgbClr val="172B4D"/>
                </a:solidFill>
              </a:rPr>
              <a:t>P</a:t>
            </a:r>
            <a:r>
              <a:rPr sz="1350" b="0">
                <a:solidFill>
                  <a:srgbClr val="172B4D"/>
                </a:solidFill>
              </a:rPr>
              <a:t>rovide normal, exception and retry decisions in Tasklist.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66750" y="4800600"/>
            <a:ext cx="3429000" cy="676275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02A43"/>
                </a:solidFill>
              </a:defRPr>
            </a:defPPr>
            <a:lvl1pPr algn="l">
              <a:defRPr sz="1350" b="0">
                <a:solidFill>
                  <a:srgbClr val="102A43"/>
                </a:solidFill>
              </a:defRPr>
            </a:lvl1pPr>
            <a:lvl2pPr algn="l">
              <a:defRPr sz="1350" b="0">
                <a:solidFill>
                  <a:srgbClr val="102A43"/>
                </a:solidFill>
              </a:defRPr>
            </a:lvl2pPr>
            <a:lvl3pPr algn="l">
              <a:defRPr sz="1350" b="0">
                <a:solidFill>
                  <a:srgbClr val="102A43"/>
                </a:solidFill>
              </a:defRPr>
            </a:lvl3pPr>
            <a:lvl4pPr algn="l">
              <a:defRPr sz="1350" b="0">
                <a:solidFill>
                  <a:srgbClr val="102A43"/>
                </a:solidFill>
              </a:defRPr>
            </a:lvl4pPr>
            <a:lvl5pPr algn="l">
              <a:defRPr sz="1350" b="0">
                <a:solidFill>
                  <a:srgbClr val="102A43"/>
                </a:solidFill>
              </a:defRPr>
            </a:lvl5pPr>
            <a:lvl6pPr algn="l">
              <a:defRPr sz="1350" b="0">
                <a:solidFill>
                  <a:srgbClr val="102A43"/>
                </a:solidFill>
              </a:defRPr>
            </a:lvl6pPr>
            <a:lvl7pPr algn="l">
              <a:defRPr sz="1350" b="0">
                <a:solidFill>
                  <a:srgbClr val="102A43"/>
                </a:solidFill>
              </a:defRPr>
            </a:lvl7pPr>
            <a:lvl8pPr algn="l">
              <a:defRPr sz="1350" b="0">
                <a:solidFill>
                  <a:srgbClr val="102A43"/>
                </a:solidFill>
              </a:defRPr>
            </a:lvl8pPr>
            <a:lvl9pPr algn="l">
              <a:defRPr sz="1350" b="0">
                <a:solidFill>
                  <a:srgbClr val="102A43"/>
                </a:solidFill>
              </a:defRPr>
            </a:lvl9pPr>
          </a:lstStyle>
          <a:p>
            <a:pPr algn="l">
              <a:defRPr sz="1350" b="0">
                <a:solidFill>
                  <a:srgbClr val="102A43"/>
                </a:solidFill>
              </a:defRPr>
            </a:pPr>
            <a:r>
              <a:rPr sz="1350" b="0">
                <a:solidFill>
                  <a:srgbClr val="102A43"/>
                </a:solidFill>
              </a:rPr>
              <a:t>Data persistence</a:t>
            </a:r>
            <a:endParaRPr sz="1350" b="0">
              <a:solidFill>
                <a:srgbClr val="102A43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095750" y="4800600"/>
            <a:ext cx="6667500" cy="676275"/>
          </a:xfrm>
          <a:prstGeom prst="roundRect">
            <a:avLst>
              <a:gd name="adj" fmla="val 8451"/>
            </a:avLst>
          </a:prstGeom>
          <a:solidFill>
            <a:srgbClr val="EAF1F8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lang="en-US" sz="1350" b="0">
                <a:solidFill>
                  <a:srgbClr val="172B4D"/>
                </a:solidFill>
              </a:rPr>
              <a:t>K</a:t>
            </a:r>
            <a:r>
              <a:rPr sz="1350" b="0">
                <a:solidFill>
                  <a:srgbClr val="172B4D"/>
                </a:solidFill>
              </a:rPr>
              <a:t>eep application data after worker restart and retrieve it by patientId.</a:t>
            </a:r>
            <a:endParaRPr sz="1350" b="0">
              <a:solidFill>
                <a:srgbClr val="172B4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Feedback Improvement: Clinical Form Validation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11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9380" y="1485265"/>
            <a:ext cx="225171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Lin Jiaqiang developed the treatment and chemotherapy route and strengthened clinical task validation.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Required patient, clinical, decision and outcome fields prevent a task from completing with missing values.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Controlled selections give gateways predictable values rather than relying on free text.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The improvement protects clinical safety because the process does not progress until required information is present.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1405" y="1557020"/>
            <a:ext cx="9488805" cy="34385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Feedback Improvement: Merging Gateways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12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263525" y="1628775"/>
            <a:ext cx="235204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A merging gateway brings alternative paths back into one controlled downstream path.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This prevents duplicated tasks after successful and corrected outcomes.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Release 2 uses named convergence points in Appointment, Finance, Treatment and Clinic Letter processes.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</a:t>
            </a:r>
            <a:r>
              <a:rPr lang="en-US" sz="1350" b="0">
                <a:solidFill>
                  <a:srgbClr val="172B4D"/>
                </a:solidFill>
              </a:rPr>
              <a:t>T</a:t>
            </a:r>
            <a:r>
              <a:rPr sz="1350" b="0">
                <a:solidFill>
                  <a:srgbClr val="172B4D"/>
                </a:solidFill>
              </a:rPr>
              <a:t>he appointment merge: separate booking outcomes converge before the shared notification or follow-up activity.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5565" y="1657350"/>
            <a:ext cx="8965565" cy="4236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Feedback Improvement: Forms for Business Scenarios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13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19380" y="1447800"/>
            <a:ext cx="262001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Yuying Xiao developed enquiry, clinic-letter and monitoring work.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The forms cover normal communication as well as delayed, missing or rejected information scenarios.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Each exception form captures the user decision needed to retry, escalate or end the route safely.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4. The forms turn business rules into visible and testable Tasklist behaviour.</a:t>
            </a: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9695" y="1701165"/>
            <a:ext cx="9507855" cy="49193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Feedback Improvement: Data Persistence 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14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81150"/>
            <a:ext cx="2667000" cy="295275"/>
          </a:xfrm>
          <a:prstGeom prst="roundRect">
            <a:avLst>
              <a:gd name="adj" fmla="val 1935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8C95"/>
                </a:solidFill>
              </a:defRPr>
            </a:defPPr>
            <a:lvl1pPr algn="ctr">
              <a:defRPr sz="1050" b="1">
                <a:solidFill>
                  <a:srgbClr val="008C95"/>
                </a:solidFill>
              </a:defRPr>
            </a:lvl1pPr>
            <a:lvl2pPr algn="ctr">
              <a:defRPr sz="1050" b="1">
                <a:solidFill>
                  <a:srgbClr val="008C95"/>
                </a:solidFill>
              </a:defRPr>
            </a:lvl2pPr>
            <a:lvl3pPr algn="ctr">
              <a:defRPr sz="1050" b="1">
                <a:solidFill>
                  <a:srgbClr val="008C95"/>
                </a:solidFill>
              </a:defRPr>
            </a:lvl3pPr>
            <a:lvl4pPr algn="ctr">
              <a:defRPr sz="1050" b="1">
                <a:solidFill>
                  <a:srgbClr val="008C95"/>
                </a:solidFill>
              </a:defRPr>
            </a:lvl4pPr>
            <a:lvl5pPr algn="ctr">
              <a:defRPr sz="1050" b="1">
                <a:solidFill>
                  <a:srgbClr val="008C95"/>
                </a:solidFill>
              </a:defRPr>
            </a:lvl5pPr>
            <a:lvl6pPr algn="ctr">
              <a:defRPr sz="1050" b="1">
                <a:solidFill>
                  <a:srgbClr val="008C95"/>
                </a:solidFill>
              </a:defRPr>
            </a:lvl6pPr>
            <a:lvl7pPr algn="ctr">
              <a:defRPr sz="1050" b="1">
                <a:solidFill>
                  <a:srgbClr val="008C95"/>
                </a:solidFill>
              </a:defRPr>
            </a:lvl7pPr>
            <a:lvl8pPr algn="ctr">
              <a:defRPr sz="1050" b="1">
                <a:solidFill>
                  <a:srgbClr val="008C95"/>
                </a:solidFill>
              </a:defRPr>
            </a:lvl8pPr>
            <a:lvl9pPr algn="ctr">
              <a:defRPr sz="1050" b="1">
                <a:solidFill>
                  <a:srgbClr val="008C95"/>
                </a:solidFill>
              </a:defRPr>
            </a:lvl9pPr>
          </a:lstStyle>
          <a:p>
            <a:pPr algn="ct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Response to Feedback | Wu Tongyu and SR4</a:t>
            </a:r>
            <a:endParaRPr sz="1050" b="1">
              <a:solidFill>
                <a:srgbClr val="008C9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952625"/>
            <a:ext cx="318135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1. A file-backed H2 database stores application data after the worker stops.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2. The system reads the existing record with patientId, combines it with current task values, then saves the updated record.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3. A reopening test confirms that a new repository instance can recover an earlier record.</a:t>
            </a:r>
            <a:endParaRPr sz="1350" b="0">
              <a:solidFill>
                <a:srgbClr val="172B4D"/>
              </a:solidFill>
            </a:endParaRPr>
          </a:p>
          <a:p>
            <a:endParaRPr sz="1350"/>
          </a:p>
          <a:p>
            <a:pPr algn="l">
              <a:defRPr sz="1350" b="0">
                <a:solidFill>
                  <a:srgbClr val="172B4D"/>
                </a:solidFill>
              </a:defRPr>
            </a:pPr>
            <a:endParaRPr sz="1350" b="0">
              <a:solidFill>
                <a:srgbClr val="172B4D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5730" y="1845310"/>
            <a:ext cx="8128000" cy="3575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Project Plan: Baseline, Actual Progress and SU3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15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81150"/>
            <a:ext cx="2667000" cy="295275"/>
          </a:xfrm>
          <a:prstGeom prst="roundRect">
            <a:avLst>
              <a:gd name="adj" fmla="val 1935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8C95"/>
                </a:solidFill>
              </a:defRPr>
            </a:defPPr>
            <a:lvl1pPr algn="ctr">
              <a:defRPr sz="1050" b="1">
                <a:solidFill>
                  <a:srgbClr val="008C95"/>
                </a:solidFill>
              </a:defRPr>
            </a:lvl1pPr>
            <a:lvl2pPr algn="ctr">
              <a:defRPr sz="1050" b="1">
                <a:solidFill>
                  <a:srgbClr val="008C95"/>
                </a:solidFill>
              </a:defRPr>
            </a:lvl2pPr>
            <a:lvl3pPr algn="ctr">
              <a:defRPr sz="1050" b="1">
                <a:solidFill>
                  <a:srgbClr val="008C95"/>
                </a:solidFill>
              </a:defRPr>
            </a:lvl3pPr>
            <a:lvl4pPr algn="ctr">
              <a:defRPr sz="1050" b="1">
                <a:solidFill>
                  <a:srgbClr val="008C95"/>
                </a:solidFill>
              </a:defRPr>
            </a:lvl4pPr>
            <a:lvl5pPr algn="ctr">
              <a:defRPr sz="1050" b="1">
                <a:solidFill>
                  <a:srgbClr val="008C95"/>
                </a:solidFill>
              </a:defRPr>
            </a:lvl5pPr>
            <a:lvl6pPr algn="ctr">
              <a:defRPr sz="1050" b="1">
                <a:solidFill>
                  <a:srgbClr val="008C95"/>
                </a:solidFill>
              </a:defRPr>
            </a:lvl6pPr>
            <a:lvl7pPr algn="ctr">
              <a:defRPr sz="1050" b="1">
                <a:solidFill>
                  <a:srgbClr val="008C95"/>
                </a:solidFill>
              </a:defRPr>
            </a:lvl7pPr>
            <a:lvl8pPr algn="ctr">
              <a:defRPr sz="1050" b="1">
                <a:solidFill>
                  <a:srgbClr val="008C95"/>
                </a:solidFill>
              </a:defRPr>
            </a:lvl8pPr>
            <a:lvl9pPr algn="ctr">
              <a:defRPr sz="1050" b="1">
                <a:solidFill>
                  <a:srgbClr val="008C95"/>
                </a:solidFill>
              </a:defRPr>
            </a:lvl9pPr>
          </a:lstStyle>
          <a:p>
            <a:pPr algn="ct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Project Plan Evaluation | SU3 embedded</a:t>
            </a:r>
            <a:endParaRPr sz="1050" b="1">
              <a:solidFill>
                <a:srgbClr val="008C95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66750" y="2000250"/>
            <a:ext cx="22860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02A43"/>
                </a:solidFill>
              </a:defRPr>
            </a:defPPr>
            <a:lvl1pPr algn="ctr">
              <a:defRPr sz="1275" b="1">
                <a:solidFill>
                  <a:srgbClr val="102A43"/>
                </a:solidFill>
              </a:defRPr>
            </a:lvl1pPr>
            <a:lvl2pPr algn="ctr">
              <a:defRPr sz="1275" b="1">
                <a:solidFill>
                  <a:srgbClr val="102A43"/>
                </a:solidFill>
              </a:defRPr>
            </a:lvl2pPr>
            <a:lvl3pPr algn="ctr">
              <a:defRPr sz="1275" b="1">
                <a:solidFill>
                  <a:srgbClr val="102A43"/>
                </a:solidFill>
              </a:defRPr>
            </a:lvl3pPr>
            <a:lvl4pPr algn="ctr">
              <a:defRPr sz="1275" b="1">
                <a:solidFill>
                  <a:srgbClr val="102A43"/>
                </a:solidFill>
              </a:defRPr>
            </a:lvl4pPr>
            <a:lvl5pPr algn="ctr">
              <a:defRPr sz="1275" b="1">
                <a:solidFill>
                  <a:srgbClr val="102A43"/>
                </a:solidFill>
              </a:defRPr>
            </a:lvl5pPr>
            <a:lvl6pPr algn="ctr">
              <a:defRPr sz="1275" b="1">
                <a:solidFill>
                  <a:srgbClr val="102A43"/>
                </a:solidFill>
              </a:defRPr>
            </a:lvl6pPr>
            <a:lvl7pPr algn="ctr">
              <a:defRPr sz="1275" b="1">
                <a:solidFill>
                  <a:srgbClr val="102A43"/>
                </a:solidFill>
              </a:defRPr>
            </a:lvl7pPr>
            <a:lvl8pPr algn="ctr">
              <a:defRPr sz="1275" b="1">
                <a:solidFill>
                  <a:srgbClr val="102A43"/>
                </a:solidFill>
              </a:defRPr>
            </a:lvl8pPr>
            <a:lvl9pPr algn="ctr">
              <a:defRPr sz="1275" b="1">
                <a:solidFill>
                  <a:srgbClr val="102A43"/>
                </a:solidFill>
              </a:defRPr>
            </a:lvl9pPr>
          </a:lstStyle>
          <a:p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Initial plan</a:t>
            </a:r>
            <a:endParaRPr sz="1275" b="1">
              <a:solidFill>
                <a:srgbClr val="102A43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238500" y="2133600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172B4D"/>
                </a:solidFill>
              </a:defRPr>
            </a:defPPr>
            <a:lvl1pPr algn="l">
              <a:defRPr sz="1275" b="0">
                <a:solidFill>
                  <a:srgbClr val="172B4D"/>
                </a:solidFill>
              </a:defRPr>
            </a:lvl1pPr>
            <a:lvl2pPr algn="l">
              <a:defRPr sz="1275" b="0">
                <a:solidFill>
                  <a:srgbClr val="172B4D"/>
                </a:solidFill>
              </a:defRPr>
            </a:lvl2pPr>
            <a:lvl3pPr algn="l">
              <a:defRPr sz="1275" b="0">
                <a:solidFill>
                  <a:srgbClr val="172B4D"/>
                </a:solidFill>
              </a:defRPr>
            </a:lvl3pPr>
            <a:lvl4pPr algn="l">
              <a:defRPr sz="1275" b="0">
                <a:solidFill>
                  <a:srgbClr val="172B4D"/>
                </a:solidFill>
              </a:defRPr>
            </a:lvl4pPr>
            <a:lvl5pPr algn="l">
              <a:defRPr sz="1275" b="0">
                <a:solidFill>
                  <a:srgbClr val="172B4D"/>
                </a:solidFill>
              </a:defRPr>
            </a:lvl5pPr>
            <a:lvl6pPr algn="l">
              <a:defRPr sz="1275" b="0">
                <a:solidFill>
                  <a:srgbClr val="172B4D"/>
                </a:solidFill>
              </a:defRPr>
            </a:lvl6pPr>
            <a:lvl7pPr algn="l">
              <a:defRPr sz="1275" b="0">
                <a:solidFill>
                  <a:srgbClr val="172B4D"/>
                </a:solidFill>
              </a:defRPr>
            </a:lvl7pPr>
            <a:lvl8pPr algn="l">
              <a:defRPr sz="1275" b="0">
                <a:solidFill>
                  <a:srgbClr val="172B4D"/>
                </a:solidFill>
              </a:defRPr>
            </a:lvl8pPr>
            <a:lvl9pPr algn="l">
              <a:defRPr sz="1275" b="0">
                <a:solidFill>
                  <a:srgbClr val="172B4D"/>
                </a:solidFill>
              </a:defRPr>
            </a:lvl9pPr>
          </a:lstStyle>
          <a:p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Model requirements, ownership and an executable BPMN increment</a:t>
            </a:r>
            <a:endParaRPr sz="1275" b="0">
              <a:solidFill>
                <a:srgbClr val="172B4D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524750" y="2133600"/>
            <a:ext cx="333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52616B"/>
                </a:solidFill>
              </a:defRPr>
            </a:defPPr>
            <a:lvl1pPr algn="l">
              <a:defRPr sz="1275" b="0">
                <a:solidFill>
                  <a:srgbClr val="52616B"/>
                </a:solidFill>
              </a:defRPr>
            </a:lvl1pPr>
            <a:lvl2pPr algn="l">
              <a:defRPr sz="1275" b="0">
                <a:solidFill>
                  <a:srgbClr val="52616B"/>
                </a:solidFill>
              </a:defRPr>
            </a:lvl2pPr>
            <a:lvl3pPr algn="l">
              <a:defRPr sz="1275" b="0">
                <a:solidFill>
                  <a:srgbClr val="52616B"/>
                </a:solidFill>
              </a:defRPr>
            </a:lvl3pPr>
            <a:lvl4pPr algn="l">
              <a:defRPr sz="1275" b="0">
                <a:solidFill>
                  <a:srgbClr val="52616B"/>
                </a:solidFill>
              </a:defRPr>
            </a:lvl4pPr>
            <a:lvl5pPr algn="l">
              <a:defRPr sz="1275" b="0">
                <a:solidFill>
                  <a:srgbClr val="52616B"/>
                </a:solidFill>
              </a:defRPr>
            </a:lvl5pPr>
            <a:lvl6pPr algn="l">
              <a:defRPr sz="1275" b="0">
                <a:solidFill>
                  <a:srgbClr val="52616B"/>
                </a:solidFill>
              </a:defRPr>
            </a:lvl6pPr>
            <a:lvl7pPr algn="l">
              <a:defRPr sz="1275" b="0">
                <a:solidFill>
                  <a:srgbClr val="52616B"/>
                </a:solidFill>
              </a:defRPr>
            </a:lvl7pPr>
            <a:lvl8pPr algn="l">
              <a:defRPr sz="1275" b="0">
                <a:solidFill>
                  <a:srgbClr val="52616B"/>
                </a:solidFill>
              </a:defRPr>
            </a:lvl8pPr>
            <a:lvl9pPr algn="l">
              <a:defRPr sz="1275" b="0">
                <a:solidFill>
                  <a:srgbClr val="52616B"/>
                </a:solidFill>
              </a:defRPr>
            </a:lvl9pPr>
          </a:lstStyle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All domain routes represented</a:t>
            </a:r>
            <a:endParaRPr sz="1275" b="0">
              <a:solidFill>
                <a:srgbClr val="52616B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66750" y="3105150"/>
            <a:ext cx="2286000" cy="914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102A43"/>
                </a:solidFill>
              </a:defRPr>
            </a:defPPr>
            <a:lvl1pPr algn="ctr">
              <a:defRPr sz="1275" b="1">
                <a:solidFill>
                  <a:srgbClr val="102A43"/>
                </a:solidFill>
              </a:defRPr>
            </a:lvl1pPr>
            <a:lvl2pPr algn="ctr">
              <a:defRPr sz="1275" b="1">
                <a:solidFill>
                  <a:srgbClr val="102A43"/>
                </a:solidFill>
              </a:defRPr>
            </a:lvl2pPr>
            <a:lvl3pPr algn="ctr">
              <a:defRPr sz="1275" b="1">
                <a:solidFill>
                  <a:srgbClr val="102A43"/>
                </a:solidFill>
              </a:defRPr>
            </a:lvl3pPr>
            <a:lvl4pPr algn="ctr">
              <a:defRPr sz="1275" b="1">
                <a:solidFill>
                  <a:srgbClr val="102A43"/>
                </a:solidFill>
              </a:defRPr>
            </a:lvl4pPr>
            <a:lvl5pPr algn="ctr">
              <a:defRPr sz="1275" b="1">
                <a:solidFill>
                  <a:srgbClr val="102A43"/>
                </a:solidFill>
              </a:defRPr>
            </a:lvl5pPr>
            <a:lvl6pPr algn="ctr">
              <a:defRPr sz="1275" b="1">
                <a:solidFill>
                  <a:srgbClr val="102A43"/>
                </a:solidFill>
              </a:defRPr>
            </a:lvl6pPr>
            <a:lvl7pPr algn="ctr">
              <a:defRPr sz="1275" b="1">
                <a:solidFill>
                  <a:srgbClr val="102A43"/>
                </a:solidFill>
              </a:defRPr>
            </a:lvl7pPr>
            <a:lvl8pPr algn="ctr">
              <a:defRPr sz="1275" b="1">
                <a:solidFill>
                  <a:srgbClr val="102A43"/>
                </a:solidFill>
              </a:defRPr>
            </a:lvl8pPr>
            <a:lvl9pPr algn="ctr">
              <a:defRPr sz="1275" b="1">
                <a:solidFill>
                  <a:srgbClr val="102A43"/>
                </a:solidFill>
              </a:defRPr>
            </a:lvl9pPr>
          </a:lstStyle>
          <a:p>
            <a:pPr algn="ctr">
              <a:defRPr sz="1275" b="1">
                <a:solidFill>
                  <a:srgbClr val="102A43"/>
                </a:solidFill>
              </a:defRPr>
            </a:pPr>
            <a:r>
              <a:rPr sz="1275" b="1">
                <a:solidFill>
                  <a:srgbClr val="102A43"/>
                </a:solidFill>
              </a:rPr>
              <a:t>Release 1 plan</a:t>
            </a:r>
            <a:endParaRPr sz="1275" b="1">
              <a:solidFill>
                <a:srgbClr val="102A4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238500" y="3238500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172B4D"/>
                </a:solidFill>
              </a:defRPr>
            </a:defPPr>
            <a:lvl1pPr algn="l">
              <a:defRPr sz="1275" b="0">
                <a:solidFill>
                  <a:srgbClr val="172B4D"/>
                </a:solidFill>
              </a:defRPr>
            </a:lvl1pPr>
            <a:lvl2pPr algn="l">
              <a:defRPr sz="1275" b="0">
                <a:solidFill>
                  <a:srgbClr val="172B4D"/>
                </a:solidFill>
              </a:defRPr>
            </a:lvl2pPr>
            <a:lvl3pPr algn="l">
              <a:defRPr sz="1275" b="0">
                <a:solidFill>
                  <a:srgbClr val="172B4D"/>
                </a:solidFill>
              </a:defRPr>
            </a:lvl3pPr>
            <a:lvl4pPr algn="l">
              <a:defRPr sz="1275" b="0">
                <a:solidFill>
                  <a:srgbClr val="172B4D"/>
                </a:solidFill>
              </a:defRPr>
            </a:lvl4pPr>
            <a:lvl5pPr algn="l">
              <a:defRPr sz="1275" b="0">
                <a:solidFill>
                  <a:srgbClr val="172B4D"/>
                </a:solidFill>
              </a:defRPr>
            </a:lvl5pPr>
            <a:lvl6pPr algn="l">
              <a:defRPr sz="1275" b="0">
                <a:solidFill>
                  <a:srgbClr val="172B4D"/>
                </a:solidFill>
              </a:defRPr>
            </a:lvl6pPr>
            <a:lvl7pPr algn="l">
              <a:defRPr sz="1275" b="0">
                <a:solidFill>
                  <a:srgbClr val="172B4D"/>
                </a:solidFill>
              </a:defRPr>
            </a:lvl7pPr>
            <a:lvl8pPr algn="l">
              <a:defRPr sz="1275" b="0">
                <a:solidFill>
                  <a:srgbClr val="172B4D"/>
                </a:solidFill>
              </a:defRPr>
            </a:lvl8pPr>
            <a:lvl9pPr algn="l">
              <a:defRPr sz="1275" b="0">
                <a:solidFill>
                  <a:srgbClr val="172B4D"/>
                </a:solidFill>
              </a:defRPr>
            </a:lvl9pPr>
          </a:lstStyle>
          <a:p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Forms, workers, gateway conditions and integrated runtime</a:t>
            </a:r>
            <a:endParaRPr sz="1275" b="0">
              <a:solidFill>
                <a:srgbClr val="172B4D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524750" y="3238500"/>
            <a:ext cx="333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52616B"/>
                </a:solidFill>
              </a:defRPr>
            </a:defPPr>
            <a:lvl1pPr algn="l">
              <a:defRPr sz="1275" b="0">
                <a:solidFill>
                  <a:srgbClr val="52616B"/>
                </a:solidFill>
              </a:defRPr>
            </a:lvl1pPr>
            <a:lvl2pPr algn="l">
              <a:defRPr sz="1275" b="0">
                <a:solidFill>
                  <a:srgbClr val="52616B"/>
                </a:solidFill>
              </a:defRPr>
            </a:lvl2pPr>
            <a:lvl3pPr algn="l">
              <a:defRPr sz="1275" b="0">
                <a:solidFill>
                  <a:srgbClr val="52616B"/>
                </a:solidFill>
              </a:defRPr>
            </a:lvl3pPr>
            <a:lvl4pPr algn="l">
              <a:defRPr sz="1275" b="0">
                <a:solidFill>
                  <a:srgbClr val="52616B"/>
                </a:solidFill>
              </a:defRPr>
            </a:lvl4pPr>
            <a:lvl5pPr algn="l">
              <a:defRPr sz="1275" b="0">
                <a:solidFill>
                  <a:srgbClr val="52616B"/>
                </a:solidFill>
              </a:defRPr>
            </a:lvl5pPr>
            <a:lvl6pPr algn="l">
              <a:defRPr sz="1275" b="0">
                <a:solidFill>
                  <a:srgbClr val="52616B"/>
                </a:solidFill>
              </a:defRPr>
            </a:lvl6pPr>
            <a:lvl7pPr algn="l">
              <a:defRPr sz="1275" b="0">
                <a:solidFill>
                  <a:srgbClr val="52616B"/>
                </a:solidFill>
              </a:defRPr>
            </a:lvl7pPr>
            <a:lvl8pPr algn="l">
              <a:defRPr sz="1275" b="0">
                <a:solidFill>
                  <a:srgbClr val="52616B"/>
                </a:solidFill>
              </a:defRPr>
            </a:lvl8pPr>
            <a:lvl9pPr algn="l">
              <a:defRPr sz="1275" b="0">
                <a:solidFill>
                  <a:srgbClr val="52616B"/>
                </a:solidFill>
              </a:defRPr>
            </a:lvl9pPr>
          </a:lstStyle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System ready for first demonstration</a:t>
            </a:r>
            <a:endParaRPr sz="1275" b="0">
              <a:solidFill>
                <a:srgbClr val="52616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66750" y="4210050"/>
            <a:ext cx="2286000" cy="914400"/>
          </a:xfrm>
          <a:prstGeom prst="roundRect">
            <a:avLst>
              <a:gd name="adj" fmla="val 6250"/>
            </a:avLst>
          </a:prstGeom>
          <a:solidFill>
            <a:srgbClr val="D8F3F0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275" b="1">
                <a:solidFill>
                  <a:srgbClr val="008C95"/>
                </a:solidFill>
              </a:defRPr>
            </a:defPPr>
            <a:lvl1pPr algn="ctr">
              <a:defRPr sz="1275" b="1">
                <a:solidFill>
                  <a:srgbClr val="008C95"/>
                </a:solidFill>
              </a:defRPr>
            </a:lvl1pPr>
            <a:lvl2pPr algn="ctr">
              <a:defRPr sz="1275" b="1">
                <a:solidFill>
                  <a:srgbClr val="008C95"/>
                </a:solidFill>
              </a:defRPr>
            </a:lvl2pPr>
            <a:lvl3pPr algn="ctr">
              <a:defRPr sz="1275" b="1">
                <a:solidFill>
                  <a:srgbClr val="008C95"/>
                </a:solidFill>
              </a:defRPr>
            </a:lvl3pPr>
            <a:lvl4pPr algn="ctr">
              <a:defRPr sz="1275" b="1">
                <a:solidFill>
                  <a:srgbClr val="008C95"/>
                </a:solidFill>
              </a:defRPr>
            </a:lvl4pPr>
            <a:lvl5pPr algn="ctr">
              <a:defRPr sz="1275" b="1">
                <a:solidFill>
                  <a:srgbClr val="008C95"/>
                </a:solidFill>
              </a:defRPr>
            </a:lvl5pPr>
            <a:lvl6pPr algn="ctr">
              <a:defRPr sz="1275" b="1">
                <a:solidFill>
                  <a:srgbClr val="008C95"/>
                </a:solidFill>
              </a:defRPr>
            </a:lvl6pPr>
            <a:lvl7pPr algn="ctr">
              <a:defRPr sz="1275" b="1">
                <a:solidFill>
                  <a:srgbClr val="008C95"/>
                </a:solidFill>
              </a:defRPr>
            </a:lvl7pPr>
            <a:lvl8pPr algn="ctr">
              <a:defRPr sz="1275" b="1">
                <a:solidFill>
                  <a:srgbClr val="008C95"/>
                </a:solidFill>
              </a:defRPr>
            </a:lvl8pPr>
            <a:lvl9pPr algn="ctr">
              <a:defRPr sz="1275" b="1">
                <a:solidFill>
                  <a:srgbClr val="008C95"/>
                </a:solidFill>
              </a:defRPr>
            </a:lvl9pPr>
          </a:lstStyle>
          <a:p>
            <a:pPr algn="ctr"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Actual Release 2</a:t>
            </a:r>
            <a:endParaRPr sz="1275" b="1">
              <a:solidFill>
                <a:srgbClr val="008C9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38500" y="4343400"/>
            <a:ext cx="4000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172B4D"/>
                </a:solidFill>
              </a:defRPr>
            </a:defPPr>
            <a:lvl1pPr algn="l">
              <a:defRPr sz="1275" b="0">
                <a:solidFill>
                  <a:srgbClr val="172B4D"/>
                </a:solidFill>
              </a:defRPr>
            </a:lvl1pPr>
            <a:lvl2pPr algn="l">
              <a:defRPr sz="1275" b="0">
                <a:solidFill>
                  <a:srgbClr val="172B4D"/>
                </a:solidFill>
              </a:defRPr>
            </a:lvl2pPr>
            <a:lvl3pPr algn="l">
              <a:defRPr sz="1275" b="0">
                <a:solidFill>
                  <a:srgbClr val="172B4D"/>
                </a:solidFill>
              </a:defRPr>
            </a:lvl3pPr>
            <a:lvl4pPr algn="l">
              <a:defRPr sz="1275" b="0">
                <a:solidFill>
                  <a:srgbClr val="172B4D"/>
                </a:solidFill>
              </a:defRPr>
            </a:lvl4pPr>
            <a:lvl5pPr algn="l">
              <a:defRPr sz="1275" b="0">
                <a:solidFill>
                  <a:srgbClr val="172B4D"/>
                </a:solidFill>
              </a:defRPr>
            </a:lvl5pPr>
            <a:lvl6pPr algn="l">
              <a:defRPr sz="1275" b="0">
                <a:solidFill>
                  <a:srgbClr val="172B4D"/>
                </a:solidFill>
              </a:defRPr>
            </a:lvl6pPr>
            <a:lvl7pPr algn="l">
              <a:defRPr sz="1275" b="0">
                <a:solidFill>
                  <a:srgbClr val="172B4D"/>
                </a:solidFill>
              </a:defRPr>
            </a:lvl7pPr>
            <a:lvl8pPr algn="l">
              <a:defRPr sz="1275" b="0">
                <a:solidFill>
                  <a:srgbClr val="172B4D"/>
                </a:solidFill>
              </a:defRPr>
            </a:lvl8pPr>
            <a:lvl9pPr algn="l">
              <a:defRPr sz="1275" b="0">
                <a:solidFill>
                  <a:srgbClr val="172B4D"/>
                </a:solidFill>
              </a:defRPr>
            </a:lvl9pPr>
          </a:lstStyle>
          <a:p>
            <a:pPr algn="l">
              <a:defRPr sz="1275" b="0">
                <a:solidFill>
                  <a:srgbClr val="172B4D"/>
                </a:solidFill>
              </a:defRPr>
            </a:pPr>
            <a:r>
              <a:rPr sz="1275" b="0">
                <a:solidFill>
                  <a:srgbClr val="172B4D"/>
                </a:solidFill>
              </a:rPr>
              <a:t>API intake, validation, merging controls, persistence and testing</a:t>
            </a:r>
            <a:endParaRPr sz="1275" b="0">
              <a:solidFill>
                <a:srgbClr val="172B4D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524750" y="4343400"/>
            <a:ext cx="333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52616B"/>
                </a:solidFill>
              </a:defRPr>
            </a:defPPr>
            <a:lvl1pPr algn="l">
              <a:defRPr sz="1275" b="0">
                <a:solidFill>
                  <a:srgbClr val="52616B"/>
                </a:solidFill>
              </a:defRPr>
            </a:lvl1pPr>
            <a:lvl2pPr algn="l">
              <a:defRPr sz="1275" b="0">
                <a:solidFill>
                  <a:srgbClr val="52616B"/>
                </a:solidFill>
              </a:defRPr>
            </a:lvl2pPr>
            <a:lvl3pPr algn="l">
              <a:defRPr sz="1275" b="0">
                <a:solidFill>
                  <a:srgbClr val="52616B"/>
                </a:solidFill>
              </a:defRPr>
            </a:lvl3pPr>
            <a:lvl4pPr algn="l">
              <a:defRPr sz="1275" b="0">
                <a:solidFill>
                  <a:srgbClr val="52616B"/>
                </a:solidFill>
              </a:defRPr>
            </a:lvl4pPr>
            <a:lvl5pPr algn="l">
              <a:defRPr sz="1275" b="0">
                <a:solidFill>
                  <a:srgbClr val="52616B"/>
                </a:solidFill>
              </a:defRPr>
            </a:lvl5pPr>
            <a:lvl6pPr algn="l">
              <a:defRPr sz="1275" b="0">
                <a:solidFill>
                  <a:srgbClr val="52616B"/>
                </a:solidFill>
              </a:defRPr>
            </a:lvl6pPr>
            <a:lvl7pPr algn="l">
              <a:defRPr sz="1275" b="0">
                <a:solidFill>
                  <a:srgbClr val="52616B"/>
                </a:solidFill>
              </a:defRPr>
            </a:lvl7pPr>
            <a:lvl8pPr algn="l">
              <a:defRPr sz="1275" b="0">
                <a:solidFill>
                  <a:srgbClr val="52616B"/>
                </a:solidFill>
              </a:defRPr>
            </a:lvl8pPr>
            <a:lvl9pPr algn="l">
              <a:defRPr sz="1275" b="0">
                <a:solidFill>
                  <a:srgbClr val="52616B"/>
                </a:solidFill>
              </a:defRPr>
            </a:lvl9pPr>
          </a:lstStyle>
          <a:p>
            <a:pPr algn="l">
              <a:defRPr sz="1275" b="0">
                <a:solidFill>
                  <a:srgbClr val="52616B"/>
                </a:solidFill>
              </a:defRPr>
            </a:pPr>
            <a:r>
              <a:rPr sz="1275" b="0">
                <a:solidFill>
                  <a:srgbClr val="52616B"/>
                </a:solidFill>
              </a:rPr>
              <a:t>Feedback converted into implemented improvements</a:t>
            </a:r>
            <a:endParaRPr sz="1275" b="0">
              <a:solidFill>
                <a:srgbClr val="52616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66750" y="5360670"/>
            <a:ext cx="10096500" cy="6781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1">
                <a:solidFill>
                  <a:srgbClr val="008C95"/>
                </a:solidFill>
              </a:defRPr>
            </a:defPPr>
            <a:lvl1pPr algn="l">
              <a:defRPr sz="1200" b="1">
                <a:solidFill>
                  <a:srgbClr val="008C95"/>
                </a:solidFill>
              </a:defRPr>
            </a:lvl1pPr>
            <a:lvl2pPr algn="l">
              <a:defRPr sz="1200" b="1">
                <a:solidFill>
                  <a:srgbClr val="008C95"/>
                </a:solidFill>
              </a:defRPr>
            </a:lvl2pPr>
            <a:lvl3pPr algn="l">
              <a:defRPr sz="1200" b="1">
                <a:solidFill>
                  <a:srgbClr val="008C95"/>
                </a:solidFill>
              </a:defRPr>
            </a:lvl3pPr>
            <a:lvl4pPr algn="l">
              <a:defRPr sz="1200" b="1">
                <a:solidFill>
                  <a:srgbClr val="008C95"/>
                </a:solidFill>
              </a:defRPr>
            </a:lvl4pPr>
            <a:lvl5pPr algn="l">
              <a:defRPr sz="1200" b="1">
                <a:solidFill>
                  <a:srgbClr val="008C95"/>
                </a:solidFill>
              </a:defRPr>
            </a:lvl5pPr>
            <a:lvl6pPr algn="l">
              <a:defRPr sz="1200" b="1">
                <a:solidFill>
                  <a:srgbClr val="008C95"/>
                </a:solidFill>
              </a:defRPr>
            </a:lvl6pPr>
            <a:lvl7pPr algn="l">
              <a:defRPr sz="1200" b="1">
                <a:solidFill>
                  <a:srgbClr val="008C95"/>
                </a:solidFill>
              </a:defRPr>
            </a:lvl7pPr>
            <a:lvl8pPr algn="l">
              <a:defRPr sz="1200" b="1">
                <a:solidFill>
                  <a:srgbClr val="008C95"/>
                </a:solidFill>
              </a:defRPr>
            </a:lvl8pPr>
            <a:lvl9pPr algn="l">
              <a:defRPr sz="1200" b="1">
                <a:solidFill>
                  <a:srgbClr val="008C95"/>
                </a:solidFill>
              </a:defRPr>
            </a:lvl9pPr>
          </a:lstStyle>
          <a:p>
            <a:pPr algn="l"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update: each person reported completed work, next integration action, blocker and second-owner support. The evidence sits with the related contribution slides rather than in one separate section.</a:t>
            </a:r>
            <a:endParaRPr sz="1200" b="1">
              <a:solidFill>
                <a:srgbClr val="008C95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矩形 14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Technical Implementation: API to BPMN Decision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18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81150"/>
            <a:ext cx="2667000" cy="295275"/>
          </a:xfrm>
          <a:prstGeom prst="roundRect">
            <a:avLst>
              <a:gd name="adj" fmla="val 1935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8C95"/>
                </a:solidFill>
              </a:defRPr>
            </a:defPPr>
            <a:lvl1pPr algn="ctr">
              <a:defRPr sz="1050" b="1">
                <a:solidFill>
                  <a:srgbClr val="008C95"/>
                </a:solidFill>
              </a:defRPr>
            </a:lvl1pPr>
            <a:lvl2pPr algn="ctr">
              <a:defRPr sz="1050" b="1">
                <a:solidFill>
                  <a:srgbClr val="008C95"/>
                </a:solidFill>
              </a:defRPr>
            </a:lvl2pPr>
            <a:lvl3pPr algn="ctr">
              <a:defRPr sz="1050" b="1">
                <a:solidFill>
                  <a:srgbClr val="008C95"/>
                </a:solidFill>
              </a:defRPr>
            </a:lvl3pPr>
            <a:lvl4pPr algn="ctr">
              <a:defRPr sz="1050" b="1">
                <a:solidFill>
                  <a:srgbClr val="008C95"/>
                </a:solidFill>
              </a:defRPr>
            </a:lvl4pPr>
            <a:lvl5pPr algn="ctr">
              <a:defRPr sz="1050" b="1">
                <a:solidFill>
                  <a:srgbClr val="008C95"/>
                </a:solidFill>
              </a:defRPr>
            </a:lvl5pPr>
            <a:lvl6pPr algn="ctr">
              <a:defRPr sz="1050" b="1">
                <a:solidFill>
                  <a:srgbClr val="008C95"/>
                </a:solidFill>
              </a:defRPr>
            </a:lvl6pPr>
            <a:lvl7pPr algn="ctr">
              <a:defRPr sz="1050" b="1">
                <a:solidFill>
                  <a:srgbClr val="008C95"/>
                </a:solidFill>
              </a:defRPr>
            </a:lvl7pPr>
            <a:lvl8pPr algn="ctr">
              <a:defRPr sz="1050" b="1">
                <a:solidFill>
                  <a:srgbClr val="008C95"/>
                </a:solidFill>
              </a:defRPr>
            </a:lvl8pPr>
            <a:lvl9pPr algn="ctr">
              <a:defRPr sz="1050" b="1">
                <a:solidFill>
                  <a:srgbClr val="008C95"/>
                </a:solidFill>
              </a:defRPr>
            </a:lvl9pPr>
          </a:lstStyle>
          <a:p>
            <a:pPr algn="ct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How the API actually works</a:t>
            </a:r>
            <a:endParaRPr sz="1050" b="1">
              <a:solidFill>
                <a:srgbClr val="008C9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7526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The Mock API returns one BPMN-safe patient object. The HTTP connector stores the JSON fields as process variables. Tasklist then captures the human decision. The XOR gateway evaluates that decision.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14375" y="2543175"/>
            <a:ext cx="4714875" cy="1809750"/>
          </a:xfrm>
          <a:prstGeom prst="roundRect">
            <a:avLst>
              <a:gd name="adj" fmla="val 3158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E5E7EB"/>
                </a:solidFill>
              </a:defRPr>
            </a:defPPr>
            <a:lvl1pPr algn="l">
              <a:defRPr sz="1125" b="0">
                <a:solidFill>
                  <a:srgbClr val="E5E7EB"/>
                </a:solidFill>
              </a:defRPr>
            </a:lvl1pPr>
            <a:lvl2pPr algn="l">
              <a:defRPr sz="1125" b="0">
                <a:solidFill>
                  <a:srgbClr val="E5E7EB"/>
                </a:solidFill>
              </a:defRPr>
            </a:lvl2pPr>
            <a:lvl3pPr algn="l">
              <a:defRPr sz="1125" b="0">
                <a:solidFill>
                  <a:srgbClr val="E5E7EB"/>
                </a:solidFill>
              </a:defRPr>
            </a:lvl3pPr>
            <a:lvl4pPr algn="l">
              <a:defRPr sz="1125" b="0">
                <a:solidFill>
                  <a:srgbClr val="E5E7EB"/>
                </a:solidFill>
              </a:defRPr>
            </a:lvl4pPr>
            <a:lvl5pPr algn="l">
              <a:defRPr sz="1125" b="0">
                <a:solidFill>
                  <a:srgbClr val="E5E7EB"/>
                </a:solidFill>
              </a:defRPr>
            </a:lvl5pPr>
            <a:lvl6pPr algn="l">
              <a:defRPr sz="1125" b="0">
                <a:solidFill>
                  <a:srgbClr val="E5E7EB"/>
                </a:solidFill>
              </a:defRPr>
            </a:lvl6pPr>
            <a:lvl7pPr algn="l">
              <a:defRPr sz="1125" b="0">
                <a:solidFill>
                  <a:srgbClr val="E5E7EB"/>
                </a:solidFill>
              </a:defRPr>
            </a:lvl7pPr>
            <a:lvl8pPr algn="l">
              <a:defRPr sz="1125" b="0">
                <a:solidFill>
                  <a:srgbClr val="E5E7EB"/>
                </a:solidFill>
              </a:defRPr>
            </a:lvl8pPr>
            <a:lvl9pPr algn="l">
              <a:defRPr sz="1125" b="0">
                <a:solidFill>
                  <a:srgbClr val="E5E7EB"/>
                </a:solidFill>
              </a:defRPr>
            </a:lvl9pPr>
          </a:lstStyle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if (req.method === "GET" &amp;&amp; req.url === "/patients/next") {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  res.writeHead(200, JSON_HEADER);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  res.end(JSON.stringify(nextPatient));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  return;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}</a:t>
            </a:r>
            <a:endParaRPr sz="1125" b="0">
              <a:solidFill>
                <a:srgbClr val="E5E7E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905500" y="2667000"/>
            <a:ext cx="1571625" cy="523875"/>
          </a:xfrm>
          <a:prstGeom prst="roundRect">
            <a:avLst>
              <a:gd name="adj" fmla="val 10909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08C95"/>
                </a:solidFill>
              </a:defRPr>
            </a:defPPr>
            <a:lvl1pPr algn="ctr">
              <a:defRPr sz="1350" b="1">
                <a:solidFill>
                  <a:srgbClr val="008C95"/>
                </a:solidFill>
              </a:defRPr>
            </a:lvl1pPr>
            <a:lvl2pPr algn="ctr">
              <a:defRPr sz="1350" b="1">
                <a:solidFill>
                  <a:srgbClr val="008C95"/>
                </a:solidFill>
              </a:defRPr>
            </a:lvl2pPr>
            <a:lvl3pPr algn="ctr">
              <a:defRPr sz="1350" b="1">
                <a:solidFill>
                  <a:srgbClr val="008C95"/>
                </a:solidFill>
              </a:defRPr>
            </a:lvl3pPr>
            <a:lvl4pPr algn="ctr">
              <a:defRPr sz="1350" b="1">
                <a:solidFill>
                  <a:srgbClr val="008C95"/>
                </a:solidFill>
              </a:defRPr>
            </a:lvl4pPr>
            <a:lvl5pPr algn="ctr">
              <a:defRPr sz="1350" b="1">
                <a:solidFill>
                  <a:srgbClr val="008C95"/>
                </a:solidFill>
              </a:defRPr>
            </a:lvl5pPr>
            <a:lvl6pPr algn="ctr">
              <a:defRPr sz="1350" b="1">
                <a:solidFill>
                  <a:srgbClr val="008C95"/>
                </a:solidFill>
              </a:defRPr>
            </a:lvl6pPr>
            <a:lvl7pPr algn="ctr">
              <a:defRPr sz="1350" b="1">
                <a:solidFill>
                  <a:srgbClr val="008C95"/>
                </a:solidFill>
              </a:defRPr>
            </a:lvl7pPr>
            <a:lvl8pPr algn="ctr">
              <a:defRPr sz="1350" b="1">
                <a:solidFill>
                  <a:srgbClr val="008C95"/>
                </a:solidFill>
              </a:defRPr>
            </a:lvl8pPr>
            <a:lvl9pPr algn="ctr">
              <a:defRPr sz="1350" b="1">
                <a:solidFill>
                  <a:srgbClr val="008C95"/>
                </a:solidFill>
              </a:defRPr>
            </a:lvl9pPr>
          </a:lstStyle>
          <a:p>
            <a:pPr algn="ctr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Postman Mock</a:t>
            </a:r>
            <a:endParaRPr sz="1350" b="1">
              <a:solidFill>
                <a:srgbClr val="008C95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715250" y="2667000"/>
            <a:ext cx="1571625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defRPr sz="1350" b="1">
                <a:solidFill>
                  <a:srgbClr val="102A43"/>
                </a:solidFill>
              </a:defRPr>
            </a:lvl1pPr>
            <a:lvl2pPr algn="ctr">
              <a:defRPr sz="1350" b="1">
                <a:solidFill>
                  <a:srgbClr val="102A43"/>
                </a:solidFill>
              </a:defRPr>
            </a:lvl2pPr>
            <a:lvl3pPr algn="ctr">
              <a:defRPr sz="1350" b="1">
                <a:solidFill>
                  <a:srgbClr val="102A43"/>
                </a:solidFill>
              </a:defRPr>
            </a:lvl3pPr>
            <a:lvl4pPr algn="ctr">
              <a:defRPr sz="1350" b="1">
                <a:solidFill>
                  <a:srgbClr val="102A43"/>
                </a:solidFill>
              </a:defRPr>
            </a:lvl4pPr>
            <a:lvl5pPr algn="ctr">
              <a:defRPr sz="1350" b="1">
                <a:solidFill>
                  <a:srgbClr val="102A43"/>
                </a:solidFill>
              </a:defRPr>
            </a:lvl5pPr>
            <a:lvl6pPr algn="ctr">
              <a:defRPr sz="1350" b="1">
                <a:solidFill>
                  <a:srgbClr val="102A43"/>
                </a:solidFill>
              </a:defRPr>
            </a:lvl6pPr>
            <a:lvl7pPr algn="ctr">
              <a:defRPr sz="1350" b="1">
                <a:solidFill>
                  <a:srgbClr val="102A43"/>
                </a:solidFill>
              </a:defRPr>
            </a:lvl7pPr>
            <a:lvl8pPr algn="ctr">
              <a:defRPr sz="1350" b="1">
                <a:solidFill>
                  <a:srgbClr val="102A43"/>
                </a:solidFill>
              </a:defRPr>
            </a:lvl8pPr>
            <a:lvl9pPr algn="ctr">
              <a:defRPr sz="1350" b="1">
                <a:solidFill>
                  <a:srgbClr val="102A43"/>
                </a:solidFill>
              </a:defRPr>
            </a:lvl9pPr>
          </a:lstStyle>
          <a:p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HTTP JSON</a:t>
            </a:r>
            <a:endParaRPr sz="1350" b="1">
              <a:solidFill>
                <a:srgbClr val="102A43"/>
              </a:solidFill>
            </a:endParaRPr>
          </a:p>
          <a:p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connector</a:t>
            </a:r>
            <a:endParaRPr sz="1350" b="1">
              <a:solidFill>
                <a:srgbClr val="102A43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9525000" y="2667000"/>
            <a:ext cx="1571625" cy="52387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defRPr sz="1350" b="1">
                <a:solidFill>
                  <a:srgbClr val="102A43"/>
                </a:solidFill>
              </a:defRPr>
            </a:lvl1pPr>
            <a:lvl2pPr algn="ctr">
              <a:defRPr sz="1350" b="1">
                <a:solidFill>
                  <a:srgbClr val="102A43"/>
                </a:solidFill>
              </a:defRPr>
            </a:lvl2pPr>
            <a:lvl3pPr algn="ctr">
              <a:defRPr sz="1350" b="1">
                <a:solidFill>
                  <a:srgbClr val="102A43"/>
                </a:solidFill>
              </a:defRPr>
            </a:lvl3pPr>
            <a:lvl4pPr algn="ctr">
              <a:defRPr sz="1350" b="1">
                <a:solidFill>
                  <a:srgbClr val="102A43"/>
                </a:solidFill>
              </a:defRPr>
            </a:lvl4pPr>
            <a:lvl5pPr algn="ctr">
              <a:defRPr sz="1350" b="1">
                <a:solidFill>
                  <a:srgbClr val="102A43"/>
                </a:solidFill>
              </a:defRPr>
            </a:lvl5pPr>
            <a:lvl6pPr algn="ctr">
              <a:defRPr sz="1350" b="1">
                <a:solidFill>
                  <a:srgbClr val="102A43"/>
                </a:solidFill>
              </a:defRPr>
            </a:lvl6pPr>
            <a:lvl7pPr algn="ctr">
              <a:defRPr sz="1350" b="1">
                <a:solidFill>
                  <a:srgbClr val="102A43"/>
                </a:solidFill>
              </a:defRPr>
            </a:lvl7pPr>
            <a:lvl8pPr algn="ctr">
              <a:defRPr sz="1350" b="1">
                <a:solidFill>
                  <a:srgbClr val="102A43"/>
                </a:solidFill>
              </a:defRPr>
            </a:lvl8pPr>
            <a:lvl9pPr algn="ctr">
              <a:defRPr sz="1350" b="1">
                <a:solidFill>
                  <a:srgbClr val="102A43"/>
                </a:solidFill>
              </a:defRPr>
            </a:lvl9pPr>
          </a:lstStyle>
          <a:p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BPMN variables</a:t>
            </a:r>
            <a:endParaRPr sz="1350" b="1">
              <a:solidFill>
                <a:srgbClr val="102A43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810375" y="3714750"/>
            <a:ext cx="1952625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C9D2DC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102A43"/>
                </a:solidFill>
              </a:defRPr>
            </a:defPPr>
            <a:lvl1pPr algn="ctr">
              <a:defRPr sz="1350" b="1">
                <a:solidFill>
                  <a:srgbClr val="102A43"/>
                </a:solidFill>
              </a:defRPr>
            </a:lvl1pPr>
            <a:lvl2pPr algn="ctr">
              <a:defRPr sz="1350" b="1">
                <a:solidFill>
                  <a:srgbClr val="102A43"/>
                </a:solidFill>
              </a:defRPr>
            </a:lvl2pPr>
            <a:lvl3pPr algn="ctr">
              <a:defRPr sz="1350" b="1">
                <a:solidFill>
                  <a:srgbClr val="102A43"/>
                </a:solidFill>
              </a:defRPr>
            </a:lvl3pPr>
            <a:lvl4pPr algn="ctr">
              <a:defRPr sz="1350" b="1">
                <a:solidFill>
                  <a:srgbClr val="102A43"/>
                </a:solidFill>
              </a:defRPr>
            </a:lvl4pPr>
            <a:lvl5pPr algn="ctr">
              <a:defRPr sz="1350" b="1">
                <a:solidFill>
                  <a:srgbClr val="102A43"/>
                </a:solidFill>
              </a:defRPr>
            </a:lvl5pPr>
            <a:lvl6pPr algn="ctr">
              <a:defRPr sz="1350" b="1">
                <a:solidFill>
                  <a:srgbClr val="102A43"/>
                </a:solidFill>
              </a:defRPr>
            </a:lvl6pPr>
            <a:lvl7pPr algn="ctr">
              <a:defRPr sz="1350" b="1">
                <a:solidFill>
                  <a:srgbClr val="102A43"/>
                </a:solidFill>
              </a:defRPr>
            </a:lvl7pPr>
            <a:lvl8pPr algn="ctr">
              <a:defRPr sz="1350" b="1">
                <a:solidFill>
                  <a:srgbClr val="102A43"/>
                </a:solidFill>
              </a:defRPr>
            </a:lvl8pPr>
            <a:lvl9pPr algn="ctr">
              <a:defRPr sz="1350" b="1">
                <a:solidFill>
                  <a:srgbClr val="102A43"/>
                </a:solidFill>
              </a:defRPr>
            </a:lvl9pPr>
          </a:lstStyle>
          <a:p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Tasklist confirmation</a:t>
            </a:r>
            <a:endParaRPr sz="1350" b="1">
              <a:solidFill>
                <a:srgbClr val="102A43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001125" y="3714750"/>
            <a:ext cx="1952625" cy="552450"/>
          </a:xfrm>
          <a:prstGeom prst="roundRect">
            <a:avLst>
              <a:gd name="adj" fmla="val 1034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350" b="1">
                <a:solidFill>
                  <a:srgbClr val="008C95"/>
                </a:solidFill>
              </a:defRPr>
            </a:defPPr>
            <a:lvl1pPr algn="ctr">
              <a:defRPr sz="1350" b="1">
                <a:solidFill>
                  <a:srgbClr val="008C95"/>
                </a:solidFill>
              </a:defRPr>
            </a:lvl1pPr>
            <a:lvl2pPr algn="ctr">
              <a:defRPr sz="1350" b="1">
                <a:solidFill>
                  <a:srgbClr val="008C95"/>
                </a:solidFill>
              </a:defRPr>
            </a:lvl2pPr>
            <a:lvl3pPr algn="ctr">
              <a:defRPr sz="1350" b="1">
                <a:solidFill>
                  <a:srgbClr val="008C95"/>
                </a:solidFill>
              </a:defRPr>
            </a:lvl3pPr>
            <a:lvl4pPr algn="ctr">
              <a:defRPr sz="1350" b="1">
                <a:solidFill>
                  <a:srgbClr val="008C95"/>
                </a:solidFill>
              </a:defRPr>
            </a:lvl4pPr>
            <a:lvl5pPr algn="ctr">
              <a:defRPr sz="1350" b="1">
                <a:solidFill>
                  <a:srgbClr val="008C95"/>
                </a:solidFill>
              </a:defRPr>
            </a:lvl5pPr>
            <a:lvl6pPr algn="ctr">
              <a:defRPr sz="1350" b="1">
                <a:solidFill>
                  <a:srgbClr val="008C95"/>
                </a:solidFill>
              </a:defRPr>
            </a:lvl6pPr>
            <a:lvl7pPr algn="ctr">
              <a:defRPr sz="1350" b="1">
                <a:solidFill>
                  <a:srgbClr val="008C95"/>
                </a:solidFill>
              </a:defRPr>
            </a:lvl7pPr>
            <a:lvl8pPr algn="ctr">
              <a:defRPr sz="1350" b="1">
                <a:solidFill>
                  <a:srgbClr val="008C95"/>
                </a:solidFill>
              </a:defRPr>
            </a:lvl8pPr>
            <a:lvl9pPr algn="ctr">
              <a:defRPr sz="1350" b="1">
                <a:solidFill>
                  <a:srgbClr val="008C95"/>
                </a:solidFill>
              </a:defRPr>
            </a:lvl9pPr>
          </a:lstStyle>
          <a:p>
            <a:pPr algn="ctr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dataConfirmed</a:t>
            </a:r>
            <a:endParaRPr sz="1350" b="1">
              <a:solidFill>
                <a:srgbClr val="008C95"/>
              </a:solidFill>
            </a:endParaRPr>
          </a:p>
          <a:p>
            <a:pPr algn="ctr">
              <a:defRPr sz="1350" b="1">
                <a:solidFill>
                  <a:srgbClr val="008C95"/>
                </a:solidFill>
              </a:defRPr>
            </a:pPr>
            <a:r>
              <a:rPr sz="1350" b="1">
                <a:solidFill>
                  <a:srgbClr val="008C95"/>
                </a:solidFill>
              </a:rPr>
              <a:t>XOR gateway</a:t>
            </a:r>
            <a:endParaRPr sz="1350" b="1">
              <a:solidFill>
                <a:srgbClr val="008C95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4375" y="5191125"/>
            <a:ext cx="10287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1">
                <a:solidFill>
                  <a:srgbClr val="008C95"/>
                </a:solidFill>
              </a:defRPr>
            </a:defPPr>
            <a:lvl1pPr algn="l">
              <a:defRPr sz="1275" b="1">
                <a:solidFill>
                  <a:srgbClr val="008C95"/>
                </a:solidFill>
              </a:defRPr>
            </a:lvl1pPr>
            <a:lvl2pPr algn="l">
              <a:defRPr sz="1275" b="1">
                <a:solidFill>
                  <a:srgbClr val="008C95"/>
                </a:solidFill>
              </a:defRPr>
            </a:lvl2pPr>
            <a:lvl3pPr algn="l">
              <a:defRPr sz="1275" b="1">
                <a:solidFill>
                  <a:srgbClr val="008C95"/>
                </a:solidFill>
              </a:defRPr>
            </a:lvl3pPr>
            <a:lvl4pPr algn="l">
              <a:defRPr sz="1275" b="1">
                <a:solidFill>
                  <a:srgbClr val="008C95"/>
                </a:solidFill>
              </a:defRPr>
            </a:lvl4pPr>
            <a:lvl5pPr algn="l">
              <a:defRPr sz="1275" b="1">
                <a:solidFill>
                  <a:srgbClr val="008C95"/>
                </a:solidFill>
              </a:defRPr>
            </a:lvl5pPr>
            <a:lvl6pPr algn="l">
              <a:defRPr sz="1275" b="1">
                <a:solidFill>
                  <a:srgbClr val="008C95"/>
                </a:solidFill>
              </a:defRPr>
            </a:lvl6pPr>
            <a:lvl7pPr algn="l">
              <a:defRPr sz="1275" b="1">
                <a:solidFill>
                  <a:srgbClr val="008C95"/>
                </a:solidFill>
              </a:defRPr>
            </a:lvl7pPr>
            <a:lvl8pPr algn="l">
              <a:defRPr sz="1275" b="1">
                <a:solidFill>
                  <a:srgbClr val="008C95"/>
                </a:solidFill>
              </a:defRPr>
            </a:lvl8pPr>
            <a:lvl9pPr algn="l">
              <a:defRPr sz="1275" b="1">
                <a:solidFill>
                  <a:srgbClr val="008C95"/>
                </a:solidFill>
              </a:defRPr>
            </a:lvl9pPr>
          </a:lstStyle>
          <a:p>
            <a:pPr algn="l"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The API does not choose Yes or No. It only supplies patient data. A user makes the choice in Tasklist, and the gateway follows the value submitted by the form.</a:t>
            </a:r>
            <a:endParaRPr sz="1275" b="1">
              <a:solidFill>
                <a:srgbClr val="008C9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102A43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552450" y="1714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CFE2F3"/>
                </a:solidFill>
              </a:defRPr>
            </a:defPPr>
            <a:lvl1pPr algn="l">
              <a:defRPr sz="1050" b="1">
                <a:solidFill>
                  <a:srgbClr val="CFE2F3"/>
                </a:solidFill>
              </a:defRPr>
            </a:lvl1pPr>
            <a:lvl2pPr algn="l">
              <a:defRPr sz="1050" b="1">
                <a:solidFill>
                  <a:srgbClr val="CFE2F3"/>
                </a:solidFill>
              </a:defRPr>
            </a:lvl2pPr>
            <a:lvl3pPr algn="l">
              <a:defRPr sz="1050" b="1">
                <a:solidFill>
                  <a:srgbClr val="CFE2F3"/>
                </a:solidFill>
              </a:defRPr>
            </a:lvl3pPr>
            <a:lvl4pPr algn="l">
              <a:defRPr sz="1050" b="1">
                <a:solidFill>
                  <a:srgbClr val="CFE2F3"/>
                </a:solidFill>
              </a:defRPr>
            </a:lvl4pPr>
            <a:lvl5pPr algn="l">
              <a:defRPr sz="1050" b="1">
                <a:solidFill>
                  <a:srgbClr val="CFE2F3"/>
                </a:solidFill>
              </a:defRPr>
            </a:lvl5pPr>
            <a:lvl6pPr algn="l">
              <a:defRPr sz="1050" b="1">
                <a:solidFill>
                  <a:srgbClr val="CFE2F3"/>
                </a:solidFill>
              </a:defRPr>
            </a:lvl6pPr>
            <a:lvl7pPr algn="l">
              <a:defRPr sz="1050" b="1">
                <a:solidFill>
                  <a:srgbClr val="CFE2F3"/>
                </a:solidFill>
              </a:defRPr>
            </a:lvl7pPr>
            <a:lvl8pPr algn="l">
              <a:defRPr sz="1050" b="1">
                <a:solidFill>
                  <a:srgbClr val="CFE2F3"/>
                </a:solidFill>
              </a:defRPr>
            </a:lvl8pPr>
            <a:lvl9pPr algn="l">
              <a:defRPr sz="1050" b="1">
                <a:solidFill>
                  <a:srgbClr val="CFE2F3"/>
                </a:solidFill>
              </a:defRPr>
            </a:lvl9pPr>
          </a:lstStyle>
          <a:p>
            <a:pPr algn="l">
              <a:defRPr sz="1050" b="1">
                <a:solidFill>
                  <a:srgbClr val="CFE2F3"/>
                </a:solidFill>
              </a:defRPr>
            </a:pPr>
            <a:r>
              <a:rPr sz="1050" b="1">
                <a:solidFill>
                  <a:srgbClr val="CFE2F3"/>
                </a:solidFill>
              </a:rPr>
              <a:t>603 DEVELOPMENT PRESENTATION</a:t>
            </a:r>
            <a:endParaRPr sz="1050" b="1">
              <a:solidFill>
                <a:srgbClr val="CFE2F3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866775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102A43"/>
                </a:solidFill>
              </a:defRPr>
            </a:defPPr>
            <a:lvl1pPr algn="l">
              <a:defRPr sz="2250" b="1">
                <a:solidFill>
                  <a:srgbClr val="102A43"/>
                </a:solidFill>
              </a:defRPr>
            </a:lvl1pPr>
            <a:lvl2pPr algn="l">
              <a:defRPr sz="2250" b="1">
                <a:solidFill>
                  <a:srgbClr val="102A43"/>
                </a:solidFill>
              </a:defRPr>
            </a:lvl2pPr>
            <a:lvl3pPr algn="l">
              <a:defRPr sz="2250" b="1">
                <a:solidFill>
                  <a:srgbClr val="102A43"/>
                </a:solidFill>
              </a:defRPr>
            </a:lvl3pPr>
            <a:lvl4pPr algn="l">
              <a:defRPr sz="2250" b="1">
                <a:solidFill>
                  <a:srgbClr val="102A43"/>
                </a:solidFill>
              </a:defRPr>
            </a:lvl4pPr>
            <a:lvl5pPr algn="l">
              <a:defRPr sz="2250" b="1">
                <a:solidFill>
                  <a:srgbClr val="102A43"/>
                </a:solidFill>
              </a:defRPr>
            </a:lvl5pPr>
            <a:lvl6pPr algn="l">
              <a:defRPr sz="2250" b="1">
                <a:solidFill>
                  <a:srgbClr val="102A43"/>
                </a:solidFill>
              </a:defRPr>
            </a:lvl6pPr>
            <a:lvl7pPr algn="l">
              <a:defRPr sz="2250" b="1">
                <a:solidFill>
                  <a:srgbClr val="102A43"/>
                </a:solidFill>
              </a:defRPr>
            </a:lvl7pPr>
            <a:lvl8pPr algn="l">
              <a:defRPr sz="2250" b="1">
                <a:solidFill>
                  <a:srgbClr val="102A43"/>
                </a:solidFill>
              </a:defRPr>
            </a:lvl8pPr>
            <a:lvl9pPr algn="l">
              <a:defRPr sz="2250" b="1">
                <a:solidFill>
                  <a:srgbClr val="102A43"/>
                </a:solidFill>
              </a:defRPr>
            </a:lvl9pPr>
          </a:lstStyle>
          <a:p>
            <a:pPr algn="l"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Technical Implementation: Java Worker and H2 Persistence</a:t>
            </a:r>
            <a:endParaRPr sz="2250" b="1">
              <a:solidFill>
                <a:srgbClr val="102A4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1163300" y="904875"/>
            <a:ext cx="514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350" b="1">
                <a:solidFill>
                  <a:srgbClr val="1F6FEB"/>
                </a:solidFill>
              </a:defRPr>
            </a:defPPr>
            <a:lvl1pPr algn="r">
              <a:defRPr sz="1350" b="1">
                <a:solidFill>
                  <a:srgbClr val="1F6FEB"/>
                </a:solidFill>
              </a:defRPr>
            </a:lvl1pPr>
            <a:lvl2pPr algn="r">
              <a:defRPr sz="1350" b="1">
                <a:solidFill>
                  <a:srgbClr val="1F6FEB"/>
                </a:solidFill>
              </a:defRPr>
            </a:lvl2pPr>
            <a:lvl3pPr algn="r">
              <a:defRPr sz="1350" b="1">
                <a:solidFill>
                  <a:srgbClr val="1F6FEB"/>
                </a:solidFill>
              </a:defRPr>
            </a:lvl3pPr>
            <a:lvl4pPr algn="r">
              <a:defRPr sz="1350" b="1">
                <a:solidFill>
                  <a:srgbClr val="1F6FEB"/>
                </a:solidFill>
              </a:defRPr>
            </a:lvl4pPr>
            <a:lvl5pPr algn="r">
              <a:defRPr sz="1350" b="1">
                <a:solidFill>
                  <a:srgbClr val="1F6FEB"/>
                </a:solidFill>
              </a:defRPr>
            </a:lvl5pPr>
            <a:lvl6pPr algn="r">
              <a:defRPr sz="1350" b="1">
                <a:solidFill>
                  <a:srgbClr val="1F6FEB"/>
                </a:solidFill>
              </a:defRPr>
            </a:lvl6pPr>
            <a:lvl7pPr algn="r">
              <a:defRPr sz="1350" b="1">
                <a:solidFill>
                  <a:srgbClr val="1F6FEB"/>
                </a:solidFill>
              </a:defRPr>
            </a:lvl7pPr>
            <a:lvl8pPr algn="r">
              <a:defRPr sz="1350" b="1">
                <a:solidFill>
                  <a:srgbClr val="1F6FEB"/>
                </a:solidFill>
              </a:defRPr>
            </a:lvl8pPr>
            <a:lvl9pPr algn="r">
              <a:defRPr sz="1350" b="1">
                <a:solidFill>
                  <a:srgbClr val="1F6FEB"/>
                </a:solidFill>
              </a:defRPr>
            </a:lvl9pPr>
          </a:lstStyle>
          <a:p>
            <a:pPr algn="r">
              <a:defRPr sz="1350" b="1">
                <a:solidFill>
                  <a:srgbClr val="1F6FEB"/>
                </a:solidFill>
              </a:defRPr>
            </a:pPr>
            <a:r>
              <a:rPr sz="1350" b="1">
                <a:solidFill>
                  <a:srgbClr val="1F6FEB"/>
                </a:solidFill>
              </a:rPr>
              <a:t>19</a:t>
            </a:r>
            <a:endParaRPr sz="1350" b="1">
              <a:solidFill>
                <a:srgbClr val="1F6FEB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409700"/>
            <a:ext cx="11087100" cy="9525"/>
          </a:xfrm>
          <a:prstGeom prst="rect">
            <a:avLst/>
          </a:prstGeom>
          <a:solidFill>
            <a:srgbClr val="C9D2DC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552450" y="1581150"/>
            <a:ext cx="2667000" cy="295275"/>
          </a:xfrm>
          <a:prstGeom prst="roundRect">
            <a:avLst>
              <a:gd name="adj" fmla="val 19355"/>
            </a:avLst>
          </a:prstGeom>
          <a:solidFill>
            <a:srgbClr val="D8F3F0"/>
          </a:solidFill>
          <a:ln w="9525">
            <a:solidFill>
              <a:srgbClr val="D8F3F0"/>
            </a:solidFill>
            <a:prstDash val="solid"/>
          </a:ln>
        </p:spPr>
        <p:txBody>
          <a:bodyPr anchor="ctr"/>
          <a:lstStyle>
            <a:defPPr algn="ctr">
              <a:defRPr sz="1050" b="1">
                <a:solidFill>
                  <a:srgbClr val="008C95"/>
                </a:solidFill>
              </a:defRPr>
            </a:defPPr>
            <a:lvl1pPr algn="ctr">
              <a:defRPr sz="1050" b="1">
                <a:solidFill>
                  <a:srgbClr val="008C95"/>
                </a:solidFill>
              </a:defRPr>
            </a:lvl1pPr>
            <a:lvl2pPr algn="ctr">
              <a:defRPr sz="1050" b="1">
                <a:solidFill>
                  <a:srgbClr val="008C95"/>
                </a:solidFill>
              </a:defRPr>
            </a:lvl2pPr>
            <a:lvl3pPr algn="ctr">
              <a:defRPr sz="1050" b="1">
                <a:solidFill>
                  <a:srgbClr val="008C95"/>
                </a:solidFill>
              </a:defRPr>
            </a:lvl3pPr>
            <a:lvl4pPr algn="ctr">
              <a:defRPr sz="1050" b="1">
                <a:solidFill>
                  <a:srgbClr val="008C95"/>
                </a:solidFill>
              </a:defRPr>
            </a:lvl4pPr>
            <a:lvl5pPr algn="ctr">
              <a:defRPr sz="1050" b="1">
                <a:solidFill>
                  <a:srgbClr val="008C95"/>
                </a:solidFill>
              </a:defRPr>
            </a:lvl5pPr>
            <a:lvl6pPr algn="ctr">
              <a:defRPr sz="1050" b="1">
                <a:solidFill>
                  <a:srgbClr val="008C95"/>
                </a:solidFill>
              </a:defRPr>
            </a:lvl6pPr>
            <a:lvl7pPr algn="ctr">
              <a:defRPr sz="1050" b="1">
                <a:solidFill>
                  <a:srgbClr val="008C95"/>
                </a:solidFill>
              </a:defRPr>
            </a:lvl7pPr>
            <a:lvl8pPr algn="ctr">
              <a:defRPr sz="1050" b="1">
                <a:solidFill>
                  <a:srgbClr val="008C95"/>
                </a:solidFill>
              </a:defRPr>
            </a:lvl8pPr>
            <a:lvl9pPr algn="ctr">
              <a:defRPr sz="1050" b="1">
                <a:solidFill>
                  <a:srgbClr val="008C95"/>
                </a:solidFill>
              </a:defRPr>
            </a:lvl9pPr>
          </a:lstStyle>
          <a:p>
            <a:pPr algn="ctr">
              <a:defRPr sz="1050" b="1">
                <a:solidFill>
                  <a:srgbClr val="008C95"/>
                </a:solidFill>
              </a:defRPr>
            </a:pPr>
            <a:r>
              <a:rPr sz="1050" b="1">
                <a:solidFill>
                  <a:srgbClr val="008C95"/>
                </a:solidFill>
              </a:rPr>
              <a:t>How persistent data actually works</a:t>
            </a:r>
            <a:endParaRPr sz="1050" b="1">
              <a:solidFill>
                <a:srgbClr val="008C95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66750" y="1752600"/>
            <a:ext cx="1038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172B4D"/>
                </a:solidFill>
              </a:defRPr>
            </a:defPPr>
            <a:lvl1pPr algn="l">
              <a:defRPr sz="1350" b="0">
                <a:solidFill>
                  <a:srgbClr val="172B4D"/>
                </a:solidFill>
              </a:defRPr>
            </a:lvl1pPr>
            <a:lvl2pPr algn="l">
              <a:defRPr sz="1350" b="0">
                <a:solidFill>
                  <a:srgbClr val="172B4D"/>
                </a:solidFill>
              </a:defRPr>
            </a:lvl2pPr>
            <a:lvl3pPr algn="l">
              <a:defRPr sz="1350" b="0">
                <a:solidFill>
                  <a:srgbClr val="172B4D"/>
                </a:solidFill>
              </a:defRPr>
            </a:lvl3pPr>
            <a:lvl4pPr algn="l">
              <a:defRPr sz="1350" b="0">
                <a:solidFill>
                  <a:srgbClr val="172B4D"/>
                </a:solidFill>
              </a:defRPr>
            </a:lvl4pPr>
            <a:lvl5pPr algn="l">
              <a:defRPr sz="1350" b="0">
                <a:solidFill>
                  <a:srgbClr val="172B4D"/>
                </a:solidFill>
              </a:defRPr>
            </a:lvl5pPr>
            <a:lvl6pPr algn="l">
              <a:defRPr sz="1350" b="0">
                <a:solidFill>
                  <a:srgbClr val="172B4D"/>
                </a:solidFill>
              </a:defRPr>
            </a:lvl6pPr>
            <a:lvl7pPr algn="l">
              <a:defRPr sz="1350" b="0">
                <a:solidFill>
                  <a:srgbClr val="172B4D"/>
                </a:solidFill>
              </a:defRPr>
            </a:lvl7pPr>
            <a:lvl8pPr algn="l">
              <a:defRPr sz="1350" b="0">
                <a:solidFill>
                  <a:srgbClr val="172B4D"/>
                </a:solidFill>
              </a:defRPr>
            </a:lvl8pPr>
            <a:lvl9pPr algn="l">
              <a:defRPr sz="1350" b="0">
                <a:solidFill>
                  <a:srgbClr val="172B4D"/>
                </a:solidFill>
              </a:defRPr>
            </a:lvl9pPr>
          </a:lstStyle>
          <a:p>
            <a:pPr algn="l">
              <a:defRPr sz="1350" b="0">
                <a:solidFill>
                  <a:srgbClr val="172B4D"/>
                </a:solidFill>
              </a:defRPr>
            </a:pPr>
            <a:r>
              <a:rPr sz="1350" b="0">
                <a:solidFill>
                  <a:srgbClr val="172B4D"/>
                </a:solidFill>
              </a:rPr>
              <a:t>Every worker uses the same support sequence: load the earlier patient record, add current job variables, run the domain handler, then save the combined record back to the file-backed H2 database.</a:t>
            </a:r>
            <a:endParaRPr sz="1350" b="0">
              <a:solidFill>
                <a:srgbClr val="172B4D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14375" y="2524125"/>
            <a:ext cx="4762500" cy="2095500"/>
          </a:xfrm>
          <a:prstGeom prst="roundRect">
            <a:avLst>
              <a:gd name="adj" fmla="val 2727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E5E7EB"/>
                </a:solidFill>
              </a:defRPr>
            </a:defPPr>
            <a:lvl1pPr algn="l">
              <a:defRPr sz="1125" b="0">
                <a:solidFill>
                  <a:srgbClr val="E5E7EB"/>
                </a:solidFill>
              </a:defRPr>
            </a:lvl1pPr>
            <a:lvl2pPr algn="l">
              <a:defRPr sz="1125" b="0">
                <a:solidFill>
                  <a:srgbClr val="E5E7EB"/>
                </a:solidFill>
              </a:defRPr>
            </a:lvl2pPr>
            <a:lvl3pPr algn="l">
              <a:defRPr sz="1125" b="0">
                <a:solidFill>
                  <a:srgbClr val="E5E7EB"/>
                </a:solidFill>
              </a:defRPr>
            </a:lvl3pPr>
            <a:lvl4pPr algn="l">
              <a:defRPr sz="1125" b="0">
                <a:solidFill>
                  <a:srgbClr val="E5E7EB"/>
                </a:solidFill>
              </a:defRPr>
            </a:lvl4pPr>
            <a:lvl5pPr algn="l">
              <a:defRPr sz="1125" b="0">
                <a:solidFill>
                  <a:srgbClr val="E5E7EB"/>
                </a:solidFill>
              </a:defRPr>
            </a:lvl5pPr>
            <a:lvl6pPr algn="l">
              <a:defRPr sz="1125" b="0">
                <a:solidFill>
                  <a:srgbClr val="E5E7EB"/>
                </a:solidFill>
              </a:defRPr>
            </a:lvl6pPr>
            <a:lvl7pPr algn="l">
              <a:defRPr sz="1125" b="0">
                <a:solidFill>
                  <a:srgbClr val="E5E7EB"/>
                </a:solidFill>
              </a:defRPr>
            </a:lvl7pPr>
            <a:lvl8pPr algn="l">
              <a:defRPr sz="1125" b="0">
                <a:solidFill>
                  <a:srgbClr val="E5E7EB"/>
                </a:solidFill>
              </a:defRPr>
            </a:lvl8pPr>
            <a:lvl9pPr algn="l">
              <a:defRPr sz="1125" b="0">
                <a:solidFill>
                  <a:srgbClr val="E5E7EB"/>
                </a:solidFill>
              </a:defRPr>
            </a:lvl9pPr>
          </a:lstStyle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input.putAll(repository.load(patientId));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input.putAll(submitted);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output = handler.apply(input);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record.putAll(output);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repository.save(patientId, jobType, record);</a:t>
            </a:r>
            <a:endParaRPr sz="1125" b="0">
              <a:solidFill>
                <a:srgbClr val="E5E7EB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905500" y="2524125"/>
            <a:ext cx="4762500" cy="2095500"/>
          </a:xfrm>
          <a:prstGeom prst="roundRect">
            <a:avLst>
              <a:gd name="adj" fmla="val 2727"/>
            </a:avLst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E5E7EB"/>
                </a:solidFill>
              </a:defRPr>
            </a:defPPr>
            <a:lvl1pPr algn="l">
              <a:defRPr sz="1125" b="0">
                <a:solidFill>
                  <a:srgbClr val="E5E7EB"/>
                </a:solidFill>
              </a:defRPr>
            </a:lvl1pPr>
            <a:lvl2pPr algn="l">
              <a:defRPr sz="1125" b="0">
                <a:solidFill>
                  <a:srgbClr val="E5E7EB"/>
                </a:solidFill>
              </a:defRPr>
            </a:lvl2pPr>
            <a:lvl3pPr algn="l">
              <a:defRPr sz="1125" b="0">
                <a:solidFill>
                  <a:srgbClr val="E5E7EB"/>
                </a:solidFill>
              </a:defRPr>
            </a:lvl3pPr>
            <a:lvl4pPr algn="l">
              <a:defRPr sz="1125" b="0">
                <a:solidFill>
                  <a:srgbClr val="E5E7EB"/>
                </a:solidFill>
              </a:defRPr>
            </a:lvl4pPr>
            <a:lvl5pPr algn="l">
              <a:defRPr sz="1125" b="0">
                <a:solidFill>
                  <a:srgbClr val="E5E7EB"/>
                </a:solidFill>
              </a:defRPr>
            </a:lvl5pPr>
            <a:lvl6pPr algn="l">
              <a:defRPr sz="1125" b="0">
                <a:solidFill>
                  <a:srgbClr val="E5E7EB"/>
                </a:solidFill>
              </a:defRPr>
            </a:lvl6pPr>
            <a:lvl7pPr algn="l">
              <a:defRPr sz="1125" b="0">
                <a:solidFill>
                  <a:srgbClr val="E5E7EB"/>
                </a:solidFill>
              </a:defRPr>
            </a:lvl7pPr>
            <a:lvl8pPr algn="l">
              <a:defRPr sz="1125" b="0">
                <a:solidFill>
                  <a:srgbClr val="E5E7EB"/>
                </a:solidFill>
              </a:defRPr>
            </a:lvl8pPr>
            <a:lvl9pPr algn="l">
              <a:defRPr sz="1125" b="0">
                <a:solidFill>
                  <a:srgbClr val="E5E7EB"/>
                </a:solidFill>
              </a:defRPr>
            </a:lvl9pPr>
          </a:lstStyle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jdbc:h2:file:./data/hospital-applications</a:t>
            </a:r>
            <a:endParaRPr sz="1125" b="0">
              <a:solidFill>
                <a:srgbClr val="E5E7EB"/>
              </a:solidFill>
            </a:endParaRPr>
          </a:p>
          <a:p>
            <a:endParaRPr sz="1125"/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MERGE INTO application_data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(patient_id, data_key, data_value, source, updated_at)</a:t>
            </a:r>
            <a:endParaRPr sz="1125" b="0">
              <a:solidFill>
                <a:srgbClr val="E5E7EB"/>
              </a:solidFill>
            </a:endParaRPr>
          </a:p>
          <a:p>
            <a:pPr algn="l">
              <a:defRPr sz="1125" b="0">
                <a:solidFill>
                  <a:srgbClr val="E5E7EB"/>
                </a:solidFill>
              </a:defRPr>
            </a:pPr>
            <a:r>
              <a:rPr sz="1125" b="0">
                <a:solidFill>
                  <a:srgbClr val="E5E7EB"/>
                </a:solidFill>
              </a:rPr>
              <a:t>KEY(patient_id, data_key)</a:t>
            </a:r>
            <a:endParaRPr sz="1125" b="0">
              <a:solidFill>
                <a:srgbClr val="E5E7E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14375" y="500062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102A43"/>
                </a:solidFill>
              </a:defRPr>
            </a:defPPr>
            <a:lvl1pPr algn="l">
              <a:defRPr sz="1350" b="1">
                <a:solidFill>
                  <a:srgbClr val="102A43"/>
                </a:solidFill>
              </a:defRPr>
            </a:lvl1pPr>
            <a:lvl2pPr algn="l">
              <a:defRPr sz="1350" b="1">
                <a:solidFill>
                  <a:srgbClr val="102A43"/>
                </a:solidFill>
              </a:defRPr>
            </a:lvl2pPr>
            <a:lvl3pPr algn="l">
              <a:defRPr sz="1350" b="1">
                <a:solidFill>
                  <a:srgbClr val="102A43"/>
                </a:solidFill>
              </a:defRPr>
            </a:lvl3pPr>
            <a:lvl4pPr algn="l">
              <a:defRPr sz="1350" b="1">
                <a:solidFill>
                  <a:srgbClr val="102A43"/>
                </a:solidFill>
              </a:defRPr>
            </a:lvl4pPr>
            <a:lvl5pPr algn="l">
              <a:defRPr sz="1350" b="1">
                <a:solidFill>
                  <a:srgbClr val="102A43"/>
                </a:solidFill>
              </a:defRPr>
            </a:lvl5pPr>
            <a:lvl6pPr algn="l">
              <a:defRPr sz="1350" b="1">
                <a:solidFill>
                  <a:srgbClr val="102A43"/>
                </a:solidFill>
              </a:defRPr>
            </a:lvl6pPr>
            <a:lvl7pPr algn="l">
              <a:defRPr sz="1350" b="1">
                <a:solidFill>
                  <a:srgbClr val="102A43"/>
                </a:solidFill>
              </a:defRPr>
            </a:lvl7pPr>
            <a:lvl8pPr algn="l">
              <a:defRPr sz="1350" b="1">
                <a:solidFill>
                  <a:srgbClr val="102A43"/>
                </a:solidFill>
              </a:defRPr>
            </a:lvl8pPr>
            <a:lvl9pPr algn="l">
              <a:defRPr sz="1350" b="1">
                <a:solidFill>
                  <a:srgbClr val="102A43"/>
                </a:solidFill>
              </a:defRPr>
            </a:lvl9pPr>
          </a:lstStyle>
          <a:p>
            <a:pPr algn="l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Why this is persistent: the H2 JDBC URL points to a database file. Closing and restarting a worker does not delete the file, so a later job can load the same patientId record.</a:t>
            </a:r>
            <a:endParaRPr sz="1350" b="1">
              <a:solidFill>
                <a:srgbClr val="102A43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14375" y="5715000"/>
            <a:ext cx="1028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1">
                <a:solidFill>
                  <a:srgbClr val="008C95"/>
                </a:solidFill>
              </a:defRPr>
            </a:defPPr>
            <a:lvl1pPr algn="l">
              <a:defRPr sz="1275" b="1">
                <a:solidFill>
                  <a:srgbClr val="008C95"/>
                </a:solidFill>
              </a:defRPr>
            </a:lvl1pPr>
            <a:lvl2pPr algn="l">
              <a:defRPr sz="1275" b="1">
                <a:solidFill>
                  <a:srgbClr val="008C95"/>
                </a:solidFill>
              </a:defRPr>
            </a:lvl2pPr>
            <a:lvl3pPr algn="l">
              <a:defRPr sz="1275" b="1">
                <a:solidFill>
                  <a:srgbClr val="008C95"/>
                </a:solidFill>
              </a:defRPr>
            </a:lvl3pPr>
            <a:lvl4pPr algn="l">
              <a:defRPr sz="1275" b="1">
                <a:solidFill>
                  <a:srgbClr val="008C95"/>
                </a:solidFill>
              </a:defRPr>
            </a:lvl4pPr>
            <a:lvl5pPr algn="l">
              <a:defRPr sz="1275" b="1">
                <a:solidFill>
                  <a:srgbClr val="008C95"/>
                </a:solidFill>
              </a:defRPr>
            </a:lvl5pPr>
            <a:lvl6pPr algn="l">
              <a:defRPr sz="1275" b="1">
                <a:solidFill>
                  <a:srgbClr val="008C95"/>
                </a:solidFill>
              </a:defRPr>
            </a:lvl6pPr>
            <a:lvl7pPr algn="l">
              <a:defRPr sz="1275" b="1">
                <a:solidFill>
                  <a:srgbClr val="008C95"/>
                </a:solidFill>
              </a:defRPr>
            </a:lvl7pPr>
            <a:lvl8pPr algn="l">
              <a:defRPr sz="1275" b="1">
                <a:solidFill>
                  <a:srgbClr val="008C95"/>
                </a:solidFill>
              </a:defRPr>
            </a:lvl8pPr>
            <a:lvl9pPr algn="l">
              <a:defRPr sz="1275" b="1">
                <a:solidFill>
                  <a:srgbClr val="008C95"/>
                </a:solidFill>
              </a:defRPr>
            </a:lvl9pPr>
          </a:lstStyle>
          <a:p>
            <a:pPr algn="l">
              <a:defRPr sz="1275" b="1">
                <a:solidFill>
                  <a:srgbClr val="008C95"/>
                </a:solidFill>
              </a:defRPr>
            </a:pPr>
            <a:r>
              <a:rPr sz="1275" b="1">
                <a:solidFill>
                  <a:srgbClr val="008C95"/>
                </a:solidFill>
              </a:rPr>
              <a:t>Zeebe variables belong to one process instance. Our repository adds durable patient application storage that later jobs and later instances can retrieve.</a:t>
            </a:r>
            <a:endParaRPr sz="1275" b="1">
              <a:solidFill>
                <a:srgbClr val="008C95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4.25,&quot;left&quot;:52.5,&quot;top&quot;:207,&quot;width&quot;:795}"/>
</p:tagLst>
</file>

<file path=ppt/tags/tag2.xml><?xml version="1.0" encoding="utf-8"?>
<p:tagLst xmlns:p="http://schemas.openxmlformats.org/presentationml/2006/main">
  <p:tag name="KSO_WM_DIAGRAM_VIRTUALLY_FRAME" val="{&quot;height&quot;:224.25,&quot;left&quot;:52.5,&quot;top&quot;:207,&quot;width&quot;:795}"/>
</p:tagLst>
</file>

<file path=ppt/tags/tag3.xml><?xml version="1.0" encoding="utf-8"?>
<p:tagLst xmlns:p="http://schemas.openxmlformats.org/presentationml/2006/main">
  <p:tag name="KSO_WM_DIAGRAM_VIRTUALLY_FRAME" val="{&quot;height&quot;:224.25,&quot;left&quot;:52.5,&quot;top&quot;:207,&quot;width&quot;:795}"/>
</p:tagLst>
</file>

<file path=ppt/tags/tag4.xml><?xml version="1.0" encoding="utf-8"?>
<p:tagLst xmlns:p="http://schemas.openxmlformats.org/presentationml/2006/main">
  <p:tag name="KSO_WM_DIAGRAM_VIRTUALLY_FRAME" val="{&quot;height&quot;:224.25,&quot;left&quot;:52.5,&quot;top&quot;:207,&quot;width&quot;:795}"/>
</p:tagLst>
</file>

<file path=ppt/tags/tag5.xml><?xml version="1.0" encoding="utf-8"?>
<p:tagLst xmlns:p="http://schemas.openxmlformats.org/presentationml/2006/main">
  <p:tag name="KSO_WM_DIAGRAM_VIRTUALLY_FRAME" val="{&quot;height&quot;:224.25,&quot;left&quot;:52.5,&quot;top&quot;:207,&quot;width&quot;:795}"/>
</p:tagLst>
</file>

<file path=ppt/tags/tag6.xml><?xml version="1.0" encoding="utf-8"?>
<p:tagLst xmlns:p="http://schemas.openxmlformats.org/presentationml/2006/main">
  <p:tag name="KSO_WM_DIAGRAM_VIRTUALLY_FRAME" val="{&quot;height&quot;:224.25,&quot;left&quot;:52.5,&quot;top&quot;:207,&quot;width&quot;:795}"/>
</p:tagLst>
</file>

<file path=ppt/tags/tag7.xml><?xml version="1.0" encoding="utf-8"?>
<p:tagLst xmlns:p="http://schemas.openxmlformats.org/presentationml/2006/main">
  <p:tag name="KSO_WM_DIAGRAM_VIRTUALLY_FRAME" val="{&quot;height&quot;:224.25,&quot;left&quot;:52.5,&quot;top&quot;:207,&quot;width&quot;:795}"/>
</p:tagLst>
</file>

<file path=ppt/tags/tag8.xml><?xml version="1.0" encoding="utf-8"?>
<p:tagLst xmlns:p="http://schemas.openxmlformats.org/presentationml/2006/main">
  <p:tag name="KSO_WM_DIAGRAM_VIRTUALLY_FRAME" val="{&quot;height&quot;:224.25,&quot;left&quot;:52.5,&quot;top&quot;:207,&quot;width&quot;:79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8034</Words>
  <Application>WPS 演示</Application>
  <PresentationFormat>Converted Presentation</PresentationFormat>
  <Paragraphs>262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going</cp:lastModifiedBy>
  <cp:revision>8</cp:revision>
  <dcterms:created xsi:type="dcterms:W3CDTF">2026-10-21T09:20:00Z</dcterms:created>
  <dcterms:modified xsi:type="dcterms:W3CDTF">2026-10-21T09:44:56Z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32D1D3CAD99945E1BBBB7BE54AC34F87_12</vt:lpwstr>
  </property>
</Properties>
</file>