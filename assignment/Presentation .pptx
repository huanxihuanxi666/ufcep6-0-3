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d93768636e4a09" /><Relationship Type="http://schemas.openxmlformats.org/officeDocument/2006/relationships/extended-properties" Target="/docProps/app.xml" Id="Rca062c2ae2e744ee" /><Relationship Type="http://schemas.openxmlformats.org/officeDocument/2006/relationships/officeDocument" Target="/ppt/presentation.xml" Id="Ree369a2e3ee544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8357653d6d4e06"/>
  </p:sldMasterIdLst>
  <p:notesMasterIdLst>
    <p:notesMasterId xmlns:r="http://schemas.openxmlformats.org/officeDocument/2006/relationships" r:id="R2b5c66c99dff42b7"/>
  </p:notesMasterIdLst>
  <p:sldIdLst>
    <p:sldId xmlns:r="http://schemas.openxmlformats.org/officeDocument/2006/relationships" id="256" r:id="Rac413091f246420d"/>
    <p:sldId xmlns:r="http://schemas.openxmlformats.org/officeDocument/2006/relationships" id="257" r:id="Rb04fcb486c394e63"/>
    <p:sldId xmlns:r="http://schemas.openxmlformats.org/officeDocument/2006/relationships" id="258" r:id="R95b210b1f93e48be"/>
    <p:sldId xmlns:r="http://schemas.openxmlformats.org/officeDocument/2006/relationships" id="259" r:id="R3cd2735071ea4fdf"/>
    <p:sldId xmlns:r="http://schemas.openxmlformats.org/officeDocument/2006/relationships" id="260" r:id="Rbfbd613d1ddd46ab"/>
    <p:sldId xmlns:r="http://schemas.openxmlformats.org/officeDocument/2006/relationships" id="261" r:id="R19177fb78f1540ed"/>
    <p:sldId xmlns:r="http://schemas.openxmlformats.org/officeDocument/2006/relationships" id="262" r:id="Re3aa61c901d04dc5"/>
    <p:sldId xmlns:r="http://schemas.openxmlformats.org/officeDocument/2006/relationships" id="263" r:id="R16689de7f680480c"/>
    <p:sldId xmlns:r="http://schemas.openxmlformats.org/officeDocument/2006/relationships" id="264" r:id="Rd904d30e92514401"/>
    <p:sldId xmlns:r="http://schemas.openxmlformats.org/officeDocument/2006/relationships" id="265" r:id="Ra97de1a5cf534043"/>
    <p:sldId xmlns:r="http://schemas.openxmlformats.org/officeDocument/2006/relationships" id="266" r:id="Rf309f5c0371b4aaf"/>
    <p:sldId xmlns:r="http://schemas.openxmlformats.org/officeDocument/2006/relationships" id="267" r:id="Rbe3672047bc045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10b05be48f40ff" /><Relationship Type="http://schemas.openxmlformats.org/officeDocument/2006/relationships/slideMaster" Target="/ppt/slideMasters/slideMaster1.xml" Id="R5c8357653d6d4e06" /><Relationship Type="http://schemas.openxmlformats.org/officeDocument/2006/relationships/notesMaster" Target="/ppt/notesMasters/notesMaster1.xml" Id="R2b5c66c99dff42b7" /><Relationship Type="http://schemas.openxmlformats.org/officeDocument/2006/relationships/presProps" Target="/ppt/presProps.xml" Id="R870cb1a2d9d7492b" /><Relationship Type="http://schemas.openxmlformats.org/officeDocument/2006/relationships/tableStyles" Target="/ppt/tableStyles.xml" Id="Rad53570b83d8480a" /><Relationship Type="http://schemas.openxmlformats.org/officeDocument/2006/relationships/slide" Target="/ppt/slides/slide1.xml" Id="Rac413091f246420d" /><Relationship Type="http://schemas.openxmlformats.org/officeDocument/2006/relationships/slide" Target="/ppt/slides/slide2.xml" Id="Rb04fcb486c394e63" /><Relationship Type="http://schemas.openxmlformats.org/officeDocument/2006/relationships/slide" Target="/ppt/slides/slide3.xml" Id="R95b210b1f93e48be" /><Relationship Type="http://schemas.openxmlformats.org/officeDocument/2006/relationships/slide" Target="/ppt/slides/slide4.xml" Id="R3cd2735071ea4fdf" /><Relationship Type="http://schemas.openxmlformats.org/officeDocument/2006/relationships/slide" Target="/ppt/slides/slide5.xml" Id="Rbfbd613d1ddd46ab" /><Relationship Type="http://schemas.openxmlformats.org/officeDocument/2006/relationships/slide" Target="/ppt/slides/slide6.xml" Id="R19177fb78f1540ed" /><Relationship Type="http://schemas.openxmlformats.org/officeDocument/2006/relationships/slide" Target="/ppt/slides/slide7.xml" Id="Re3aa61c901d04dc5" /><Relationship Type="http://schemas.openxmlformats.org/officeDocument/2006/relationships/slide" Target="/ppt/slides/slide8.xml" Id="R16689de7f680480c" /><Relationship Type="http://schemas.openxmlformats.org/officeDocument/2006/relationships/slide" Target="/ppt/slides/slide9.xml" Id="Rd904d30e92514401" /><Relationship Type="http://schemas.openxmlformats.org/officeDocument/2006/relationships/slide" Target="/ppt/slides/slide10.xml" Id="Ra97de1a5cf534043" /><Relationship Type="http://schemas.openxmlformats.org/officeDocument/2006/relationships/slide" Target="/ppt/slides/slide11.xml" Id="Rf309f5c0371b4aaf" /><Relationship Type="http://schemas.openxmlformats.org/officeDocument/2006/relationships/slide" Target="/ppt/slides/slide12.xml" Id="Rbe3672047bc045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ed3cf7135a44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e848bd52234518" /><Relationship Type="http://schemas.openxmlformats.org/officeDocument/2006/relationships/notesMaster" Target="/ppt/notesMasters/notesMaster1.xml" Id="R9648fd52671a4e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9467210ff54ea7" /><Relationship Type="http://schemas.openxmlformats.org/officeDocument/2006/relationships/notesMaster" Target="/ppt/notesMasters/notesMaster1.xml" Id="Rbb7ae6f1fd0b4c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b36ba5370c44d1" /><Relationship Type="http://schemas.openxmlformats.org/officeDocument/2006/relationships/notesMaster" Target="/ppt/notesMasters/notesMaster1.xml" Id="R6c45be46fc6747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7c6da43f214b36" /><Relationship Type="http://schemas.openxmlformats.org/officeDocument/2006/relationships/notesMaster" Target="/ppt/notesMasters/notesMaster1.xml" Id="R026fbdf5a03f46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013ca45ff84f08" /><Relationship Type="http://schemas.openxmlformats.org/officeDocument/2006/relationships/notesMaster" Target="/ppt/notesMasters/notesMaster1.xml" Id="R1b58146957ff46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3ed99df6b04764" /><Relationship Type="http://schemas.openxmlformats.org/officeDocument/2006/relationships/notesMaster" Target="/ppt/notesMasters/notesMaster1.xml" Id="Rde196e57263149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2573cfcba5406b" /><Relationship Type="http://schemas.openxmlformats.org/officeDocument/2006/relationships/notesMaster" Target="/ppt/notesMasters/notesMaster1.xml" Id="Rc99fe6bea91a40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81bfc9f4e74b23" /><Relationship Type="http://schemas.openxmlformats.org/officeDocument/2006/relationships/notesMaster" Target="/ppt/notesMasters/notesMaster1.xml" Id="Rde8ea086fe2b45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0aea2977c94fb8" /><Relationship Type="http://schemas.openxmlformats.org/officeDocument/2006/relationships/notesMaster" Target="/ppt/notesMasters/notesMaster1.xml" Id="Ra529593fe3b441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1929082e3d4b20" /><Relationship Type="http://schemas.openxmlformats.org/officeDocument/2006/relationships/notesMaster" Target="/ppt/notesMasters/notesMaster1.xml" Id="Rb4e2f0e3ffaf40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160dd382a54a78" /><Relationship Type="http://schemas.openxmlformats.org/officeDocument/2006/relationships/notesMaster" Target="/ppt/notesMasters/notesMaster1.xml" Id="R3d88bc1b766d4a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4ce50658484d28" /><Relationship Type="http://schemas.openxmlformats.org/officeDocument/2006/relationships/notesMaster" Target="/ppt/notesMasters/notesMaster1.xml" Id="Rfff9bb37ad1843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GROUP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中文讲解与可能追问</a:t>
            </a:r>
          </a:p>
          <a:p xmlns:a="http://schemas.openxmlformats.org/drawingml/2006/main">
            <a:r>
              <a:t>这是当前可执行的主流程。它调用五个子流程，按转诊、预约、财务、治疗、信件顺序交接。只有 referralDecision=ACCEPT 才进入预约。财务结果由 fundingType、fundingApproved、paymentStatus 与 urgentTreatmentOverride 判断。治疗子流程无论同意与否结束后都会调用信件。可能追问：为什么财务在治疗前？因为常规治疗需要清算前提；但当前治疗子流程才做临床评估，这个顺序仍需业务复核。咨询和退款有独立消息启动，非普通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D:\Camunda-Workspace\models\assignment\bpmn\Hospital_Master_Process.bpmn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Acceptance criteria are pass/fail targets. This deck does not claim that every criterion has passed in the final Camunda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GROUP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中文讲解与可能追问</a:t>
            </a:r>
          </a:p>
          <a:p xmlns:a="http://schemas.openxmlformats.org/drawingml/2006/main">
            <a:r>
              <a:t>逐行按实例路径验收，不把模型静态配置当作运行结果。M1 看主流程调用活动次数，M2 看财务网关的分支，M3 看无治疗仍进入信件，M4 保存主实例号、子实例号、版本、结束时间与 incident 数。当前没有一条最新版本主流程的完整运行证据，M4 是待实测的标准。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D:\Camunda-Workspace\models\assignment\bpmn\Hospital_Master_Process.bpmn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Acceptance criteria are pass/fail targets. This deck does not claim that every criterion has passed in the final Camunda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DENG JIN WANG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中文讲解与可能追问</a:t>
            </a:r>
          </a:p>
          <a:p xmlns:a="http://schemas.openxmlformats.org/drawingml/2006/main">
            <a:r>
              <a:t>讲图从转诊接收开始。秘书填写患者、转诊和转诊机构信息，informationComplete=false 时请求补充，true 时进入顾问审核。顾问从 ACCEPT、REJECT、MORE_INFORMATION、REDIRECT 四种选择中决定。只有 ACCEPT 交给预约。可能追问：为什么没有 worker？此处没有外部 service task，依赖人工任务；外部组织的消息线表达协作，不等于已实现消息接口。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D:\Camunda-Workspace\models\assignment\bpmn\23084366_Referral_Consultant_Review\BPMN\Referral_Consultant_Review.bpmn</a:t>
            </a:r>
          </a:p>
          <a:p xmlns:a="http://schemas.openxmlformats.org/drawingml/2006/main">
            <a:r>
              <a:t>D:\Camunda-Workspace\models\assignment\bpmn\23084366_Referral_Consultant_Review\Forms\Form_ReferralIntake.form</a:t>
            </a:r>
          </a:p>
          <a:p xmlns:a="http://schemas.openxmlformats.org/drawingml/2006/main">
            <a:r>
              <a:t>D:\Camunda-Workspace\models\assignment\bpmn\23084366_Referral_Consultant_Review\Forms\Form_ConsultantReview.form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Acceptance criteria are pass/fail targets. This deck does not claim that every criterion has passed in the final Camunda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DENG JIN WANG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中文讲解与可能追问</a:t>
            </a:r>
          </a:p>
          <a:p xmlns:a="http://schemas.openxmlformats.org/drawingml/2006/main">
            <a:r>
              <a:t>两个表单分别处理转诊录入和顾问决定。顾问表单要求 patientId、referralDecision、referralDecisionReason。R1 使用表单必填校验；R2 和 R3 用引擎路径与实例变量判断；R4 要从主实例验证交接，而不仅看子流程结尾。已见历史 ACCEPT 路径，另外三种决定仍需各自的运行记录。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D:\Camunda-Workspace\models\assignment\bpmn\23084366_Referral_Consultant_Review\BPMN\Referral_Consultant_Review.bpmn</a:t>
            </a:r>
          </a:p>
          <a:p xmlns:a="http://schemas.openxmlformats.org/drawingml/2006/main">
            <a:r>
              <a:t>D:\Camunda-Workspace\models\assignment\bpmn\23084366_Referral_Consultant_Review\Forms\Form_ReferralIntake.form</a:t>
            </a:r>
          </a:p>
          <a:p xmlns:a="http://schemas.openxmlformats.org/drawingml/2006/main">
            <a:r>
              <a:t>D:\Camunda-Workspace\models\assignment\bpmn\23084366_Referral_Consultant_Review\Forms\Form_ConsultantReview.form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Acceptance criteria are pass/fail targets. This deck does not claim that every criterion has passed in the final Camunda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WU JIA WEI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中文讲解与可能追问</a:t>
            </a:r>
          </a:p>
          <a:p xmlns:a="http://schemas.openxmlformats.org/drawingml/2006/main">
            <a:r>
              <a:t>预约表单提交后 search-appointment-slot 返回 slotAvailable 和 appointmentWithinTwoWeeks。没有号源会出现可编辑重试任务；有号源则确认并调用 send-appointment-letter。14 天内除了信件还需电话。电话结果 ANSWERED、NO_ANSWER、WRONG_NUMBER 记录后可交接；RESCHEDULE 回到搜索。可能追问：第十四天算不算两周内？worker 用 0 到 14 天含端点。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D:\Camunda-Workspace\models\assignment\bpmn\23084364_Appointment_Patient_Communication\BPMN\Appointment_Patient_Communication.bpmn</a:t>
            </a:r>
          </a:p>
          <a:p xmlns:a="http://schemas.openxmlformats.org/drawingml/2006/main">
            <a:r>
              <a:t>D:\Camunda-Workspace\models\assignment\bpmn\23084364_Appointment_Patient_Communication\Forms\Form_AppointmentBooking.form</a:t>
            </a:r>
          </a:p>
          <a:p xmlns:a="http://schemas.openxmlformats.org/drawingml/2006/main">
            <a:r>
              <a:t>D:\Camunda-Workspace\models\assignment\bpmn\23084364_Appointment_Patient_Communication\Forms\Form_PatientContact.form</a:t>
            </a:r>
          </a:p>
          <a:p xmlns:a="http://schemas.openxmlformats.org/drawingml/2006/main">
            <a:r>
              <a:t>D:\Camunda-Workspace\models\assignment\External_Workers\src\main\java\org\hospital\workers\AppointmentWorkers.java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Acceptance criteria are pass/fail targets. This deck does not claim that every criterion has passed in the final Camunda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WU JIA WEI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中文讲解与可能追问</a:t>
            </a:r>
          </a:p>
          <a:p xmlns:a="http://schemas.openxmlformats.org/drawingml/2006/main">
            <a:r>
              <a:t>预约表单四个必填项已逐一读取；患者联系表单要求 contactOutcome。A2 要证明重试真的使用了修改后数据。A3 用执行当天的相对日期，不写死日历日期；目前现有 Java 测试没有第 14/15 天边界。当前模型允许无人接听和号码错误后交接，这是可测的既有行为，不应宣称必须成功联系。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D:\Camunda-Workspace\models\assignment\bpmn\23084364_Appointment_Patient_Communication\BPMN\Appointment_Patient_Communication.bpmn</a:t>
            </a:r>
          </a:p>
          <a:p xmlns:a="http://schemas.openxmlformats.org/drawingml/2006/main">
            <a:r>
              <a:t>D:\Camunda-Workspace\models\assignment\bpmn\23084364_Appointment_Patient_Communication\Forms\Form_AppointmentBooking.form</a:t>
            </a:r>
          </a:p>
          <a:p xmlns:a="http://schemas.openxmlformats.org/drawingml/2006/main">
            <a:r>
              <a:t>D:\Camunda-Workspace\models\assignment\bpmn\23084364_Appointment_Patient_Communication\Forms\Form_PatientContact.form</a:t>
            </a:r>
          </a:p>
          <a:p xmlns:a="http://schemas.openxmlformats.org/drawingml/2006/main">
            <a:r>
              <a:t>D:\Camunda-Workspace\models\assignment\External_Workers\src\main\java\org\hospital\workers\AppointmentWorkers.java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Acceptance criteria are pass/fail targets. This deck does not claim that every criterion has passed in the final Camunda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LIN JIA QIANG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中文讲解与可能追问</a:t>
            </a:r>
          </a:p>
          <a:p xmlns:a="http://schemas.openxmlformats.org/drawingml/2006/main">
            <a:r>
              <a:t>治疗图依次区分患者同意、授权的治疗请求、资源可用性和后续周期。不同意治疗时子流程结束，但主流程仍触发信件。请求未授权返回更正。资源不足重新打开治疗请求表单。更多周期由 moreCycles 人工选择；CONTINUE、DELAY、MODIFY 各走不同路径。财务影响为 true 时进入人工确认更新清算，而非自动重新审批。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D:\Camunda-Workspace\models\assignment\bpmn\23084368_Treatment_Chemotherapy\BPMN\Treatment_Chemotherapy.bpmn</a:t>
            </a:r>
          </a:p>
          <a:p xmlns:a="http://schemas.openxmlformats.org/drawingml/2006/main">
            <a:r>
              <a:t>D:\Camunda-Workspace\models\assignment\bpmn\23084368_Treatment_Chemotherapy\Forms\Form_ClinicalAssessment.form</a:t>
            </a:r>
          </a:p>
          <a:p xmlns:a="http://schemas.openxmlformats.org/drawingml/2006/main">
            <a:r>
              <a:t>D:\Camunda-Workspace\models\assignment\bpmn\23084368_Treatment_Chemotherapy\Forms\Form_TreatmentRequest.form</a:t>
            </a:r>
          </a:p>
          <a:p xmlns:a="http://schemas.openxmlformats.org/drawingml/2006/main">
            <a:r>
              <a:t>D:\Camunda-Workspace\models\assignment\bpmn\23084368_Treatment_Chemotherapy\Forms\Form_TreatmentCycleReview.form</a:t>
            </a:r>
          </a:p>
          <a:p xmlns:a="http://schemas.openxmlformats.org/drawingml/2006/main">
            <a:r>
              <a:t>D:\Camunda-Workspace\models\assignment\External_Workers\src\main\java\org\hospital\workers\TreatmentWorkers.java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Acceptance criteria are pass/fail targets. This deck does not claim that every criterion has passed in the final Camunda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LIN JIA QIANG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中文讲解与可能追问</a:t>
            </a:r>
          </a:p>
          <a:p xmlns:a="http://schemas.openxmlformats.org/drawingml/2006/main">
            <a:r>
              <a:t>临床评估表单要求 patientId 和 clinicalAssessment；治疗请求还要求治疗项目、起始日期、周期数及频率。周期数为文本，当前流程并不自动计数。T1–T4 必须看当前部署实例；现有组件测试仅验证部分资源输入输出。单独启动治疗子流程会绕过主流程先清算的前提，答辩时需说明。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D:\Camunda-Workspace\models\assignment\bpmn\23084368_Treatment_Chemotherapy\BPMN\Treatment_Chemotherapy.bpmn</a:t>
            </a:r>
          </a:p>
          <a:p xmlns:a="http://schemas.openxmlformats.org/drawingml/2006/main">
            <a:r>
              <a:t>D:\Camunda-Workspace\models\assignment\bpmn\23084368_Treatment_Chemotherapy\Forms\Form_ClinicalAssessment.form</a:t>
            </a:r>
          </a:p>
          <a:p xmlns:a="http://schemas.openxmlformats.org/drawingml/2006/main">
            <a:r>
              <a:t>D:\Camunda-Workspace\models\assignment\bpmn\23084368_Treatment_Chemotherapy\Forms\Form_TreatmentRequest.form</a:t>
            </a:r>
          </a:p>
          <a:p xmlns:a="http://schemas.openxmlformats.org/drawingml/2006/main">
            <a:r>
              <a:t>D:\Camunda-Workspace\models\assignment\bpmn\23084368_Treatment_Chemotherapy\Forms\Form_TreatmentCycleReview.form</a:t>
            </a:r>
          </a:p>
          <a:p xmlns:a="http://schemas.openxmlformats.org/drawingml/2006/main">
            <a:r>
              <a:t>D:\Camunda-Workspace\models\assignment\External_Workers\src\main\java\org\hospital\workers\TreatmentWorkers.java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Acceptance criteria are pass/fail targets. This deck does not claim that every criterion has passed in the final Camunda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WU TONG YU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中文讲解与可能追问</a:t>
            </a:r>
          </a:p>
          <a:p xmlns:a="http://schemas.openxmlformats.org/drawingml/2006/main">
            <a:r>
              <a:t>资金路线有医院或减免、保险与患者付款。保险须记录是否批准。患者付款由 worker 返回 SUCCESSFUL、失败重试或待调查。CONFIRMATION_LOST 和 DUPLICATE_RISK 先调查，不自动再次扣款。退款从独立消息入口开始，refundRequired 与 refundApproved 同时为 true 才执行。可能追问：有没有真正防止重复扣款？目前没有持久化幂等键，只有风险分流。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D:\Camunda-Workspace\models\assignment\bpmn\23084362_Funding_Payment_Refund\BPMN\Funding_Payment_Refund.bpmn</a:t>
            </a:r>
          </a:p>
          <a:p xmlns:a="http://schemas.openxmlformats.org/drawingml/2006/main">
            <a:r>
              <a:t>D:\Camunda-Workspace\models\assignment\bpmn\23084362_Funding_Payment_Refund\Forms\Form_FundingPayment.form</a:t>
            </a:r>
          </a:p>
          <a:p xmlns:a="http://schemas.openxmlformats.org/drawingml/2006/main">
            <a:r>
              <a:t>D:\Camunda-Workspace\models\assignment\bpmn\23084362_Funding_Payment_Refund\Forms\Form_InsurerApproval.form</a:t>
            </a:r>
          </a:p>
          <a:p xmlns:a="http://schemas.openxmlformats.org/drawingml/2006/main">
            <a:r>
              <a:t>D:\Camunda-Workspace\models\assignment\bpmn\23084362_Funding_Payment_Refund\Forms\Form_RefundReview.form</a:t>
            </a:r>
          </a:p>
          <a:p xmlns:a="http://schemas.openxmlformats.org/drawingml/2006/main">
            <a:r>
              <a:t>D:\Camunda-Workspace\models\assignment\External_Workers\src\main\java\org\hospital\workers\FinanceWorkers.java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Acceptance criteria are pass/fail targets. This deck does not claim that every criterion has passed in the final Camunda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WU TONG YU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中文讲解与可能追问</a:t>
            </a:r>
          </a:p>
          <a:p xmlns:a="http://schemas.openxmlformats.org/drawingml/2006/main">
            <a:r>
              <a:t>资金表单要求 patientId 和 fundingType；保险表单要求 patientId 和 fundingOrganisation；退款表单要求 patientId。F3 的可量化标准是本流程在调查前不自动发起第二个 worker job，不能据此宣称支付系统有幂等保护。F4 是逻辑组合测试，真实退款服务仍为模拟。财务待处理是 end event，不是无限等待的挂起实例。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D:\Camunda-Workspace\models\assignment\bpmn\23084362_Funding_Payment_Refund\BPMN\Funding_Payment_Refund.bpmn</a:t>
            </a:r>
          </a:p>
          <a:p xmlns:a="http://schemas.openxmlformats.org/drawingml/2006/main">
            <a:r>
              <a:t>D:\Camunda-Workspace\models\assignment\bpmn\23084362_Funding_Payment_Refund\Forms\Form_FundingPayment.form</a:t>
            </a:r>
          </a:p>
          <a:p xmlns:a="http://schemas.openxmlformats.org/drawingml/2006/main">
            <a:r>
              <a:t>D:\Camunda-Workspace\models\assignment\bpmn\23084362_Funding_Payment_Refund\Forms\Form_InsurerApproval.form</a:t>
            </a:r>
          </a:p>
          <a:p xmlns:a="http://schemas.openxmlformats.org/drawingml/2006/main">
            <a:r>
              <a:t>D:\Camunda-Workspace\models\assignment\bpmn\23084362_Funding_Payment_Refund\Forms\Form_RefundReview.form</a:t>
            </a:r>
          </a:p>
          <a:p xmlns:a="http://schemas.openxmlformats.org/drawingml/2006/main">
            <a:r>
              <a:t>D:\Camunda-Workspace\models\assignment\External_Workers\src\main\java\org\hospital\workers\FinanceWorkers.java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Acceptance criteria are pass/fail targets. This deck does not claim that every criterion has passed in the final Camunda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XIAO YU YING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中文讲解与可能追问</a:t>
            </a:r>
          </a:p>
          <a:p xmlns:a="http://schemas.openxmlformats.org/drawingml/2006/main">
            <a:r>
              <a:t>这张运营图含两个入口。患者咨询从消息启动，按 ADMINISTRATIVE、FINANCIAL、CLINICAL 路由，临床紧急问题由 urgentClinicalConcern 额外升级。普通主流程进入信件准备；临床批准后才核对收件人和发送。延误支路有 P7D 定时器，再按人工选择的年龄段提醒顾问或升级。可能追问七天目标是否自动保证：没有；初始七天状态和年龄段由人填写，而且主流程在治疗结束后才启动信件。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D:\Camunda-Workspace\models\assignment\bpmn\24000813_Enquiry_ClinicLetter_Monitoring\BPMN\Enquiry_ClinicLetter_Monitoring.bpmn</a:t>
            </a:r>
          </a:p>
          <a:p xmlns:a="http://schemas.openxmlformats.org/drawingml/2006/main">
            <a:r>
              <a:t>D:\Camunda-Workspace\models\assignment\bpmn\24000813_Enquiry_ClinicLetter_Monitoring\Forms\Form_Enquiry.form</a:t>
            </a:r>
          </a:p>
          <a:p xmlns:a="http://schemas.openxmlformats.org/drawingml/2006/main">
            <a:r>
              <a:t>D:\Camunda-Workspace\models\assignment\bpmn\24000813_Enquiry_ClinicLetter_Monitoring\Forms\Form_ClinicLetter.form</a:t>
            </a:r>
          </a:p>
          <a:p xmlns:a="http://schemas.openxmlformats.org/drawingml/2006/main">
            <a:r>
              <a:t>D:\Camunda-Workspace\models\assignment\bpmn\24000813_Enquiry_ClinicLetter_Monitoring\Forms\Form_ClinicLetterApproval.form</a:t>
            </a:r>
          </a:p>
          <a:p xmlns:a="http://schemas.openxmlformats.org/drawingml/2006/main">
            <a:r>
              <a:t>D:\Camunda-Workspace\models\assignment\bpmn\24000813_Enquiry_ClinicLetter_Monitoring\Forms\Form_ClinicLetterMonitoring.form</a:t>
            </a:r>
          </a:p>
          <a:p xmlns:a="http://schemas.openxmlformats.org/drawingml/2006/main">
            <a:r>
              <a:t>D:\Camunda-Workspace\models\assignment\External_Workers\src\main\java\org\hospital\workers\EnquiryClinicLetterWorkers.java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Acceptance criteria are pass/fail targets. This deck does not claim that every criterion has passed in the final Camunda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Presenter: XIAO YU YING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中文讲解与可能追问</a:t>
            </a:r>
          </a:p>
          <a:p xmlns:a="http://schemas.openxmlformats.org/drawingml/2006/main">
            <a:r>
              <a:t>咨询表单要求 patientId、enquiryType、enquiryPriority 和 enquiryDetails。信件准备要求临床内容、随访及收件人；监控表单要求 letterAgeBand。L1–L3 可用实例路径与变量判断，但 P7D 应真实等待或使用可审计的测试时钟。L4 是案例的可量化目标，当前模型无法自动计算，不应标成已通过。审批拒绝后当前流程没有明确返回可编辑正文任务，也可能被问到。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D:\Camunda-Workspace\models\assignment\bpmn\24000813_Enquiry_ClinicLetter_Monitoring\BPMN\Enquiry_ClinicLetter_Monitoring.bpmn</a:t>
            </a:r>
          </a:p>
          <a:p xmlns:a="http://schemas.openxmlformats.org/drawingml/2006/main">
            <a:r>
              <a:t>D:\Camunda-Workspace\models\assignment\bpmn\24000813_Enquiry_ClinicLetter_Monitoring\Forms\Form_Enquiry.form</a:t>
            </a:r>
          </a:p>
          <a:p xmlns:a="http://schemas.openxmlformats.org/drawingml/2006/main">
            <a:r>
              <a:t>D:\Camunda-Workspace\models\assignment\bpmn\24000813_Enquiry_ClinicLetter_Monitoring\Forms\Form_ClinicLetter.form</a:t>
            </a:r>
          </a:p>
          <a:p xmlns:a="http://schemas.openxmlformats.org/drawingml/2006/main">
            <a:r>
              <a:t>D:\Camunda-Workspace\models\assignment\bpmn\24000813_Enquiry_ClinicLetter_Monitoring\Forms\Form_ClinicLetterApproval.form</a:t>
            </a:r>
          </a:p>
          <a:p xmlns:a="http://schemas.openxmlformats.org/drawingml/2006/main">
            <a:r>
              <a:t>D:\Camunda-Workspace\models\assignment\bpmn\24000813_Enquiry_ClinicLetter_Monitoring\Forms\Form_ClinicLetterMonitoring.form</a:t>
            </a:r>
          </a:p>
          <a:p xmlns:a="http://schemas.openxmlformats.org/drawingml/2006/main">
            <a:r>
              <a:t>D:\Camunda-Workspace\models\assignment\External_Workers\src\main\java\org\hospital\workers\EnquiryClinicLetterWorkers.java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Acceptance criteria are pass/fail targets. This deck does not claim that every criterion has passed in the final Camunda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cb7981102245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27968789b04d9c" /><Relationship Type="http://schemas.openxmlformats.org/officeDocument/2006/relationships/slideLayout" Target="/ppt/slideLayouts/slideLayout1.xml" Id="Rf3863e09d58646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863e09d58646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d73e7c718452c" /><Relationship Type="http://schemas.openxmlformats.org/officeDocument/2006/relationships/image" Target="/ppt/media/image.png" Id="R8bcdcb4dfb3442db" /><Relationship Type="http://schemas.openxmlformats.org/officeDocument/2006/relationships/notesSlide" Target="/ppt/notesSlides/notesSlide1.xml" Id="Rb53736a67f1e4b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b5ebd067cb4d67" /><Relationship Type="http://schemas.openxmlformats.org/officeDocument/2006/relationships/notesSlide" Target="/ppt/notesSlides/notesSlide2.xml" Id="R41257af9c6d141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c56391e9b430c" /><Relationship Type="http://schemas.openxmlformats.org/officeDocument/2006/relationships/image" Target="/ppt/media/image2.png" Id="R640f96b899bb49ee" /><Relationship Type="http://schemas.openxmlformats.org/officeDocument/2006/relationships/notesSlide" Target="/ppt/notesSlides/notesSlide3.xml" Id="R3560658d6ffa46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f81bb137c4e0e" /><Relationship Type="http://schemas.openxmlformats.org/officeDocument/2006/relationships/notesSlide" Target="/ppt/notesSlides/notesSlide4.xml" Id="R7e78ef13cdc34f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e6e10fd544b8b" /><Relationship Type="http://schemas.openxmlformats.org/officeDocument/2006/relationships/image" Target="/ppt/media/image3.png" Id="R1ebb20cb9be04545" /><Relationship Type="http://schemas.openxmlformats.org/officeDocument/2006/relationships/notesSlide" Target="/ppt/notesSlides/notesSlide5.xml" Id="R0c39b1474c9648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bb60fbfb445b2" /><Relationship Type="http://schemas.openxmlformats.org/officeDocument/2006/relationships/notesSlide" Target="/ppt/notesSlides/notesSlide6.xml" Id="Re494db5caf4b45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3885e0b8d4b85" /><Relationship Type="http://schemas.openxmlformats.org/officeDocument/2006/relationships/image" Target="/ppt/media/image4.png" Id="R493654d777864947" /><Relationship Type="http://schemas.openxmlformats.org/officeDocument/2006/relationships/notesSlide" Target="/ppt/notesSlides/notesSlide7.xml" Id="R0cf48ea510314a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eae1d60ec4dad" /><Relationship Type="http://schemas.openxmlformats.org/officeDocument/2006/relationships/notesSlide" Target="/ppt/notesSlides/notesSlide8.xml" Id="R3b055368f1814c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131127a744fa5" /><Relationship Type="http://schemas.openxmlformats.org/officeDocument/2006/relationships/image" Target="/ppt/media/image5.png" Id="R6cdb2751f7a849e2" /><Relationship Type="http://schemas.openxmlformats.org/officeDocument/2006/relationships/notesSlide" Target="/ppt/notesSlides/notesSlide9.xml" Id="Rb021a0108ffa40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c0b98ef8d4d29" /><Relationship Type="http://schemas.openxmlformats.org/officeDocument/2006/relationships/notesSlide" Target="/ppt/notesSlides/notesSlide10.xml" Id="R2d941d5c859b47c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53c58c8904e7d" /><Relationship Type="http://schemas.openxmlformats.org/officeDocument/2006/relationships/image" Target="/ppt/media/image6.png" Id="R26b6dd0bc7cf40c4" /><Relationship Type="http://schemas.openxmlformats.org/officeDocument/2006/relationships/notesSlide" Target="/ppt/notesSlides/notesSlide11.xml" Id="R44fd9a1a9fc24a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fef7dd21a435d" /><Relationship Type="http://schemas.openxmlformats.org/officeDocument/2006/relationships/notesSlide" Target="/ppt/notesSlides/notesSlide12.xml" Id="Rabed33c7560946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8275F-972D-4431-884E-E918C91C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123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Operational BPMN: integrated patient pathway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E3A8C-A25D-4431-8B38-0460F7B4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6D"/>
                </a:solidFill>
                <a:latin typeface="Arial"/>
                <a:ea typeface="Arial"/>
                <a:cs typeface="Arial"/>
              </a:rPr>
              <a:t>GROUP   /   01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dcb4dfb3442db"/>
          <a:stretch xmlns:a="http://schemas.openxmlformats.org/drawingml/2006/main"/>
        </p:blipFill>
        <p:spPr>
          <a:xfrm xmlns:a="http://schemas.openxmlformats.org/drawingml/2006/main">
            <a:off x="2279279" y="1181100"/>
            <a:ext cx="7633443" cy="5048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064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0C12E-2325-4F3E-B7C3-BA85AD98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123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Integrated pathway: measurable acceptance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8F5246-EF99-4A58-9D78-86E08934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6D"/>
                </a:solidFill>
                <a:latin typeface="Arial"/>
                <a:ea typeface="Arial"/>
                <a:cs typeface="Arial"/>
              </a:rPr>
              <a:t>GROUP   /   02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76250" y="1285875"/>
          <a:ext xmlns:a="http://schemas.openxmlformats.org/drawingml/2006/main" cx="112395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3857625"/>
                <a:gridCol w="6524625"/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114300" marB="76200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Given / when</a:t>
                      </a:r>
                    </a:p>
                  </a:txBody>
                  <a:tcPr marL="114300" marR="114300" marT="114300" marB="76200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Measurable pass condition</a:t>
                      </a:r>
                    </a:p>
                  </a:txBody>
                  <a:tcPr marL="114300" marR="114300" marT="114300" marB="76200" anchor="t">
                    <a:solidFill>
                      <a:srgbClr val="173E48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M1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Referral outcome = ACCEPT / REJECT / REDIRECT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ACCEPT: appointment child entered once. REJECT and REDIRECT: appointment child entered 0 times.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M2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Funding is HOSPITAL, EXEMPTION, approved INSURER, or successful PATIENT payment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Each cleared case enters treatment once; unapproved insurer or unsuccessful patient payment without override enters treatment 0 times.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M3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Treatment child ends, including patientConsent = false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Clinic-letter child starts once for each completed treatment child.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M4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One complete normal instance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Five called stages follow the expected order, the final end is reached, and engine incidents = 0.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55870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45A30-A7FF-409D-A862-803F4367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123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Operational BPMN: referral and consultant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89362-4DB2-4859-831F-25815774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6D"/>
                </a:solidFill>
                <a:latin typeface="Arial"/>
                <a:ea typeface="Arial"/>
                <a:cs typeface="Arial"/>
              </a:rPr>
              <a:t>DENG JIN WANG   /   03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f96b899bb49ee"/>
          <a:stretch xmlns:a="http://schemas.openxmlformats.org/drawingml/2006/main"/>
        </p:blipFill>
        <p:spPr>
          <a:xfrm xmlns:a="http://schemas.openxmlformats.org/drawingml/2006/main">
            <a:off x="606028" y="1181100"/>
            <a:ext cx="10979944" cy="5048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2400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6DB41-B2D6-4052-95A4-67490238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123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Referral: measurable acceptance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66824-DCDF-4164-A55D-56F6A72F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6D"/>
                </a:solidFill>
                <a:latin typeface="Arial"/>
                <a:ea typeface="Arial"/>
                <a:cs typeface="Arial"/>
              </a:rPr>
              <a:t>DENG JIN WANG   /   04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76250" y="1285875"/>
          <a:ext xmlns:a="http://schemas.openxmlformats.org/drawingml/2006/main" cx="112395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3857625"/>
                <a:gridCol w="6524625"/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114300" marB="76200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Given / when</a:t>
                      </a:r>
                    </a:p>
                  </a:txBody>
                  <a:tcPr marL="114300" marR="114300" marT="114300" marB="76200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Measurable pass condition</a:t>
                      </a:r>
                    </a:p>
                  </a:txBody>
                  <a:tcPr marL="114300" marR="114300" marT="114300" marB="76200" anchor="t">
                    <a:solidFill>
                      <a:srgbClr val="173E48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R1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Intake lacks patientId, referralId or referringOrganisation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Submission is blocked for each missing required field (3/3 checks).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R2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informationComplete = false, then corrected to true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Before correction: consultant review reached 0 times and missing-information task reached at least once. After correction: consultant review reached once.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R3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Set each of the four consultant decision values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ACCEPT reaches accepted handover; REJECT and REDIRECT reach their own end; MORE_INFORMATION returns to intake. Correct routes: 4/4.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R4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Decision is REJECT or REDIRECT in the master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Appointment child starts 0 times in both cases.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3130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EA774-6A31-45B8-B182-889DB76A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123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Operational BPMN: appointment and patient contact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308778-998B-4A5E-B036-6355CCB4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6D"/>
                </a:solidFill>
                <a:latin typeface="Arial"/>
                <a:ea typeface="Arial"/>
                <a:cs typeface="Arial"/>
              </a:rPr>
              <a:t>WU JIA WEI   /   05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bb20cb9be04545"/>
          <a:stretch xmlns:a="http://schemas.openxmlformats.org/drawingml/2006/main"/>
        </p:blipFill>
        <p:spPr>
          <a:xfrm xmlns:a="http://schemas.openxmlformats.org/drawingml/2006/main">
            <a:off x="333375" y="1957634"/>
            <a:ext cx="11525250" cy="349518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984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D6477-3C30-41A5-9BDA-7029AFC9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123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Appointment: measurable acceptance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8D430-1030-4768-AE65-9DB6DDB7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6D"/>
                </a:solidFill>
                <a:latin typeface="Arial"/>
                <a:ea typeface="Arial"/>
                <a:cs typeface="Arial"/>
              </a:rPr>
              <a:t>WU JIA WEI   /   06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76250" y="1285875"/>
          <a:ext xmlns:a="http://schemas.openxmlformats.org/drawingml/2006/main" cx="112395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3857625"/>
                <a:gridCol w="6524625"/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114300" marB="76200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Given / when</a:t>
                      </a:r>
                    </a:p>
                  </a:txBody>
                  <a:tcPr marL="114300" marR="114300" marT="114300" marB="76200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Measurable pass condition</a:t>
                      </a:r>
                    </a:p>
                  </a:txBody>
                  <a:tcPr marL="114300" marR="114300" marT="114300" marB="76200" anchor="t">
                    <a:solidFill>
                      <a:srgbClr val="173E48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A1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Omit each required booking field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patientId, speciality, priority and timeframe each block submission when empty (4/4).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A2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Slot unavailable; edit request to available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First search returns slotAvailable=false and confirmed handover count=0. After editing, a second search runs and can reach confirmation.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A3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Set appointment date to today+14 and today+15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Day 14: telephone task reached once. Day 15: telephone task reached 0 times. Both cases send the appointment letter.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A4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Choose each telephone outcome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RESCHEDULE starts a new search; ANSWERED, NO_ANSWER and WRONG_NUMBER each record outcome and reach handover (4/4 routes).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9935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3A0EC-B428-4C33-A2D1-FE34C788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123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Operational BPMN: treatment and chemotherapy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C6CEA-7CD6-4920-8383-F3BD60A1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6D"/>
                </a:solidFill>
                <a:latin typeface="Arial"/>
                <a:ea typeface="Arial"/>
                <a:cs typeface="Arial"/>
              </a:rPr>
              <a:t>LIN JIA QIANG   /   07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654d777864947"/>
          <a:stretch xmlns:a="http://schemas.openxmlformats.org/drawingml/2006/main"/>
        </p:blipFill>
        <p:spPr>
          <a:xfrm xmlns:a="http://schemas.openxmlformats.org/drawingml/2006/main">
            <a:off x="333375" y="2037207"/>
            <a:ext cx="11525250" cy="33360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8644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E6D59-3FF7-4994-A9AF-82A6336E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123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Treatment: measurable acceptance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86BD9-A51E-4622-8303-972BDF4E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6D"/>
                </a:solidFill>
                <a:latin typeface="Arial"/>
                <a:ea typeface="Arial"/>
                <a:cs typeface="Arial"/>
              </a:rPr>
              <a:t>LIN JIA QIANG   /   08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76250" y="1285875"/>
          <a:ext xmlns:a="http://schemas.openxmlformats.org/drawingml/2006/main" cx="112395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3857625"/>
                <a:gridCol w="6524625"/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114300" marB="76200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Given / when</a:t>
                      </a:r>
                    </a:p>
                  </a:txBody>
                  <a:tcPr marL="114300" marR="114300" marT="114300" marB="76200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Measurable pass condition</a:t>
                      </a:r>
                    </a:p>
                  </a:txBody>
                  <a:tcPr marL="114300" marR="114300" marT="114300" marB="76200" anchor="t">
                    <a:solidFill>
                      <a:srgbClr val="173E48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T1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patientConsent = false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Resource-check job calls=0 and treatment-delivery tasks=0; master starts clinic-letter child once.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T2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patientConsent=true; treatmentAuthorised=false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Resource-check job calls=0 until authorisation becomes true; correction task is reached at least once.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T3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Resource false, then true after editing the form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Before correction: delivery count=0 and retry form appears. After correction: resource check runs again and delivery is reached.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T4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moreCycles=true; test CONTINUE, DELAY and MODIFY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Each decision takes its named route (3/3). MODIFY with financialImpact=true reaches manual finance-clearance task once.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198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90E44-86F2-4CF5-848E-185558F0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123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Operational BPMN: funding, payment and refund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11C45-1F06-49FD-96F5-01D45454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6D"/>
                </a:solidFill>
                <a:latin typeface="Arial"/>
                <a:ea typeface="Arial"/>
                <a:cs typeface="Arial"/>
              </a:rPr>
              <a:t>WU TONG YU   /   09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b2751f7a849e2"/>
          <a:stretch xmlns:a="http://schemas.openxmlformats.org/drawingml/2006/main"/>
        </p:blipFill>
        <p:spPr>
          <a:xfrm xmlns:a="http://schemas.openxmlformats.org/drawingml/2006/main">
            <a:off x="702870" y="1181100"/>
            <a:ext cx="10786261" cy="5048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9554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9F0B13-E341-4D70-A052-E14134BB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123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Finance: measurable acceptance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3F40E-906C-4DD2-9F70-9F2D60C2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6D"/>
                </a:solidFill>
                <a:latin typeface="Arial"/>
                <a:ea typeface="Arial"/>
                <a:cs typeface="Arial"/>
              </a:rPr>
              <a:t>WU TONG YU   /   10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76250" y="1285875"/>
          <a:ext xmlns:a="http://schemas.openxmlformats.org/drawingml/2006/main" cx="11239500" cy="495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3857625"/>
                <a:gridCol w="6524625"/>
              </a:tblGrid>
              <a:tr h="51435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114300" marB="76200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Given / when</a:t>
                      </a:r>
                    </a:p>
                  </a:txBody>
                  <a:tcPr marL="114300" marR="114300" marT="114300" marB="76200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Measurable pass condition</a:t>
                      </a:r>
                    </a:p>
                  </a:txBody>
                  <a:tcPr marL="114300" marR="114300" marT="114300" marB="76200" anchor="t">
                    <a:solidFill>
                      <a:srgbClr val="173E48"/>
                    </a:solidFill>
                  </a:tcPr>
                </a:tc>
              </a:tr>
              <a:tr h="88773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F1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HOSPITAL / EXEMPTION / INSURER / PATIENT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All four funding values take their matching route (4/4); insurer approval=false gives clearance 0 times.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</a:tr>
              <a:tr h="88773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F2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Patient payment SUCCESSFUL versus DECLINED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SUCCESSFUL reaches clearance once. DECLINED opens editable retry and reaches clearance 0 times before a successful attempt.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</a:tr>
              <a:tr h="88773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F3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CONFIRMATION_LOST or DUPLICATE_RISK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Both results reach investigation (2/2); automatic second payment job calls=0 before a new authorised action.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</a:tr>
              <a:tr h="88773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F4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Four refundRequired / refundApproved combinations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Refund worker is called only when both are true (1/4 combinations); the other 3 cases call it 0 times.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</a:tr>
              <a:tr h="887730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F5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Lost confirmation, urgent override false versus true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False ends in pending follow-up. True records clinical override and permits clearance (2/2 routes).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38333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AB68C-5972-4141-971A-2CCD1048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123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Operational BPMN: enquiry and clinic letter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3AC82D-BEAC-4892-B4FF-D4BBB7C9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6D"/>
                </a:solidFill>
                <a:latin typeface="Arial"/>
                <a:ea typeface="Arial"/>
                <a:cs typeface="Arial"/>
              </a:rPr>
              <a:t>XIAO YU YING   /   11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6dd0bc7cf40c4"/>
          <a:stretch xmlns:a="http://schemas.openxmlformats.org/drawingml/2006/main"/>
        </p:blipFill>
        <p:spPr>
          <a:xfrm xmlns:a="http://schemas.openxmlformats.org/drawingml/2006/main">
            <a:off x="1615189" y="1181100"/>
            <a:ext cx="8961622" cy="5048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9808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CF92A-848A-4A51-A0E4-B1210750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4325"/>
            <a:ext cx="1123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73E48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73E48"/>
                </a:solidFill>
                <a:latin typeface="Arial"/>
                <a:ea typeface="Arial"/>
                <a:cs typeface="Arial"/>
              </a:rPr>
              <a:t>Enquiry and clinic letter: measurable acceptance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11F1B-C88A-45E3-ACA1-F84BDB40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86525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76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6D"/>
                </a:solidFill>
                <a:latin typeface="Arial"/>
                <a:ea typeface="Arial"/>
                <a:cs typeface="Arial"/>
              </a:rPr>
              <a:t>XIAO YU YING   /   12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76250" y="1285875"/>
          <a:ext xmlns:a="http://schemas.openxmlformats.org/drawingml/2006/main" cx="112395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3857625"/>
                <a:gridCol w="6524625"/>
              </a:tblGrid>
              <a:tr h="5143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114300" marR="114300" marT="114300" marB="76200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Given / when</a:t>
                      </a:r>
                    </a:p>
                  </a:txBody>
                  <a:tcPr marL="114300" marR="114300" marT="114300" marB="76200" anchor="t">
                    <a:solidFill>
                      <a:srgbClr val="173E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Measurable pass condition</a:t>
                      </a:r>
                    </a:p>
                  </a:txBody>
                  <a:tcPr marL="114300" marR="114300" marT="114300" marB="76200" anchor="t">
                    <a:solidFill>
                      <a:srgbClr val="173E48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L1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Submit all three enquiryType options; urgent clinical=true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ADMINISTRATIVE / FINANCIAL / CLINICAL reach their named team (3/3); urgent clinical additionally reaches escalation once.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L2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clinicLetterApproved=false, then true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False: send job calls=0. True: send job calls=1 and clinicLetterSent=true after recipient check.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L3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Letter delayed; test three letterAgeBand options after P7D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7D_TO_1M reminds consultant; OVER_1M escalates to admin manager; OVER_3M escalates higher (3/3).</a:t>
                      </a:r>
                    </a:p>
                  </a:txBody>
                  <a:tcPr marL="114300" marR="114300" marT="114300" marB="76200" anchor="t"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L4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For each consultation, compare sent time with consultation time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E48"/>
                          </a:solidFill>
                          <a:latin typeface="Arial"/>
                          <a:ea typeface="Arial"/>
                          <a:cs typeface="Arial"/>
                        </a:rPr>
                        <a:t>Target: sent time &lt;= consultation time + 7 days. Current model has no automatic consultation-based clock, so this remains open.</a:t>
                      </a:r>
                    </a:p>
                  </a:txBody>
                  <a:tcPr marL="114300" marR="114300" marT="114300" marB="76200" anchor="t"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41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2026-09-28T05:40:52.6880000Z</dcterms:created>
  <dcterms:modified xsi:type="dcterms:W3CDTF">2026-09-28T05:40:52.6880000Z</dcterms:modified>
</coreProperties>
</file>