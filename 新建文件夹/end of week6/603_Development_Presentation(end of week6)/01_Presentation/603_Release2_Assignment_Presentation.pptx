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4ba4cdc623485d" /><Relationship Type="http://schemas.openxmlformats.org/officeDocument/2006/relationships/extended-properties" Target="/docProps/app.xml" Id="R0cf858133b7740a6" /><Relationship Type="http://schemas.openxmlformats.org/officeDocument/2006/relationships/officeDocument" Target="/ppt/presentation.xml" Id="Rc5714405ca624b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853a3f93bd497b"/>
  </p:sldMasterIdLst>
  <p:notesMasterIdLst>
    <p:notesMasterId xmlns:r="http://schemas.openxmlformats.org/officeDocument/2006/relationships" r:id="R12c7357f17804564"/>
  </p:notesMasterIdLst>
  <p:sldIdLst>
    <p:sldId xmlns:r="http://schemas.openxmlformats.org/officeDocument/2006/relationships" id="256" r:id="R6683d7af37c44f9a"/>
    <p:sldId xmlns:r="http://schemas.openxmlformats.org/officeDocument/2006/relationships" id="257" r:id="R1f137962ff604313"/>
    <p:sldId xmlns:r="http://schemas.openxmlformats.org/officeDocument/2006/relationships" id="258" r:id="Rc295c61b948f4110"/>
    <p:sldId xmlns:r="http://schemas.openxmlformats.org/officeDocument/2006/relationships" id="259" r:id="R6963243d4b8c40be"/>
    <p:sldId xmlns:r="http://schemas.openxmlformats.org/officeDocument/2006/relationships" id="260" r:id="R5a0e1e62c5ba4ce3"/>
    <p:sldId xmlns:r="http://schemas.openxmlformats.org/officeDocument/2006/relationships" id="261" r:id="R3791c64d88664094"/>
    <p:sldId xmlns:r="http://schemas.openxmlformats.org/officeDocument/2006/relationships" id="262" r:id="R5751ac3fbaac4709"/>
    <p:sldId xmlns:r="http://schemas.openxmlformats.org/officeDocument/2006/relationships" id="263" r:id="Rdd7866ee8f9943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548fecb6ab4349" /><Relationship Type="http://schemas.openxmlformats.org/officeDocument/2006/relationships/slideMaster" Target="/ppt/slideMasters/slideMaster1.xml" Id="R29853a3f93bd497b" /><Relationship Type="http://schemas.openxmlformats.org/officeDocument/2006/relationships/notesMaster" Target="/ppt/notesMasters/notesMaster1.xml" Id="R12c7357f17804564" /><Relationship Type="http://schemas.openxmlformats.org/officeDocument/2006/relationships/presProps" Target="/ppt/presProps.xml" Id="Re21b2a4bf6204a1b" /><Relationship Type="http://schemas.openxmlformats.org/officeDocument/2006/relationships/tableStyles" Target="/ppt/tableStyles.xml" Id="R5f29ac8a5671482d" /><Relationship Type="http://schemas.openxmlformats.org/officeDocument/2006/relationships/slide" Target="/ppt/slides/slide1.xml" Id="R6683d7af37c44f9a" /><Relationship Type="http://schemas.openxmlformats.org/officeDocument/2006/relationships/slide" Target="/ppt/slides/slide2.xml" Id="R1f137962ff604313" /><Relationship Type="http://schemas.openxmlformats.org/officeDocument/2006/relationships/slide" Target="/ppt/slides/slide3.xml" Id="Rc295c61b948f4110" /><Relationship Type="http://schemas.openxmlformats.org/officeDocument/2006/relationships/slide" Target="/ppt/slides/slide4.xml" Id="R6963243d4b8c40be" /><Relationship Type="http://schemas.openxmlformats.org/officeDocument/2006/relationships/slide" Target="/ppt/slides/slide5.xml" Id="R5a0e1e62c5ba4ce3" /><Relationship Type="http://schemas.openxmlformats.org/officeDocument/2006/relationships/slide" Target="/ppt/slides/slide6.xml" Id="R3791c64d88664094" /><Relationship Type="http://schemas.openxmlformats.org/officeDocument/2006/relationships/slide" Target="/ppt/slides/slide7.xml" Id="R5751ac3fbaac4709" /><Relationship Type="http://schemas.openxmlformats.org/officeDocument/2006/relationships/slide" Target="/ppt/slides/slide8.xml" Id="Rdd7866ee8f9943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45b8d8cd774a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56d567f86647a0" /><Relationship Type="http://schemas.openxmlformats.org/officeDocument/2006/relationships/notesMaster" Target="/ppt/notesMasters/notesMaster1.xml" Id="Ra5c7b093a59f4b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ca8dfeaed349f8" /><Relationship Type="http://schemas.openxmlformats.org/officeDocument/2006/relationships/notesMaster" Target="/ppt/notesMasters/notesMaster1.xml" Id="R6d3993e14e1846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0cff01320249ac" /><Relationship Type="http://schemas.openxmlformats.org/officeDocument/2006/relationships/notesMaster" Target="/ppt/notesMasters/notesMaster1.xml" Id="Rf256aac0f47b47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ab5cf586474cb3" /><Relationship Type="http://schemas.openxmlformats.org/officeDocument/2006/relationships/notesMaster" Target="/ppt/notesMasters/notesMaster1.xml" Id="Rca7efc8bc86646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3ce4b922ee4441" /><Relationship Type="http://schemas.openxmlformats.org/officeDocument/2006/relationships/notesMaster" Target="/ppt/notesMasters/notesMaster1.xml" Id="R2f7cf801857948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3adae73343409f" /><Relationship Type="http://schemas.openxmlformats.org/officeDocument/2006/relationships/notesMaster" Target="/ppt/notesMasters/notesMaster1.xml" Id="Raf9af290e81544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8d6ef205724a91" /><Relationship Type="http://schemas.openxmlformats.org/officeDocument/2006/relationships/notesMaster" Target="/ppt/notesMasters/notesMaster1.xml" Id="Rc987ed15806242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f6d9d59d9047a5" /><Relationship Type="http://schemas.openxmlformats.org/officeDocument/2006/relationships/notesMaster" Target="/ppt/notesMasters/notesMaster1.xml" Id="Rbeb2052d0a3e48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567d10e29a48c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8f14a30434481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9997e25ca74b4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7276c877e24c3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22e893b94d4ae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c463ce46ea44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2EC43F-F7E7-4A12-9643-BFF597D6D0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6152354-EBEB-4BAD-B3DF-C30E74BDF5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F1A8ACE-E5DD-4C64-B444-3EF1427182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9AF7CC-082A-4493-BEBA-DCB420864C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4DA16A5-DBDA-407B-93CE-4FACFFA0D9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E489FB4-AA41-4534-949A-DAE87EFADB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8194869-5BEF-406C-A7E4-1D8287A6AA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86FA2B4-1A57-42BD-865B-B310EDC0F07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70FF30-4C23-4B2F-8FCC-9D0331349F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436550-4D14-4767-AF32-9402AD1CAF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59a3aa168046b2" /><Relationship Type="http://schemas.openxmlformats.org/officeDocument/2006/relationships/slideLayout" Target="/ppt/slideLayouts/slideLayout1.xml" Id="R24a8ee61cd764783" /><Relationship Type="http://schemas.openxmlformats.org/officeDocument/2006/relationships/slideLayout" Target="/ppt/slideLayouts/slideLayout2.xml" Id="Rfd10720c32234ae4" /><Relationship Type="http://schemas.openxmlformats.org/officeDocument/2006/relationships/slideLayout" Target="/ppt/slideLayouts/slideLayout3.xml" Id="R9535386dde5e4578" /><Relationship Type="http://schemas.openxmlformats.org/officeDocument/2006/relationships/slideLayout" Target="/ppt/slideLayouts/slideLayout4.xml" Id="R708d08c616ca4be0" /><Relationship Type="http://schemas.openxmlformats.org/officeDocument/2006/relationships/slideLayout" Target="/ppt/slideLayouts/slideLayout5.xml" Id="R0a90d81337c3462c" /><Relationship Type="http://schemas.openxmlformats.org/officeDocument/2006/relationships/slideLayout" Target="/ppt/slideLayouts/slideLayout6.xml" Id="Rf7657532c53349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a8ee61cd764783"/>
    <p:sldLayoutId xmlns:r="http://schemas.openxmlformats.org/officeDocument/2006/relationships" id="2147483650" r:id="Rfd10720c32234ae4"/>
    <p:sldLayoutId xmlns:r="http://schemas.openxmlformats.org/officeDocument/2006/relationships" id="2147483651" r:id="R9535386dde5e4578"/>
    <p:sldLayoutId xmlns:r="http://schemas.openxmlformats.org/officeDocument/2006/relationships" id="2147483652" r:id="R708d08c616ca4be0"/>
    <p:sldLayoutId xmlns:r="http://schemas.openxmlformats.org/officeDocument/2006/relationships" id="2147483653" r:id="R0a90d81337c3462c"/>
    <p:sldLayoutId xmlns:r="http://schemas.openxmlformats.org/officeDocument/2006/relationships" id="2147483654" r:id="Rf7657532c53349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47da0fcc754769" /><Relationship Type="http://schemas.openxmlformats.org/officeDocument/2006/relationships/notesSlide" Target="/ppt/notesSlides/notesSlide1.xml" Id="R824e9b291b1542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bee774ba114f20" /><Relationship Type="http://schemas.openxmlformats.org/officeDocument/2006/relationships/notesSlide" Target="/ppt/notesSlides/notesSlide2.xml" Id="R43ffb21abe6a4c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b2925fe48e4487" /><Relationship Type="http://schemas.openxmlformats.org/officeDocument/2006/relationships/notesSlide" Target="/ppt/notesSlides/notesSlide3.xml" Id="Ra12f47e155754d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84b8c774264539" /><Relationship Type="http://schemas.openxmlformats.org/officeDocument/2006/relationships/notesSlide" Target="/ppt/notesSlides/notesSlide4.xml" Id="R224f07e76d6b4e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da8fad96744874" /><Relationship Type="http://schemas.openxmlformats.org/officeDocument/2006/relationships/notesSlide" Target="/ppt/notesSlides/notesSlide5.xml" Id="Re57680e59b6b4a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f5f09244c34bc1" /><Relationship Type="http://schemas.openxmlformats.org/officeDocument/2006/relationships/notesSlide" Target="/ppt/notesSlides/notesSlide6.xml" Id="Rc555514973e349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fa9172442b4cef" /><Relationship Type="http://schemas.openxmlformats.org/officeDocument/2006/relationships/notesSlide" Target="/ppt/notesSlides/notesSlide7.xml" Id="Rfa473ce8686e4b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628d22c97444fd" /><Relationship Type="http://schemas.openxmlformats.org/officeDocument/2006/relationships/notesSlide" Target="/ppt/notesSlides/notesSlide8.xml" Id="R64a3ffe1c5a04c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2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D9FF5-EFBD-41F4-939E-B48ED448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93C5F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93C5FD"/>
                </a:solidFill>
              </a:defRPr>
            </a:pPr>
            <a:r>
              <a:rPr sz="1350" b="1">
                <a:solidFill>
                  <a:srgbClr val="93C5FD"/>
                </a:solidFill>
              </a:rPr>
              <a:t>UFCEP6 0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BBDC2-92D5-4303-A43E-D2666ED2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762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Release 2 Integrated</a:t>
            </a:r>
          </a:p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Hospital Patient Pathway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85430-1F91-4776-BB3A-F3CB4210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DCE9F7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DCE9F7"/>
                </a:solidFill>
              </a:defRPr>
            </a:pPr>
            <a:r>
              <a:rPr sz="1725" b="0">
                <a:solidFill>
                  <a:srgbClr val="DCE9F7"/>
                </a:solidFill>
              </a:rPr>
              <a:t>Operational BPMN, Camunda Forms, external workers and persistence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2661B-2AA3-4514-8616-B01CD304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001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234864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D6674-D52F-42E9-A6FC-06530C51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387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Submission package includes presentation, evidence documents, executable BPMN, forms, worker source and run instructions.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200C9-614C-4255-BF5B-DD4C4FC8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93C5FD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93C5FD"/>
                </a:solidFill>
              </a:defRPr>
            </a:pPr>
            <a:r>
              <a:rPr sz="1125" b="1">
                <a:solidFill>
                  <a:srgbClr val="93C5FD"/>
                </a:solidFill>
              </a:rPr>
              <a:t>20 October 2026</a:t>
            </a:r>
          </a:p>
        </p:txBody>
      </p:sp>
    </p:spTree>
    <p:extLst>
      <p:ext uri="{BB962C8B-B14F-4D97-AF65-F5344CB8AC3E}">
        <p14:creationId xmlns:p14="http://schemas.microsoft.com/office/powerpoint/2010/main" val="7945874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5B8BB6-9F9C-4B82-AB53-52261BEF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UFCEP6 0 3  Release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61A19-4CFF-42DE-9A22-62BB33C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8324A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8324A"/>
                </a:solidFill>
              </a:defRPr>
            </a:pPr>
            <a:r>
              <a:rPr sz="2400" b="1">
                <a:solidFill>
                  <a:srgbClr val="18324A"/>
                </a:solidFill>
              </a:rPr>
              <a:t>Release 2 system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625A5-ED3F-41F9-86F9-F078CE9E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26276"/>
                </a:solidFill>
              </a:defRPr>
            </a:pPr>
            <a:r>
              <a:rPr sz="1050" b="1">
                <a:solidFill>
                  <a:srgbClr val="526276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29DEF-5068-43F7-BD9F-05FA9CE5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5D8B7-28B8-4052-8C1F-995C2C46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8B48C-0BA7-4B17-8387-BA3928AA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609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8324A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Referral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6258E8-746D-4574-8E1C-CB680833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16097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276"/>
                </a:solidFill>
              </a:defRPr>
            </a:pPr>
            <a:r>
              <a:rPr sz="1200" b="0">
                <a:solidFill>
                  <a:srgbClr val="526276"/>
                </a:solidFill>
              </a:rPr>
              <a:t>Validate referral and record consultant decision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48A21-FD33-4C8C-9174-577A4045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952625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959CD2-6250-4F25-8174-DC672A64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171700"/>
            <a:ext cx="1609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8324A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Appointment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DF32A5-78DD-4E81-B1FB-441BAC89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647950"/>
            <a:ext cx="16097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276"/>
                </a:solidFill>
              </a:defRPr>
            </a:pPr>
            <a:r>
              <a:rPr sz="1200" b="0">
                <a:solidFill>
                  <a:srgbClr val="526276"/>
                </a:solidFill>
              </a:rPr>
              <a:t>Search slots, confirm contact and handle exceptions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D97899-8C99-414A-AB44-A4A5D530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952625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57296-DA71-413C-9ACA-BED65256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71700"/>
            <a:ext cx="1609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8324A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Finance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6C80EA-D074-4FF8-A5FC-9777583C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47950"/>
            <a:ext cx="16097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276"/>
                </a:solidFill>
              </a:defRPr>
            </a:pPr>
            <a:r>
              <a:rPr sz="1200" b="0">
                <a:solidFill>
                  <a:srgbClr val="526276"/>
                </a:solidFill>
              </a:rPr>
              <a:t>Determine funding, payment or refund and clearance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DB0138-CE1C-4355-8F1C-ACE7E964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952625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DCEDAD-6577-4CBF-AD49-1CB8AE50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171700"/>
            <a:ext cx="1609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8324A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Treatment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45F3CF-CAF2-494E-89EE-3246BD35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647950"/>
            <a:ext cx="16097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276"/>
                </a:solidFill>
              </a:defRPr>
            </a:pPr>
            <a:r>
              <a:rPr sz="1200" b="0">
                <a:solidFill>
                  <a:srgbClr val="526276"/>
                </a:solidFill>
              </a:rPr>
              <a:t>Assess treatment, review cycle and record actions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955589-B958-4C40-9F41-CB75B8D0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952625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FF50ED-B7D8-41AC-9C96-A5C804F4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71700"/>
            <a:ext cx="1609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8324A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Enquiry and letter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A35B00-E6D4-4F8F-956F-F2F08B49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47950"/>
            <a:ext cx="16097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276"/>
                </a:solidFill>
              </a:defRPr>
            </a:pPr>
            <a:r>
              <a:rPr sz="1200" b="0">
                <a:solidFill>
                  <a:srgbClr val="526276"/>
                </a:solidFill>
              </a:rPr>
              <a:t>Route enquiries, approve letters and monitor follow 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BD84A2-C31B-44AA-9E9E-16F06322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The executable Hospital Master Process coordinates all five child BPMN processes.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89D33E-A0AE-4C81-A9D1-71DC9A8D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276"/>
                </a:solidFill>
              </a:defRPr>
            </a:pPr>
            <a:r>
              <a:rPr sz="900" b="0">
                <a:solidFill>
                  <a:srgbClr val="526276"/>
                </a:solidFill>
              </a:rPr>
              <a:t>Supporting evidence: 02_Release2_Integrated_BPMN/00_Integration/Hospital_Master_Process.bpmn</a:t>
            </a:r>
          </a:p>
        </p:txBody>
      </p:sp>
    </p:spTree>
    <p:extLst>
      <p:ext uri="{BB962C8B-B14F-4D97-AF65-F5344CB8AC3E}">
        <p14:creationId xmlns:p14="http://schemas.microsoft.com/office/powerpoint/2010/main" val="6112187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394309-D790-433B-8036-6A952674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UFCEP6 0 3  Release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81D7C-9BC5-489A-955E-6D8745D2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8324A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8324A"/>
                </a:solidFill>
              </a:defRPr>
            </a:pPr>
            <a:r>
              <a:rPr sz="2400" b="1">
                <a:solidFill>
                  <a:srgbClr val="18324A"/>
                </a:solidFill>
              </a:rPr>
              <a:t>Response to tutor feedback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4FAA0-2B44-4A89-82C0-4D224116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26276"/>
                </a:solidFill>
              </a:defRPr>
            </a:pPr>
            <a:r>
              <a:rPr sz="1050" b="1">
                <a:solidFill>
                  <a:srgbClr val="526276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C69086-7F1C-41AA-B8A7-EB005B14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64743-055A-4314-9E96-BBEF7308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D65DC-DFFC-4733-B697-9BE45598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335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8324A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8324A"/>
                </a:solidFill>
              </a:defRPr>
            </a:pPr>
            <a:r>
              <a:rPr sz="1275" b="1">
                <a:solidFill>
                  <a:srgbClr val="18324A"/>
                </a:solidFill>
              </a:rPr>
              <a:t>Form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01CEE-0ABD-4D5B-9C4A-00F248E5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3357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Required fields and conditional choices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A3481-8B7A-4B7F-829B-9C97D1C0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33575"/>
            <a:ext cx="3667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All critical forms use 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3D0E0D-7A6E-406C-AE36-F2288430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109728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76D78A-AECE-4369-B956-0B398C74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241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8324A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8324A"/>
                </a:solidFill>
              </a:defRPr>
            </a:pPr>
            <a:r>
              <a:rPr sz="1275" b="1">
                <a:solidFill>
                  <a:srgbClr val="18324A"/>
                </a:solidFill>
              </a:rPr>
              <a:t>Merging gateways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B7B573-C0F2-417D-98D2-8BB43BB5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2417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Converging gateways and controlled retry loops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5652F2-7F06-4623-9D11-1FBA5C95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24175"/>
            <a:ext cx="3667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Clearer path rejoining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94EB53-97C8-416F-AD0F-9098C028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041598-CC0F-4882-8167-7BEAD65F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147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8324A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8324A"/>
                </a:solidFill>
              </a:defRPr>
            </a:pPr>
            <a:r>
              <a:rPr sz="1275" b="1">
                <a:solidFill>
                  <a:srgbClr val="18324A"/>
                </a:solidFill>
              </a:rPr>
              <a:t>Scenario coverage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E859F-EC65-45EF-A905-E0C87F67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1477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New action and exception forms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54F3D2-B092-4129-83F5-9D0A6C48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14775"/>
            <a:ext cx="3667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Referral, appointment, treatment, enquiry and letter cases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6C331A-E407-4459-806D-ED240E5D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109728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6EA1D6-3E87-420A-A86A-368CD1DD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053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8324A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8324A"/>
                </a:solidFill>
              </a:defRPr>
            </a:pPr>
            <a:r>
              <a:rPr sz="1275" b="1">
                <a:solidFill>
                  <a:srgbClr val="18324A"/>
                </a:solidFill>
              </a:rPr>
              <a:t>Data persistence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1BF510-4B4C-4272-B848-B6277844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0537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H2 repository with load and save behaviour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62083F-4DEC-4136-BCCD-FC976CC6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05375"/>
            <a:ext cx="3667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Data can be retrieved by application identifiers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5CA160-7404-4727-8A0B-E8F18DC4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276"/>
                </a:solidFill>
              </a:defRPr>
            </a:pPr>
            <a:r>
              <a:rPr sz="900" b="0">
                <a:solidFill>
                  <a:srgbClr val="526276"/>
                </a:solidFill>
              </a:rPr>
              <a:t>Supporting evidence: 05_Evidence_Documents/Teacher_Feedback_Implementation_Evidence.docx</a:t>
            </a:r>
          </a:p>
        </p:txBody>
      </p:sp>
    </p:spTree>
    <p:extLst>
      <p:ext uri="{BB962C8B-B14F-4D97-AF65-F5344CB8AC3E}">
        <p14:creationId xmlns:p14="http://schemas.microsoft.com/office/powerpoint/2010/main" val="21070998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24B563-72F5-4167-A373-09D07EE2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UFCEP6 0 3  Release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32FC6-3C9C-4C4C-94EF-AC5BEE98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8324A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8324A"/>
                </a:solidFill>
              </a:defRPr>
            </a:pPr>
            <a:r>
              <a:rPr sz="2400" b="1">
                <a:solidFill>
                  <a:srgbClr val="18324A"/>
                </a:solidFill>
              </a:rPr>
              <a:t>Forms and operational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1F81C-9450-4941-891F-D4DEDB68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26276"/>
                </a:solidFill>
              </a:defRPr>
            </a:pPr>
            <a:r>
              <a:rPr sz="1050" b="1">
                <a:solidFill>
                  <a:srgbClr val="526276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57944-C80C-4764-8FA0-B7D9C44B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E1E57C-AFE0-4444-B7A3-E17787E8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0482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69878-FE24-47D3-9FD6-9E451B77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8324A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24A"/>
                </a:solidFill>
              </a:defRPr>
            </a:pPr>
            <a:r>
              <a:rPr sz="1650" b="1">
                <a:solidFill>
                  <a:srgbClr val="18324A"/>
                </a:solidFill>
              </a:rPr>
              <a:t>Form improvements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5BA115-C2DF-4302-B671-56781F65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•  24 Camunda form definitions grouped by process owner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A5742-5AB7-49F1-885B-5CD2FFE5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•  Required inputs and bounded options for decisions and outcomes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5587D0-F9CA-4787-BC53-D8D0AB91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•  Added exception forms for referral action, appointment resolution, treatment action, enquiry route and clinic letter administration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896F5-21DB-482D-8D3C-6C7D4312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90700"/>
            <a:ext cx="56007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C6EE5F-4947-441D-90A0-9203B806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8324A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24A"/>
                </a:solidFill>
              </a:defRPr>
            </a:pPr>
            <a:r>
              <a:rPr sz="1650" b="1">
                <a:solidFill>
                  <a:srgbClr val="18324A"/>
                </a:solidFill>
              </a:rPr>
              <a:t>Operational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6CE16E-F734-4BB7-8843-0D158654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717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•  Task to form bindings are consistent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AEA06D-245F-4DBF-A2F8-055EDA6B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861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•  All child BPMN flow references pass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E9EA4-F604-4648-B755-249613E5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00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•  Normal and exception scenarios can be demonstrated through the master 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7F41F4-6BA0-458B-A2CE-63125BC5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276"/>
                </a:solidFill>
              </a:defRPr>
            </a:pPr>
            <a:r>
              <a:rPr sz="900" b="0">
                <a:solidFill>
                  <a:srgbClr val="526276"/>
                </a:solidFill>
              </a:rPr>
              <a:t>Supporting evidence: 03_Camunda_Forms and 02_Release2_Integrated_BPMN</a:t>
            </a:r>
          </a:p>
        </p:txBody>
      </p:sp>
    </p:spTree>
    <p:extLst>
      <p:ext uri="{BB962C8B-B14F-4D97-AF65-F5344CB8AC3E}">
        <p14:creationId xmlns:p14="http://schemas.microsoft.com/office/powerpoint/2010/main" val="7862369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04349C-1DD3-43A2-A647-923B3981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UFCEP6 0 3  Release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EF149-00BB-41DD-8A61-B5BF3DBB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8324A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8324A"/>
                </a:solidFill>
              </a:defRPr>
            </a:pPr>
            <a:r>
              <a:rPr sz="2400" b="1">
                <a:solidFill>
                  <a:srgbClr val="18324A"/>
                </a:solidFill>
              </a:rPr>
              <a:t>External workers and data persistence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8B96BB-9B29-4B27-9DDF-DFB75AB6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26276"/>
                </a:solidFill>
              </a:defRPr>
            </a:pPr>
            <a:r>
              <a:rPr sz="1050" b="1">
                <a:solidFill>
                  <a:srgbClr val="526276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87E0A6-43B6-4B64-B8A1-B6D9B638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E5919-A856-49C8-8A9B-AD33E93B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905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82573-A218-4CDD-99C7-7223FB3E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2E914-9ADE-4354-827A-DB665B66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Form and process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C28DA-F654-46A6-8D0C-8C592132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81250"/>
            <a:ext cx="1905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963C4-8C5C-4A8F-A5DE-0B6AA127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7175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470498-1A4A-4B75-A3FF-5844F681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00375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Worker receives job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C9975-C57B-44C8-A364-904329AD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81250"/>
            <a:ext cx="1905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F910D5-3AA1-4F09-82D0-7990886F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7175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637E51-4804-450C-B116-E2331C84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00375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Repository loads and merges application record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C77EE-C899-4E1E-A204-B07984D4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81250"/>
            <a:ext cx="1905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5F3172-3D9A-4F9B-BC4C-AB6ADFF9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7175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14CE01-B803-4D50-ABC4-AFCC9357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00375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Repository saves updated 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98B6C2-FD96-4351-9582-654D8505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81250"/>
            <a:ext cx="1905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CD7A3E-E25F-42D8-BABC-BB952BAA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7175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1AAF13-F471-445C-A06A-966407D8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00375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Process continues with persisted status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2940FF-F0EE-4FE9-A17B-60FB2CD7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ApplicationDataRepository provides embedded H2 persistence for patient, referral, appointment, finance and treatment data.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32F016-3A65-4826-9156-AC51C27F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276"/>
                </a:solidFill>
              </a:defRPr>
            </a:pPr>
            <a:r>
              <a:rPr sz="900" b="0">
                <a:solidFill>
                  <a:srgbClr val="526276"/>
                </a:solidFill>
              </a:rPr>
              <a:t>Supporting evidence: 04_External_Workers/src/main/java/org/hospital/workers/ApplicationDataRepository.java</a:t>
            </a:r>
          </a:p>
        </p:txBody>
      </p:sp>
    </p:spTree>
    <p:extLst>
      <p:ext uri="{BB962C8B-B14F-4D97-AF65-F5344CB8AC3E}">
        <p14:creationId xmlns:p14="http://schemas.microsoft.com/office/powerpoint/2010/main" val="10310740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4F40DF-09C4-4533-942D-A5DE9978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UFCEP6 0 3  Release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DF8BF-5FE0-4416-8A91-43EC0B0E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8324A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8324A"/>
                </a:solidFill>
              </a:defRPr>
            </a:pPr>
            <a:r>
              <a:rPr sz="2400" b="1">
                <a:solidFill>
                  <a:srgbClr val="18324A"/>
                </a:solidFill>
              </a:rPr>
              <a:t>Verification and acceptance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31CF4-7EE4-4F52-97D8-CA255391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26276"/>
                </a:solidFill>
              </a:defRPr>
            </a:pPr>
            <a:r>
              <a:rPr sz="1050" b="1">
                <a:solidFill>
                  <a:srgbClr val="526276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338D0-AC16-4FBF-A062-657B10BE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6950D3-E245-43D0-AF94-DE49BA70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143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FD28EF-349D-4915-B098-65293A8D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8324A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24A"/>
                </a:solidFill>
              </a:defRPr>
            </a:pPr>
            <a:r>
              <a:rPr sz="1650" b="1">
                <a:solidFill>
                  <a:srgbClr val="18324A"/>
                </a:solidFill>
              </a:rPr>
              <a:t>Completed automated checks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3F3B81-F880-42F9-979B-ED26BFE3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33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•  24 form definitions and five child BPMN files validated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1F4FE8-4CDF-48F1-9509-81EB554F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433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•  Worker and persistence tests passed in offline test runner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40799-0FDD-4340-9171-2CE5F67B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433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•  Deployment smoke test deployed master and child BPMN processes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38A71-9096-4905-87B6-A81AD2FC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53911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241C35-6599-4586-9420-AC080686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8324A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24A"/>
                </a:solidFill>
              </a:defRPr>
            </a:pPr>
            <a:r>
              <a:rPr sz="1650" b="1">
                <a:solidFill>
                  <a:srgbClr val="18324A"/>
                </a:solidFill>
              </a:rPr>
              <a:t>Acceptance evidence 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B533CE-5565-4BCD-892A-4DA3BCFF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717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•  Validated form completion and decision outcomes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8FCC2D-B179-4576-A181-6C251EA3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861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•  Normal and exception process-path outcomes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D7937D-7431-4593-A975-76DD23FD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004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•  Persistence retrieval using an application identifier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6C19DB-12B2-4D52-A929-90041B1C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276"/>
                </a:solidFill>
              </a:defRPr>
            </a:pPr>
            <a:r>
              <a:rPr sz="900" b="0">
                <a:solidFill>
                  <a:srgbClr val="526276"/>
                </a:solidFill>
              </a:rPr>
              <a:t>Supporting evidence: 05_Evidence_Documents/Plan _Test_Results.docx</a:t>
            </a:r>
          </a:p>
        </p:txBody>
      </p:sp>
    </p:spTree>
    <p:extLst>
      <p:ext uri="{BB962C8B-B14F-4D97-AF65-F5344CB8AC3E}">
        <p14:creationId xmlns:p14="http://schemas.microsoft.com/office/powerpoint/2010/main" val="602419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0E71B4-4639-4F5C-89AB-0D340504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UFCEP6 0 3  Release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8FB59-DF7D-4FFC-BF93-54BF21DD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8324A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8324A"/>
                </a:solidFill>
              </a:defRPr>
            </a:pPr>
            <a:r>
              <a:rPr sz="2400" b="1">
                <a:solidFill>
                  <a:srgbClr val="18324A"/>
                </a:solidFill>
              </a:rPr>
              <a:t>Project plan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6785CD-C366-40C1-9C92-8DB79EB9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26276"/>
                </a:solidFill>
              </a:defRPr>
            </a:pPr>
            <a:r>
              <a:rPr sz="1050" b="1">
                <a:solidFill>
                  <a:srgbClr val="526276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985BB-827B-426D-A79A-A1971D79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05923-DE7B-4A98-8C1F-D991BDE0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524125" cy="2905125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7B2A0F-4034-4567-8760-2B38F4B0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8324A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Initial plan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708ED6-9549-425E-A1D3-B4EDE86E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2095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Operational process decomposition and base forms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96A048-9AE1-4D06-B9B2-BCE4DF6D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952625"/>
            <a:ext cx="2524125" cy="2905125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9A7D7-A24F-45AE-8262-FEE1122A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190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8324A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Actual progress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3CBBCC-AF16-469F-9DA7-F0B8DA5A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724150"/>
            <a:ext cx="2095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Implemented child processes, integration and executable worker logic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62164F-69BE-4196-B938-43E57A21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52625"/>
            <a:ext cx="2524125" cy="2905125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F4821-8C61-4281-A470-803E0ECC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8324A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Revised 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545494-4834-499E-A23B-FF1A0C89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24150"/>
            <a:ext cx="2095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Tutor feedback drove validation, gateways, missing form options and persistence 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2FF15E-6E88-4275-9DE8-2A520E4F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952625"/>
            <a:ext cx="2524125" cy="2905125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1D2507-D009-4766-8C14-02435137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190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8324A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Remaining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529CE1-86DF-4F9B-BE48-A297207C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724150"/>
            <a:ext cx="2095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Capture final user interface screenshots for normal, exception and persisted data retrieval paths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5425A3-BBFB-4782-9F5C-D9D849C9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276"/>
                </a:solidFill>
              </a:defRPr>
            </a:pPr>
            <a:r>
              <a:rPr sz="900" b="0">
                <a:solidFill>
                  <a:srgbClr val="526276"/>
                </a:solidFill>
              </a:rPr>
              <a:t>Supporting evidence: 05_Evidence_Documents/Plan _Test_Results.docx</a:t>
            </a:r>
          </a:p>
        </p:txBody>
      </p:sp>
    </p:spTree>
    <p:extLst>
      <p:ext uri="{BB962C8B-B14F-4D97-AF65-F5344CB8AC3E}">
        <p14:creationId xmlns:p14="http://schemas.microsoft.com/office/powerpoint/2010/main" val="1299418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4CBB20-B3BD-471B-8D0F-8538F9C9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UFCEP6 0 3  Release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2A07E-FDB5-4FC4-AC50-B67CE4FD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8324A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8324A"/>
                </a:solidFill>
              </a:defRPr>
            </a:pPr>
            <a:r>
              <a:rPr sz="2400" b="1">
                <a:solidFill>
                  <a:srgbClr val="18324A"/>
                </a:solidFill>
              </a:rPr>
              <a:t>Release 2 repository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C121B9-8CFD-48EE-B98F-E3F8B140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26276"/>
                </a:solidFill>
              </a:defRPr>
            </a:pPr>
            <a:r>
              <a:rPr sz="1050" b="1">
                <a:solidFill>
                  <a:srgbClr val="526276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25A5D-7132-4F22-BC85-E61CB76B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63E784-5C21-4125-AE2C-43E252BA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8324A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8324A"/>
                </a:solidFill>
              </a:defRPr>
            </a:pPr>
            <a:r>
              <a:rPr sz="1725" b="1">
                <a:solidFill>
                  <a:srgbClr val="18324A"/>
                </a:solidFill>
              </a:rPr>
              <a:t>Integrated release contents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66550-D17B-49B8-99A3-7AC37F55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Executable integrated master process with five revised child BPMN processes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7E489-AD23-4169-8FBA-087C4CCA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Validated Camunda forms supporting normal and exception business scenarios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5CF7CC-A124-409F-AE22-50D78B42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External workers with an embedded H2 application data repository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78312E-773C-4485-95D6-8BBC45A0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Feedback response, plan evaluation and acceptance-test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AB19C-D361-4E97-BD29-5AE7C072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Evidence structure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550564-0853-439B-978C-2B4E242C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Integrated BPMN   Forms   External workers   Evidence documents   Repository version manifest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B4B43C-EE6D-4D76-A5FB-67B2ED37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276"/>
                </a:solidFill>
              </a:defRPr>
            </a:pPr>
            <a:r>
              <a:rPr sz="900" b="0">
                <a:solidFill>
                  <a:srgbClr val="526276"/>
                </a:solidFill>
              </a:rPr>
              <a:t>Supporting evidence: README_SUBMISSION.md and REPOSITORY_VERSION_MANIFEST.md in this submission folder</a:t>
            </a:r>
          </a:p>
        </p:txBody>
      </p:sp>
    </p:spTree>
    <p:extLst>
      <p:ext uri="{BB962C8B-B14F-4D97-AF65-F5344CB8AC3E}">
        <p14:creationId xmlns:p14="http://schemas.microsoft.com/office/powerpoint/2010/main" val="13663766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2026-10-15T02:30:22.3230000Z</dcterms:created>
  <dcterms:modified xsi:type="dcterms:W3CDTF">2026-10-15T02:30:22.3230000Z</dcterms:modified>
</coreProperties>
</file>