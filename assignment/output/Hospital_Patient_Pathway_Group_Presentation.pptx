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a7c9771384d6c" /><Relationship Type="http://schemas.openxmlformats.org/officeDocument/2006/relationships/extended-properties" Target="/docProps/app.xml" Id="R4a0b4aa0ef7e45e9" /><Relationship Type="http://schemas.openxmlformats.org/officeDocument/2006/relationships/officeDocument" Target="/ppt/presentation.xml" Id="Re0919c23019249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5073bbb7634758"/>
  </p:sldMasterIdLst>
  <p:notesMasterIdLst>
    <p:notesMasterId xmlns:r="http://schemas.openxmlformats.org/officeDocument/2006/relationships" r:id="R844c147e7d7b495a"/>
  </p:notesMasterIdLst>
  <p:sldIdLst>
    <p:sldId xmlns:r="http://schemas.openxmlformats.org/officeDocument/2006/relationships" id="256" r:id="R68943a30779c42f3"/>
    <p:sldId xmlns:r="http://schemas.openxmlformats.org/officeDocument/2006/relationships" id="257" r:id="R320b057215054c0d"/>
    <p:sldId xmlns:r="http://schemas.openxmlformats.org/officeDocument/2006/relationships" id="258" r:id="R2f6fc89e17464dca"/>
    <p:sldId xmlns:r="http://schemas.openxmlformats.org/officeDocument/2006/relationships" id="259" r:id="R1564308428ad4a7f"/>
    <p:sldId xmlns:r="http://schemas.openxmlformats.org/officeDocument/2006/relationships" id="260" r:id="R1e897abe069c4de7"/>
    <p:sldId xmlns:r="http://schemas.openxmlformats.org/officeDocument/2006/relationships" id="261" r:id="Rdd97bf5a47dd4a10"/>
    <p:sldId xmlns:r="http://schemas.openxmlformats.org/officeDocument/2006/relationships" id="262" r:id="R273c973998dc44b9"/>
    <p:sldId xmlns:r="http://schemas.openxmlformats.org/officeDocument/2006/relationships" id="263" r:id="R1dde122906ff4130"/>
    <p:sldId xmlns:r="http://schemas.openxmlformats.org/officeDocument/2006/relationships" id="264" r:id="R410b435b28ea4ba3"/>
    <p:sldId xmlns:r="http://schemas.openxmlformats.org/officeDocument/2006/relationships" id="265" r:id="R4ab2c12ff2684deb"/>
    <p:sldId xmlns:r="http://schemas.openxmlformats.org/officeDocument/2006/relationships" id="266" r:id="R7d88b4b83cb84008"/>
    <p:sldId xmlns:r="http://schemas.openxmlformats.org/officeDocument/2006/relationships" id="267" r:id="R1b5269f818964a0e"/>
    <p:sldId xmlns:r="http://schemas.openxmlformats.org/officeDocument/2006/relationships" id="268" r:id="Rfa7467ad52ca412e"/>
    <p:sldId xmlns:r="http://schemas.openxmlformats.org/officeDocument/2006/relationships" id="269" r:id="R9487867cd01c43b9"/>
    <p:sldId xmlns:r="http://schemas.openxmlformats.org/officeDocument/2006/relationships" id="270" r:id="Rd523de593da14c2a"/>
    <p:sldId xmlns:r="http://schemas.openxmlformats.org/officeDocument/2006/relationships" id="271" r:id="R201046449aa844f0"/>
    <p:sldId xmlns:r="http://schemas.openxmlformats.org/officeDocument/2006/relationships" id="272" r:id="R3bfc109ebe6a4849"/>
    <p:sldId xmlns:r="http://schemas.openxmlformats.org/officeDocument/2006/relationships" id="273" r:id="R54613753026140eb"/>
    <p:sldId xmlns:r="http://schemas.openxmlformats.org/officeDocument/2006/relationships" id="274" r:id="R6b6fe5cc9e2549ce"/>
    <p:sldId xmlns:r="http://schemas.openxmlformats.org/officeDocument/2006/relationships" id="275" r:id="Ra3b0d6c3ac77419f"/>
    <p:sldId xmlns:r="http://schemas.openxmlformats.org/officeDocument/2006/relationships" id="276" r:id="R58aec4ca38e54080"/>
    <p:sldId xmlns:r="http://schemas.openxmlformats.org/officeDocument/2006/relationships" id="277" r:id="Ra2b277df08b5430d"/>
    <p:sldId xmlns:r="http://schemas.openxmlformats.org/officeDocument/2006/relationships" id="278" r:id="Rbfe043dcac274f10"/>
    <p:sldId xmlns:r="http://schemas.openxmlformats.org/officeDocument/2006/relationships" id="279" r:id="R6deb37c690da47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1f45ccc5946f7" /><Relationship Type="http://schemas.openxmlformats.org/officeDocument/2006/relationships/slideMaster" Target="/ppt/slideMasters/slideMaster1.xml" Id="R9a5073bbb7634758" /><Relationship Type="http://schemas.openxmlformats.org/officeDocument/2006/relationships/notesMaster" Target="/ppt/notesMasters/notesMaster1.xml" Id="R844c147e7d7b495a" /><Relationship Type="http://schemas.openxmlformats.org/officeDocument/2006/relationships/presProps" Target="/ppt/presProps.xml" Id="R43089c005b7346df" /><Relationship Type="http://schemas.openxmlformats.org/officeDocument/2006/relationships/tableStyles" Target="/ppt/tableStyles.xml" Id="R19744b847f054f2b" /><Relationship Type="http://schemas.openxmlformats.org/officeDocument/2006/relationships/slide" Target="/ppt/slides/slide1.xml" Id="R68943a30779c42f3" /><Relationship Type="http://schemas.openxmlformats.org/officeDocument/2006/relationships/slide" Target="/ppt/slides/slide2.xml" Id="R320b057215054c0d" /><Relationship Type="http://schemas.openxmlformats.org/officeDocument/2006/relationships/slide" Target="/ppt/slides/slide3.xml" Id="R2f6fc89e17464dca" /><Relationship Type="http://schemas.openxmlformats.org/officeDocument/2006/relationships/slide" Target="/ppt/slides/slide4.xml" Id="R1564308428ad4a7f" /><Relationship Type="http://schemas.openxmlformats.org/officeDocument/2006/relationships/slide" Target="/ppt/slides/slide5.xml" Id="R1e897abe069c4de7" /><Relationship Type="http://schemas.openxmlformats.org/officeDocument/2006/relationships/slide" Target="/ppt/slides/slide6.xml" Id="Rdd97bf5a47dd4a10" /><Relationship Type="http://schemas.openxmlformats.org/officeDocument/2006/relationships/slide" Target="/ppt/slides/slide7.xml" Id="R273c973998dc44b9" /><Relationship Type="http://schemas.openxmlformats.org/officeDocument/2006/relationships/slide" Target="/ppt/slides/slide8.xml" Id="R1dde122906ff4130" /><Relationship Type="http://schemas.openxmlformats.org/officeDocument/2006/relationships/slide" Target="/ppt/slides/slide9.xml" Id="R410b435b28ea4ba3" /><Relationship Type="http://schemas.openxmlformats.org/officeDocument/2006/relationships/slide" Target="/ppt/slides/slide10.xml" Id="R4ab2c12ff2684deb" /><Relationship Type="http://schemas.openxmlformats.org/officeDocument/2006/relationships/slide" Target="/ppt/slides/slide11.xml" Id="R7d88b4b83cb84008" /><Relationship Type="http://schemas.openxmlformats.org/officeDocument/2006/relationships/slide" Target="/ppt/slides/slide12.xml" Id="R1b5269f818964a0e" /><Relationship Type="http://schemas.openxmlformats.org/officeDocument/2006/relationships/slide" Target="/ppt/slides/slide13.xml" Id="Rfa7467ad52ca412e" /><Relationship Type="http://schemas.openxmlformats.org/officeDocument/2006/relationships/slide" Target="/ppt/slides/slide14.xml" Id="R9487867cd01c43b9" /><Relationship Type="http://schemas.openxmlformats.org/officeDocument/2006/relationships/slide" Target="/ppt/slides/slide15.xml" Id="Rd523de593da14c2a" /><Relationship Type="http://schemas.openxmlformats.org/officeDocument/2006/relationships/slide" Target="/ppt/slides/slide16.xml" Id="R201046449aa844f0" /><Relationship Type="http://schemas.openxmlformats.org/officeDocument/2006/relationships/slide" Target="/ppt/slides/slide17.xml" Id="R3bfc109ebe6a4849" /><Relationship Type="http://schemas.openxmlformats.org/officeDocument/2006/relationships/slide" Target="/ppt/slides/slide18.xml" Id="R54613753026140eb" /><Relationship Type="http://schemas.openxmlformats.org/officeDocument/2006/relationships/slide" Target="/ppt/slides/slide19.xml" Id="R6b6fe5cc9e2549ce" /><Relationship Type="http://schemas.openxmlformats.org/officeDocument/2006/relationships/slide" Target="/ppt/slides/slide20.xml" Id="Ra3b0d6c3ac77419f" /><Relationship Type="http://schemas.openxmlformats.org/officeDocument/2006/relationships/slide" Target="/ppt/slides/slide21.xml" Id="R58aec4ca38e54080" /><Relationship Type="http://schemas.openxmlformats.org/officeDocument/2006/relationships/slide" Target="/ppt/slides/slide22.xml" Id="Ra2b277df08b5430d" /><Relationship Type="http://schemas.openxmlformats.org/officeDocument/2006/relationships/slide" Target="/ppt/slides/slide23.xml" Id="Rbfe043dcac274f10" /><Relationship Type="http://schemas.openxmlformats.org/officeDocument/2006/relationships/slide" Target="/ppt/slides/slide24.xml" Id="R6deb37c690da47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1dc13ee82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c6f87bcec40fb" /><Relationship Type="http://schemas.openxmlformats.org/officeDocument/2006/relationships/notesMaster" Target="/ppt/notesMasters/notesMaster1.xml" Id="R41ed6cd9e2f145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7dc8298ce41f8" /><Relationship Type="http://schemas.openxmlformats.org/officeDocument/2006/relationships/notesMaster" Target="/ppt/notesMasters/notesMaster1.xml" Id="Rc5696bc387bd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6829c4fef410e" /><Relationship Type="http://schemas.openxmlformats.org/officeDocument/2006/relationships/notesMaster" Target="/ppt/notesMasters/notesMaster1.xml" Id="R95acb61ff5a74a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ef54ec80694be1" /><Relationship Type="http://schemas.openxmlformats.org/officeDocument/2006/relationships/notesMaster" Target="/ppt/notesMasters/notesMaster1.xml" Id="R175d162f060b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5515478154ac4" /><Relationship Type="http://schemas.openxmlformats.org/officeDocument/2006/relationships/notesMaster" Target="/ppt/notesMasters/notesMaster1.xml" Id="Rabf06e6ed697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2541998cb4164" /><Relationship Type="http://schemas.openxmlformats.org/officeDocument/2006/relationships/notesMaster" Target="/ppt/notesMasters/notesMaster1.xml" Id="Rdf4d373cff2a42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86e511daac4364" /><Relationship Type="http://schemas.openxmlformats.org/officeDocument/2006/relationships/notesMaster" Target="/ppt/notesMasters/notesMaster1.xml" Id="R4d348dceb046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0c499438644bf" /><Relationship Type="http://schemas.openxmlformats.org/officeDocument/2006/relationships/notesMaster" Target="/ppt/notesMasters/notesMaster1.xml" Id="R451a205478614e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75cc4defbe4998" /><Relationship Type="http://schemas.openxmlformats.org/officeDocument/2006/relationships/notesMaster" Target="/ppt/notesMasters/notesMaster1.xml" Id="Rd6076ab03c7849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bfff5ccb7742d5" /><Relationship Type="http://schemas.openxmlformats.org/officeDocument/2006/relationships/notesMaster" Target="/ppt/notesMasters/notesMaster1.xml" Id="Ra81f13cf33af47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21af2181a94384" /><Relationship Type="http://schemas.openxmlformats.org/officeDocument/2006/relationships/notesMaster" Target="/ppt/notesMasters/notesMaster1.xml" Id="Rcb25866d8b2846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f3358cf9747cf" /><Relationship Type="http://schemas.openxmlformats.org/officeDocument/2006/relationships/notesMaster" Target="/ppt/notesMasters/notesMaster1.xml" Id="R55271fe557ca46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95ce361eb748ca" /><Relationship Type="http://schemas.openxmlformats.org/officeDocument/2006/relationships/notesMaster" Target="/ppt/notesMasters/notesMaster1.xml" Id="R435c2883b61848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dbe52b56b84069" /><Relationship Type="http://schemas.openxmlformats.org/officeDocument/2006/relationships/notesMaster" Target="/ppt/notesMasters/notesMaster1.xml" Id="Ra34df06d51834b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4e6290f7904f70" /><Relationship Type="http://schemas.openxmlformats.org/officeDocument/2006/relationships/notesMaster" Target="/ppt/notesMasters/notesMaster1.xml" Id="Rcb74e19bcc2146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04475d64de4c06" /><Relationship Type="http://schemas.openxmlformats.org/officeDocument/2006/relationships/notesMaster" Target="/ppt/notesMasters/notesMaster1.xml" Id="R2583dce2388042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6aea01ee454f47" /><Relationship Type="http://schemas.openxmlformats.org/officeDocument/2006/relationships/notesMaster" Target="/ppt/notesMasters/notesMaster1.xml" Id="R9feab100c9c0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45b52044aa42b0" /><Relationship Type="http://schemas.openxmlformats.org/officeDocument/2006/relationships/notesMaster" Target="/ppt/notesMasters/notesMaster1.xml" Id="R9da7eb5ded8b4c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5b15fa6ac24e5c" /><Relationship Type="http://schemas.openxmlformats.org/officeDocument/2006/relationships/notesMaster" Target="/ppt/notesMasters/notesMaster1.xml" Id="R1b72deb188ad48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c99d6361e64c5f" /><Relationship Type="http://schemas.openxmlformats.org/officeDocument/2006/relationships/notesMaster" Target="/ppt/notesMasters/notesMaster1.xml" Id="Rcc17b892e6744a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736ff3e3ed4239" /><Relationship Type="http://schemas.openxmlformats.org/officeDocument/2006/relationships/notesMaster" Target="/ppt/notesMasters/notesMaster1.xml" Id="R676d036f8a8c44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1872426bee4344" /><Relationship Type="http://schemas.openxmlformats.org/officeDocument/2006/relationships/notesMaster" Target="/ppt/notesMasters/notesMaster1.xml" Id="R8add017cd0044f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11c8959f794c24" /><Relationship Type="http://schemas.openxmlformats.org/officeDocument/2006/relationships/notesMaster" Target="/ppt/notesMasters/notesMaster1.xml" Id="Ra7bdc9c958224d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28b18c01394691" /><Relationship Type="http://schemas.openxmlformats.org/officeDocument/2006/relationships/notesMaster" Target="/ppt/notesMasters/notesMaster1.xml" Id="R0b6608c50cb3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>Suggested time: 25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大家好，我们是五人小组。本项目用 Camunda BPMN、Forms 和 Java workers，把转诊、预约、财务、治疗及诊所信件连接起来。今天按照 UFCEP6-0-3 的要求，说明已有实现、可核实的改动及计划执行情况。我们会明确区分当前实现、已有运行证据以及下一次发布仍需完成的工作。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五名成员分别负责五个业务模块，贡献文档均记录为百分之二十。这是已有文档中的贡献比例，不代表自动证明投入完全相同。吴家伟还负责主流程和集成协调。我们保留第一负责人和第二负责人机制，支持跨模块复核和交接。每个人都需要解释自己的代码、表单、异常分支及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C:/Users/huanxi/Desktop/ZUOYE/Case Study - Hospital Patient Referral, Treatment and Administration System.docx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本次展示要求面向第二次发布，但是当前计划和评估文档仍标注初始发布及 Sprint 1、2。因此我们不把它们包装成已经完成的 Sprint 3、4。前后对比采用桌面保存的早期 Sprint 2 压缩包和当前工作目录，能够证明文件变化，但还不能代替正式的版本标签、导师反馈和验收记录。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我的模块在资料完整后进入顾问审核，支持接受、拒绝、转诊和继续补充信息。只有接受转诊才进入后续预约。右侧规则来自当前 BPMN，截图显示早期版本接受路径完成。这个模块没有外部 service task，所以 ReferralWorkers 只说明无需注册 worker，不能把一个 Java 文件等同于一个真实 worker。接下来由吴家伟介绍主流程集成和预约。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D:\Camunda-Workspace\models\assignment\evidence\23084366_Referral_Consultant\55c23817-c9ca-4257-8e40-ec960af764d3.png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当前主流程通过五个 call activities 调用个人模块。接受转诊后进入预约，然后先完成财务模块，再根据清算结果决定是否继续治疗。就诊后的治疗模块结束后进入信件模块。这个顺序比早期并行运行财务和治疗更清楚，但信件启动仍依赖治疗子流程结束，可能晚于真正的就诊时间，这是后面需要说明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预约模块的输入来自 AppointmentBooking 表单，worker 返回是否有号源以及是否在十四天内。十四天内除了预约信件，还需要电话联系。没有合适号源时，当前版本会重新打开预约表单，允许修改输入再查询。右侧代码展示了实际计算。需要注意，当前代码没有拒绝过去日期，因此历史截图中的预约完成不能证明日期规则全面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Java 使用一个共享适配器接收 job variables，调用业务函数，再将结果写回 Camunda。出现异常时会发送失败命令并减少剩余重试次数。六个 job type 分别属于预约、治疗、财务和信件，转诊不需要外部 worker。截图记录了六个 worker 启动和两个预约任务完成。所有外部服务仍为模拟，不代表已经连接真实医院、支付或邮件系统。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D:\Camunda-Workspace\models\assignment\evidence\java\fd811d22-ea10-40fd-a96d-31543e54de78.png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>Suggested time: 60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这一页展示真实文件差异。早期快照中治疗和财务并行，现在先完成财务并检查清算条件。三个失败或重试任务现在绑定对应表单，因此可以修改输入，而不是沿用旧值。信件审批和监控有了独立表单，数量从十二增加到十四。这些是当前文件能证明的改动，但它们是否真正解决运行问题，还需要重新部署后的回归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治疗模块先记录临床评估与患者同意，再检查请求授权和资源可用性。资源不可用时进入记录和重试任务，并重新打开表单。Continue、Delay、Modify 由临床人员决定。截图中的变量表显示同意、授权及资源可用均为 true。这里的资源由输入模拟，不能说明真实治疗资源已经预约，也不能把流程分支当成临床建议。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D:\Camunda-Workspace\models\assignment\evidence\23084368_Treatment_Chemotherapy\3aa91297-4751-4ff4-8939-3bb0eada02ca.png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我们区分三类证据：静态配置检查、Java 组件测试和 Camunda 运行。制作展示期间，原有源码以 Java 17 目标重新编译，十一项现有 JUnit 测试全部通过。使用的是本地 JUnit launcher，不是 Maven 构建，也没有连接 broker。这证明指定输入下的函数结果，不能证明全部 BPMN 分支或整个患者流程都运行成功。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D:\Camunda-Workspace\models\assignment\External_Workers\src\test\java\org\hospital\workers\WorkerLogicSmokeTest.java</a:t>
            </a:r>
          </a:p>
          <a:p xmlns:a="http://schemas.openxmlformats.org/drawingml/2006/main">
            <a:r>
              <a:t>D:\Camunda-Workspace\models\assignment\.presentation_work\code_validation\test_results.txt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现有截图不是空白证据，确实可以证明若干历史实例或执行路径。但是它们的范围有限：预约截图完成了不需要电话的路径，财务截图走的是医院承担费用的分支，不是支付退款分支。治疗截图可见执行轨迹，信件截图可见完成时间。没有找到当前主流程带所有子实例的完整证据，所以不能宣称最新版本端到端全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D:\Camunda-Workspace\models\assignment\evidence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>Suggested time: 45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现场演示可以围绕一条正常路径和一条异常路径进行。这是演示讲解顺序，来源于原有测试计划，不是已经完成的运行记录。正常路径展示转诊接受、预约、财务、治疗和审批后的信件。异常路径可展示无号源后修改输入并重试，或丢失支付确认后进入调查。每一步都要展示实例标识、关键变量与最终结果。接下来由吴童宇介绍财务控制和项目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D:\Camunda-Workspace\models\assignment\External_Workers\src\test\java\org\hospital\workers\WorkerLogicSmokeTest.java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>Suggested time: 60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财务模块区分医院承担、保险及患者付款。支付失败会进入重新输入的任务，确认丢失或重复风险进入调查。退款分支现在同时要求 refundRequired 和 refundApproved，worker 内也有检查。截图只证明医院承担费用的清算路径。我们的防重复处理目前是风险分流，没有持久化的幂等机制，不能说已经从技术上保证绝不重复扣款。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>D:\Camunda-Workspace\models\assignment\evidence\23084362_Funding_Payment_Refund\96a3e3dc-6966-435f-941e-b69da3f41411.png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评分要求把反馈、决定、行动、证据和结果连起来。我们没有找到填好的导师反馈记录，因此这一页列的是项目内部问题和文件中已落实的改动，不把它们冒充导师意见。重试表单和审批控制已经实现，但最新版本的运行结果仍需补充。完整端到端验证仍未闭环。收到导师真实反馈后，还需要补上原文、日期和对应责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当前计划估计 Sprint 1 为四十小时，Sprint 2 为三十五小时，共七十五小时。这些都是估计，没有实际工时，所以不能计算按时率或工时偏差。模型、表单和 worker 都已存在，但原计划写组件测试待执行，现已能提供十一项通过的本地结果。运行集成仍依赖最终 Camunda 环境。这说明 Done 必须关联验收条件，而不能只表示文件已经写好。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D:\Camunda-Workspace\models\assignment\.presentation_work\code_validation\test_results.txt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团队按业务领域分工有利于并行开发，但每个模块都依赖上一模块输出的变量。吴家伟负责主流程协调，因此存在集成工作集中的风险。已有第二负责人机制可以降低交接风险，不过组级测试任务只写 Group，没有明确个人。另外，缺少实际工时和任务日期，限制了对延误原因的量化分析。合理的改进是明确个人验收责任，并在每次集成时保留版本和结果。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>Suggested time: 60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信件模块把起草、临床批准、行政核对和发送分开，worker 也会拒绝未批准的信件。延迟信件进入七天计时和提醒，超过一个月或三个月有不同升级路径。截图显示历史版本的一条批准后完成路径。但年龄段由用户填写，当前信件流程又在治疗子流程结束后启动，因此不能证明所有信件都能在实际就诊七天内发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D:\Camunda-Workspace\models\assignment\evidence\24000813_Enquiry_ClinicLetter_Monitoring\213f8afd-02af-4f82-b9e3-3564cac0618d.png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>Suggested time: 55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这些限制来自代码和模型。第一，外部支付、发送信件及资源服务仍然模拟。第二，BPMN 里有岗位泳道，但没有配置实际任务授权，所以责任区分不等于权限已经实现。第三，信件时钟没有直接绑定就诊时间。第四，日期、金额和重复交易防护还比较简化。因此当前成果适合展示流程原型，不能宣称已经达到真实医院生产环境的安全和可靠性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>Suggested time: 50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最后回到评分要求。第二次发布需要可以识别的初始版和修改版、真实反馈闭环以及实际交付记录。SU3 和 SU4 分别计算个人成绩，SR3 和 SR4 分别评价当时的增量，后来的修复不能替换之前的评审结果。这一页列出目前缺少的证据，而不是编造新的进度或已完成的 Sprint。我们需要根据真实活动补齐，然后更新展示中的版本和结果。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>Suggested time: 35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我们的主要成果是把五个模块连接成可执行的流程，并实现了相应表单和六个模拟 worker。当前文件能够证明财务顺序、审批和重试输入方面的改动，十一项现有 Java 测试也已通过。剩余关键工作是把最新主流程的运行证据、真实导师反馈和实际交付记录关联起来。我们愿意进一步展示某个模块的变量、源码和异常分支。谢谢。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D:\Camunda-Workspace\models\assignment\.presentation_work\code_validation\test_results.txt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Q&amp;A</a:t>
            </a:r>
          </a:p>
          <a:p xmlns:a="http://schemas.openxmlformats.org/drawingml/2006/main">
            <a:r>
              <a:t>Suggested time: 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此页用于回答 worker 输入输出和绑定问题。job type 字符串必须与 BPMN 完全一致。转诊只有人工任务，不注册 worker。所有外部操作仍为模拟。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Q&amp;A</a:t>
            </a:r>
          </a:p>
          <a:p xmlns:a="http://schemas.openxmlformats.org/drawingml/2006/main">
            <a:r>
              <a:t>Suggested time: 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十一项测试调用的是 Java 方法。完整测试计划有 T01 到 T26，但不能把二十六个计划场景当成已经执行。边界日期、全部退款拒绝情况及引擎层测试仍是主要缺口。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D:\Camunda-Workspace\models\assignment\External_Workers\src\test\java\org\hospital\workers\WorkerLogicSmokeTest.java</a:t>
            </a:r>
          </a:p>
          <a:p xmlns:a="http://schemas.openxmlformats.org/drawingml/2006/main">
            <a:r>
              <a:t>D:\Camunda-Workspace\models\assignment\.presentation_work\code_validation\test_results.txt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Q&amp;A</a:t>
            </a:r>
          </a:p>
          <a:p xmlns:a="http://schemas.openxmlformats.org/drawingml/2006/main">
            <a:r>
              <a:t>Suggested time: 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此页给出从现有 pom 和 Java 配置整理的运行参考。需要 Java 17 以上和 Maven。先部署主流程、五个子流程和十四个表单，再启动本地 worker。默认地址是本机 26500，且使用明文连接，只适用于现有本地演示配置。命令未在本次工作中以 Maven 执行，不应把这个步骤标记为构建完成。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D:\Camunda-Workspace\models\assignment\External_Workers\pom.xml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Q&amp;A</a:t>
            </a:r>
          </a:p>
          <a:p xmlns:a="http://schemas.openxmlformats.org/drawingml/2006/main">
            <a:r>
              <a:t>Suggested time: 0 seconds. This is a rehearsal allocation, not a tutor-specified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中文讲稿</a:t>
            </a:r>
          </a:p>
          <a:p xmlns:a="http://schemas.openxmlformats.org/drawingml/2006/main">
            <a:r>
              <a:t>主要引用来自课程要求、案例、团队计划、当前源码、历史快照和原始截图。具体文件路径已放入每页备注和配套讲稿。由于没有提供可访问的仓库网址，这里不虚构在线链接。正式提交前应使用你们真实可访问的仓库地址和版本标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supporting evidence</a:t>
            </a:r>
          </a:p>
          <a:p xmlns:a="http://schemas.openxmlformats.org/drawingml/2006/main">
            <a:r>
              <a:t>C:/Users/huanxi/Desktop/ZUOYE/UFCEP6-0-3_Presentation_Assessment_Specification V2 - Tagged.pdf</a:t>
            </a:r>
          </a:p>
          <a:p xmlns:a="http://schemas.openxmlformats.org/drawingml/2006/main">
            <a:r>
              <a:t>C:/Users/huanxi/Desktop/ZUOYE/Case Study - Hospital Patient Referral, Treatment and Administration System.docx</a:t>
            </a:r>
          </a:p>
          <a:p xmlns:a="http://schemas.openxmlformats.org/drawingml/2006/main">
            <a:r>
              <a:t>D:\Camunda-Workspace\models\assignment\Plan and contribution.docx</a:t>
            </a:r>
          </a:p>
          <a:p xmlns:a="http://schemas.openxmlformats.org/drawingml/2006/main">
            <a:r>
              <a:t>D:\Camunda-Workspace\models\assignment\Strengths_and_Weaknesses.docx</a:t>
            </a:r>
          </a:p>
          <a:p xmlns:a="http://schemas.openxmlformats.org/drawingml/2006/main">
            <a:r>
              <a:t>C:/Users/huanxi/Desktop/ZUOYE/603_Sprint02_COMPLETE_With_Java_Workers_FIXED.zip</a:t>
            </a:r>
          </a:p>
          <a:p xmlns:a="http://schemas.openxmlformats.org/drawingml/2006/main">
            <a:r>
              <a:t>D:\Camunda-Workspace\models\assignment\bpmn</a:t>
            </a:r>
          </a:p>
          <a:p xmlns:a="http://schemas.openxmlformats.org/drawingml/2006/main">
            <a:r>
              <a:t>D:\Camunda-Workspace\models\assignment\External_Workers\src\main\java\org\hospital\workers</a:t>
            </a:r>
          </a:p>
          <a:p xmlns:a="http://schemas.openxmlformats.org/drawingml/2006/main">
            <a:r>
              <a:t>D:\Camunda-Workspace\models\assignment\External_Workers\src\test\java\org\hospital\workers\WorkerLogicSmokeTest.java</a:t>
            </a:r>
          </a:p>
          <a:p xmlns:a="http://schemas.openxmlformats.org/drawingml/2006/main">
            <a:r>
              <a:t>D:\Camunda-Workspace\models\assignment\.presentation_work\code_validation\test_results.txt</a:t>
            </a:r>
          </a:p>
          <a:p xmlns:a="http://schemas.openxmlformats.org/drawingml/2006/main">
            <a:r>
              <a:t>D:\Camunda-Workspace\models\assignment\evidence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date: 28 September 2026. Earlier screenshots are historical examples and are not proof that the latest working copy completed all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3d0e265d2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01c5acb1445e5" /><Relationship Type="http://schemas.openxmlformats.org/officeDocument/2006/relationships/slideLayout" Target="/ppt/slideLayouts/slideLayout1.xml" Id="R432628b0f6f3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628b0f6f3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ad31b2b104bb2" /><Relationship Type="http://schemas.openxmlformats.org/officeDocument/2006/relationships/notesSlide" Target="/ppt/notesSlides/notesSlide1.xml" Id="R94a20f635a934a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52ca60684087" /><Relationship Type="http://schemas.openxmlformats.org/officeDocument/2006/relationships/notesSlide" Target="/ppt/notesSlides/notesSlide2.xml" Id="R4736ccacb3b842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22d2aba1d4112" /><Relationship Type="http://schemas.openxmlformats.org/officeDocument/2006/relationships/notesSlide" Target="/ppt/notesSlides/notesSlide3.xml" Id="R07360b6d1e07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bbac8f9540a8" /><Relationship Type="http://schemas.openxmlformats.org/officeDocument/2006/relationships/image" Target="/ppt/media/image.png" Id="R85b1bb1a8f2f4743" /><Relationship Type="http://schemas.openxmlformats.org/officeDocument/2006/relationships/notesSlide" Target="/ppt/notesSlides/notesSlide4.xml" Id="R3693936b34064b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7286927994896" /><Relationship Type="http://schemas.openxmlformats.org/officeDocument/2006/relationships/notesSlide" Target="/ppt/notesSlides/notesSlide5.xml" Id="R5b6fd7d0d185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60ba3768d4878" /><Relationship Type="http://schemas.openxmlformats.org/officeDocument/2006/relationships/notesSlide" Target="/ppt/notesSlides/notesSlide6.xml" Id="R51bd28eda753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45409a9cb4d19" /><Relationship Type="http://schemas.openxmlformats.org/officeDocument/2006/relationships/image" Target="/ppt/media/image2.png" Id="Rc35f8c6c37534bd9" /><Relationship Type="http://schemas.openxmlformats.org/officeDocument/2006/relationships/notesSlide" Target="/ppt/notesSlides/notesSlide7.xml" Id="R38b06c547a7f49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e41b5caad4fcd" /><Relationship Type="http://schemas.openxmlformats.org/officeDocument/2006/relationships/notesSlide" Target="/ppt/notesSlides/notesSlide8.xml" Id="Re31568afa6a94a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8ec3dd04a4a09" /><Relationship Type="http://schemas.openxmlformats.org/officeDocument/2006/relationships/image" Target="/ppt/media/image3.png" Id="R220956c016914c28" /><Relationship Type="http://schemas.openxmlformats.org/officeDocument/2006/relationships/notesSlide" Target="/ppt/notesSlides/notesSlide9.xml" Id="Rfc658118073441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8f29599a944a3" /><Relationship Type="http://schemas.openxmlformats.org/officeDocument/2006/relationships/notesSlide" Target="/ppt/notesSlides/notesSlide10.xml" Id="R0dc0f515c0db47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e1b89b66143f8" /><Relationship Type="http://schemas.openxmlformats.org/officeDocument/2006/relationships/notesSlide" Target="/ppt/notesSlides/notesSlide11.xml" Id="R85d4b8dbdc8c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f303c28dd4dbb" /><Relationship Type="http://schemas.openxmlformats.org/officeDocument/2006/relationships/notesSlide" Target="/ppt/notesSlides/notesSlide12.xml" Id="Rb41580f21cfb4a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7a6200f084767" /><Relationship Type="http://schemas.openxmlformats.org/officeDocument/2006/relationships/image" Target="/ppt/media/image4.png" Id="R202978ede3284d1d" /><Relationship Type="http://schemas.openxmlformats.org/officeDocument/2006/relationships/notesSlide" Target="/ppt/notesSlides/notesSlide13.xml" Id="R062cf6d2e27545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309c85df1489a" /><Relationship Type="http://schemas.openxmlformats.org/officeDocument/2006/relationships/notesSlide" Target="/ppt/notesSlides/notesSlide14.xml" Id="R62e46d6f54de43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9af69393444c" /><Relationship Type="http://schemas.openxmlformats.org/officeDocument/2006/relationships/notesSlide" Target="/ppt/notesSlides/notesSlide15.xml" Id="R2fda2ca8516347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c3eb58294d4e" /><Relationship Type="http://schemas.openxmlformats.org/officeDocument/2006/relationships/notesSlide" Target="/ppt/notesSlides/notesSlide16.xml" Id="R9c90879e931d44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6192267a423e" /><Relationship Type="http://schemas.openxmlformats.org/officeDocument/2006/relationships/image" Target="/ppt/media/image5.png" Id="R2a285efda68e46b9" /><Relationship Type="http://schemas.openxmlformats.org/officeDocument/2006/relationships/notesSlide" Target="/ppt/notesSlides/notesSlide17.xml" Id="Rf254e09d4ea94a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b0811625e4ac2" /><Relationship Type="http://schemas.openxmlformats.org/officeDocument/2006/relationships/notesSlide" Target="/ppt/notesSlides/notesSlide18.xml" Id="R266f795d7db142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49dd5b6184dbf" /><Relationship Type="http://schemas.openxmlformats.org/officeDocument/2006/relationships/notesSlide" Target="/ppt/notesSlides/notesSlide19.xml" Id="R70a57975940b49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6c44aee1d4292" /><Relationship Type="http://schemas.openxmlformats.org/officeDocument/2006/relationships/notesSlide" Target="/ppt/notesSlides/notesSlide20.xml" Id="R5667ef96e7b042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ec015dc54c00" /><Relationship Type="http://schemas.openxmlformats.org/officeDocument/2006/relationships/notesSlide" Target="/ppt/notesSlides/notesSlide21.xml" Id="R5821f164b3bf41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ff358ada94838" /><Relationship Type="http://schemas.openxmlformats.org/officeDocument/2006/relationships/notesSlide" Target="/ppt/notesSlides/notesSlide22.xml" Id="Rc0b336b644af4b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d4fdbe1394256" /><Relationship Type="http://schemas.openxmlformats.org/officeDocument/2006/relationships/notesSlide" Target="/ppt/notesSlides/notesSlide23.xml" Id="R197968153e2241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9b079029e49c2" /><Relationship Type="http://schemas.openxmlformats.org/officeDocument/2006/relationships/notesSlide" Target="/ppt/notesSlides/notesSlide24.xml" Id="Ra7cd6732bffa48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0469F-8F60-4C7B-9224-8CE4406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Hospital Patient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39587-6412-4E03-B005-2B9C27B2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DENG JIN WANG    / 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81835-F8F9-4803-953F-A78F862C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00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Development, feedback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delivery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0B491-5352-463F-887C-BA4A4BD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DD9D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D9D8"/>
                </a:solidFill>
                <a:latin typeface="Arial"/>
                <a:ea typeface="Arial"/>
                <a:cs typeface="Arial"/>
              </a:rPr>
              <a:t>Advanced Information Systems Development</a:t>
            </a:r>
          </a:p>
          <a:p xmlns:a="http://schemas.openxmlformats.org/drawingml/2006/main">
            <a:pPr>
              <a:defRPr sz="2100" b="0">
                <a:solidFill>
                  <a:srgbClr val="BDD9D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D9D8"/>
                </a:solidFill>
                <a:latin typeface="Arial"/>
                <a:ea typeface="Arial"/>
                <a:cs typeface="Arial"/>
              </a:rPr>
              <a:t>UFCEP6-0-3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74A9F-2A67-4BB7-B625-66377D9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D9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DD9D8"/>
                </a:solidFill>
                <a:latin typeface="Arial"/>
                <a:ea typeface="Arial"/>
                <a:cs typeface="Arial"/>
              </a:rPr>
              <a:t>Five-person group    /    Evidence reviewed 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37660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36EE-7B51-40F1-8E7C-09BC9C93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One patient pathway, five accountable owners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7DF26-EEC4-40C1-8EBE-48E0628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Administrative automation supports decisions made by authorised clinical staff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65A87-C130-4D45-BE59-81C6D71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DENG JIN WANG    /    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286250"/>
                <a:gridCol w="26670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Member / student ID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responsibility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Second owner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DENG JIN WANG  23084366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Referral and consultant review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WU JIA WEI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WU JIA WEI  23084364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 and integration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LIN JIA QIANG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LIN JIA QIANG  23084368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Treatment and chemotherapy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WU TONG YU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WU TONG YU  23084362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Funding, payment and refund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XIAO YU YING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XIAO YU YING  24000813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Enquiry and clinic letters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DENG JIN WANG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FF038-6FBF-421D-90FC-3AA342C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Contribution record: 20% per member. Repository and task evidence still support individual moderation.</a:t>
            </a:r>
          </a:p>
        </p:txBody>
      </p:sp>
    </p:spTree>
    <p:extLst>
      <p:ext uri="{BB962C8B-B14F-4D97-AF65-F5344CB8AC3E}">
        <p14:creationId xmlns:p14="http://schemas.microsoft.com/office/powerpoint/2010/main" val="447842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4EA0C-2376-4510-8AAA-8412D77A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Release baseline and 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39953-BF4E-47AD-AFEA-DC0FBEA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DENG JIN WANG    / 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4498B-D728-4841-9971-A7B0179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383DD-8765-4E83-9B81-F7FC681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953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6 BPMN files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14 Camunda Forms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6 registered worker job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A255C-934C-4A16-8F9D-38012827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Comparison 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EFAA6-2030-4086-89D8-0BFBB52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Earlier local Sprint 2 ZIP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compared with the current workspace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No formal Release 2 tag supplied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F3D74-1BBA-465B-9BAB-10D5AE25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The assessment expects Release 2, Sprint 3/4 evidence and a response to Initial Release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5FBE4-C8D1-42D0-8754-E8C2649E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64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6419"/>
                </a:solidFill>
                <a:latin typeface="Arial"/>
                <a:ea typeface="Arial"/>
                <a:cs typeface="Arial"/>
              </a:rPr>
              <a:t>The supplied plan still describes the Initial Release. Runtime screenshots date from 25–26 September.</a:t>
            </a:r>
          </a:p>
        </p:txBody>
      </p:sp>
    </p:spTree>
    <p:extLst>
      <p:ext uri="{BB962C8B-B14F-4D97-AF65-F5344CB8AC3E}">
        <p14:creationId xmlns:p14="http://schemas.microsoft.com/office/powerpoint/2010/main" val="47647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8FDD1-360D-4573-804B-4EC236E1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Referral and consultant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90314-4F64-4195-A01C-3614A106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DENG JIN WANG    /    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bb1a8f2f4743"/>
          <a:stretch xmlns:a="http://schemas.openxmlformats.org/drawingml/2006/main"/>
        </p:blipFill>
        <p:spPr>
          <a:xfrm xmlns:a="http://schemas.openxmlformats.org/drawingml/2006/main">
            <a:off x="584410" y="2000250"/>
            <a:ext cx="7546554" cy="3657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66F57-2E8A-44C1-A0B1-88A04D2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Acceptance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B6AC3-1BC6-4471-BFF9-10F3DE52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2952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Complete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Consultant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ACCEPT permits booking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F8D96-B675-4550-825B-51CC101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Historical evidence: accepted referral completed in version 2. Other branches need their own execution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059501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6EED-EC59-4BDB-B97F-7E9FD53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The master process controls module handovers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18535-085A-4C6C-BF19-CE719990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JIA WEI    /    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96250"/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 or handover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1  Referral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Consultant accepts the referral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2  Appointment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Booking and patient communication return to the master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3  Finance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Funding route, payment result or explicit override permits treatment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4  Treatment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Consent, authorisation, resource checks and clinical review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5  Clinic letter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Starts after the treatment subprocess returns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D47D4-A240-4637-B62C-D5BAF7F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Patient enquiries and refund requests also have independent message-start paths.</a:t>
            </a:r>
          </a:p>
        </p:txBody>
      </p:sp>
    </p:spTree>
    <p:extLst>
      <p:ext uri="{BB962C8B-B14F-4D97-AF65-F5344CB8AC3E}">
        <p14:creationId xmlns:p14="http://schemas.microsoft.com/office/powerpoint/2010/main" val="1307096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E2B2A-6D1B-42AD-AE5D-2B7443EA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Appointment rules connect forms to workers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C5AF4-11B6-4A09-8D9C-C998DBB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JIA WEI    /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34CA0-C656-445C-8B20-D51E9114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Form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9FEA4-EE95-4A5D-A918-9825073A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requestedSlotAvailable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requestedAppointmentDate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67CFF-F19A-4CC1-83A5-522F256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Worker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3F5ED-D4CC-48EC-8138-CA9110D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slotAvailable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appointmentWithinTwoWeeks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AE844-4497-4213-B360-8621070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AppointmentWorkers.java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DA14-CAED-4698-ABB8-78E12877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05100"/>
            <a:ext cx="54768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long days = ChronoUnit.DAYS</a:t>
            </a:r>
          </a:p>
          <a:p xmlns:a="http://schemas.openxmlformats.org/drawingml/2006/main">
            <a:pPr>
              <a:defRPr sz="187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    .between(LocalDate.now(),</a:t>
            </a:r>
          </a:p>
          <a:p xmlns:a="http://schemas.openxmlformats.org/drawingml/2006/main">
            <a:pPr>
              <a:defRPr sz="187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             appointmentDate);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boolean withinTwoWeeks =</a:t>
            </a:r>
          </a:p>
          <a:p xmlns:a="http://schemas.openxmlformats.org/drawingml/2006/main">
            <a:pPr>
              <a:defRPr sz="187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    days &gt;= 0 &amp;&amp; days &lt;= 14;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5F5E3-EBED-40E5-A44D-0BE1E42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Boundary: day 0 and day 14 qualify. Past-date rejection and day 15 checks are absent from the test suite.</a:t>
            </a:r>
          </a:p>
        </p:txBody>
      </p:sp>
    </p:spTree>
    <p:extLst>
      <p:ext uri="{BB962C8B-B14F-4D97-AF65-F5344CB8AC3E}">
        <p14:creationId xmlns:p14="http://schemas.microsoft.com/office/powerpoint/2010/main" val="984331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AD4A9-1EA7-4AB9-BB53-1C519718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Six workers share one execution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63D21-5C6E-4F1C-853B-30E66D05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JIA WEI    /    07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f8c6c37534bd9"/>
          <a:stretch xmlns:a="http://schemas.openxmlformats.org/drawingml/2006/main"/>
        </p:blipFill>
        <p:spPr>
          <a:xfrm xmlns:a="http://schemas.openxmlformats.org/drawingml/2006/main">
            <a:off x="1021736" y="2066925"/>
            <a:ext cx="6671904" cy="3457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DE483-7310-47D7-9604-66EA453D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Shared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4AF96-FF46-4408-82F5-0E808916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29527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Read job variables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Run business 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Complete or fail the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37E9D-4A34-4298-96D1-5689006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Source: WorkerSupport.java. 30-second job timeout. No persistent idempotency or explicit retry backoff.</a:t>
            </a:r>
          </a:p>
        </p:txBody>
      </p:sp>
    </p:spTree>
    <p:extLst>
      <p:ext uri="{BB962C8B-B14F-4D97-AF65-F5344CB8AC3E}">
        <p14:creationId xmlns:p14="http://schemas.microsoft.com/office/powerpoint/2010/main" val="2018410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4A594-B4AA-45AC-9E04-46E1325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Concrete changes in the current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55CDF-C842-4CD5-A8E7-B7DFBFC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Comparison: earlier local Sprint 2 ZIP versus current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592E-EE01-466F-8789-569259AF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JIA WEI    /    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7625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snapshot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working copy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Master flow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Finance and treatment ran in parallel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Finance returns before treatment gate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Retry inputs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No forms on three retry tasks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Appointment, treatment and payment forms rebound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 letter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12 forms across the package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14 forms with separate approval and monitoring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66943-B8FD-4CFF-A513-42206FC9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64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6419"/>
                </a:solidFill>
                <a:latin typeface="Arial"/>
                <a:ea typeface="Arial"/>
                <a:cs typeface="Arial"/>
              </a:rPr>
              <a:t>Implementation changes are confirmed by file comparison. Tutor-feedback attribution and runtime impact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785565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DB76F-0EE6-4F92-86E9-B7FA6164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Treatment separates consent from clinical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413E1-D65A-4839-AE90-6FD29DF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LIN JIA QIANG    /    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956c016914c28"/>
          <a:stretch xmlns:a="http://schemas.openxmlformats.org/drawingml/2006/main"/>
        </p:blipFill>
        <p:spPr>
          <a:xfrm xmlns:a="http://schemas.openxmlformats.org/drawingml/2006/main">
            <a:off x="735347" y="2000250"/>
            <a:ext cx="7006557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5F245-22BF-431C-8BC5-156CBEB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Required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2F773-7D78-41C1-A92D-170E0199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57475"/>
            <a:ext cx="31432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Patient consent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Authorised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Resource availability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Clinical cycle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7C9E6-A872-4447-B046-4719B73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Historical variables: patientConsent=true, treatmentAuthorised=true, treatmentAvailable=true.</a:t>
            </a:r>
          </a:p>
        </p:txBody>
      </p:sp>
    </p:spTree>
    <p:extLst>
      <p:ext uri="{BB962C8B-B14F-4D97-AF65-F5344CB8AC3E}">
        <p14:creationId xmlns:p14="http://schemas.microsoft.com/office/powerpoint/2010/main" val="423395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3306-B9CB-477F-815A-3A0EB5E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Local verification: 11 existing tests passed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76846-4D39-471D-9A54-085D4565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LIN JIA QIANG    /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AA85-56E4-4BBA-9813-E56DA20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3E45-847F-40B0-A2D6-87D01A0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Existing JUnit tests passed</a:t>
            </a:r>
          </a:p>
          <a:p xmlns:a="http://schemas.openxmlformats.org/drawingml/2006/main">
            <a:pPr>
              <a:defRPr sz="21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28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4FE4B-DC00-4A8C-AD22-D24BA18A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F8D81-43C8-4993-89D6-AD34E89D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495300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Original sources compile with --release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Appointment, resource, payment and letter logic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Zero failed or skipped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7A8B-6F20-4D2E-B51C-8F6319D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No Maven build or broker connection was performed in this verification. Evidence file: test_results.txt.</a:t>
            </a:r>
          </a:p>
        </p:txBody>
      </p:sp>
    </p:spTree>
    <p:extLst>
      <p:ext uri="{BB962C8B-B14F-4D97-AF65-F5344CB8AC3E}">
        <p14:creationId xmlns:p14="http://schemas.microsoft.com/office/powerpoint/2010/main" val="10833464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55114-EF91-4DE3-B64D-1089CB79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Screenshots show selected paths, not full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5C9CD-A88D-4454-BBF2-7A67F7E6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LIN JIA QIANG    /    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000500"/>
                <a:gridCol w="4429125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is visible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remains unproven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Appointment, v14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Completed booking and letter path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Telephone and no-slot alternatives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Consent/resource variables and trace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Complete current master journey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Finance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Hospital/exemption clearance path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Patient payment, investigation and refund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 letter, v3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Approved letter path completed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Weekly timer and long-delay escalation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8B32D-8A36-4030-A3ED-2751CA9C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Most screenshots predate the current working copy. Current-version reruns need instance keys and outcomes.</a:t>
            </a:r>
          </a:p>
        </p:txBody>
      </p:sp>
    </p:spTree>
    <p:extLst>
      <p:ext uri="{BB962C8B-B14F-4D97-AF65-F5344CB8AC3E}">
        <p14:creationId xmlns:p14="http://schemas.microsoft.com/office/powerpoint/2010/main" val="544694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FEE77-F745-438B-906E-D6566C0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Demonstration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15397-B947-4E00-8736-6A15B37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Walkthrough based on the supplied T25/T26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0228D-1DC5-4515-ADAB-2A279F1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LIN JIA QIANG    / 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58745-47EE-4D6D-A20F-59B4F1AD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Normal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9AC4D-3521-4748-AB88-712226E8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Accepted referral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Available slot and funding clearance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Authorised treatment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Approved clinic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FAD85-DC2D-4427-B68A-5CA1718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288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Exception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3A99-A5BF-4834-94E0-3A5EB2F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No slot, then revised booking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Or lost payment confirmation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followed by investigation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D7401-163D-46E0-904E-71DEDB9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Evidence to retain: process version, instance key, inputs, result and linked screenshots.</a:t>
            </a:r>
          </a:p>
        </p:txBody>
      </p:sp>
    </p:spTree>
    <p:extLst>
      <p:ext uri="{BB962C8B-B14F-4D97-AF65-F5344CB8AC3E}">
        <p14:creationId xmlns:p14="http://schemas.microsoft.com/office/powerpoint/2010/main" val="1177456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A6EB3-EB25-45A2-A4CE-8C89BED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Finance gates treatment and approved refunds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5E1FF-F505-4291-B459-46DAFD4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TONG YU    /    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978ede3284d1d"/>
          <a:stretch xmlns:a="http://schemas.openxmlformats.org/drawingml/2006/main"/>
        </p:blipFill>
        <p:spPr>
          <a:xfrm xmlns:a="http://schemas.openxmlformats.org/drawingml/2006/main">
            <a:off x="571500" y="1974659"/>
            <a:ext cx="11049000" cy="321348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FF5D-632D-4118-A888-3F20F08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Refund gate: refundRequired = true AND refundApproved =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4494B-366D-403D-95F4-B2553FDB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Observed route: hospital/exemption. Payment and refund workers are simulations, with separate local tests.</a:t>
            </a:r>
          </a:p>
        </p:txBody>
      </p:sp>
    </p:spTree>
    <p:extLst>
      <p:ext uri="{BB962C8B-B14F-4D97-AF65-F5344CB8AC3E}">
        <p14:creationId xmlns:p14="http://schemas.microsoft.com/office/powerpoint/2010/main" val="21223250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E034D-36F1-4A7E-A041-ACCE745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Response record: implemented fixes and open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219BD-67BA-4AAF-8E1A-EE94F9B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Internal issue-to-change mapping. No completed tutor feedback record was supplied.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A8149-3BD8-4CF3-B736-1D9236AE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TONG YU    /    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429000"/>
                <a:gridCol w="40005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issue / source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 in current files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 and residual work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Retry/form maintenance risk</a:t>
                      </a:r>
                    </a:p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Strengths and Weaknesses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Rebind three retry input forms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Implemented. Runtime regression still needed.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Approval and authority boundary</a:t>
                      </a:r>
                    </a:p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Case study and local comparison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Explicit refund gate and clinic approval form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Static guard confirmed. Negative engine paths remain.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Incomplete runtime validation</a:t>
                      </a:r>
                    </a:p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Strengths and Weaknesses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11 component tests now executed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Full master normal/exception evidence still open.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A87B0-9DA7-4EF3-AD30-C3E435D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64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6419"/>
                </a:solidFill>
                <a:latin typeface="Arial"/>
                <a:ea typeface="Arial"/>
                <a:cs typeface="Arial"/>
              </a:rPr>
              <a:t>Complete tutor traceability needs the feedback date, wording, first/second owners and a linked review outcome.</a:t>
            </a:r>
          </a:p>
        </p:txBody>
      </p:sp>
    </p:spTree>
    <p:extLst>
      <p:ext uri="{BB962C8B-B14F-4D97-AF65-F5344CB8AC3E}">
        <p14:creationId xmlns:p14="http://schemas.microsoft.com/office/powerpoint/2010/main" val="8743434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80760-E176-4D3F-AC75-233766D2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Planned effort and observed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BE4AE-E031-4220-8858-C321FBB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TONG YU    /    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476375"/>
                <a:gridCol w="4810125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Planned work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delivery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Sprint 1: models and integration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40 h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Six BPMN files with a master process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Sprint 2: forms, workers and checks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35 h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14 forms, six job types and passing component tests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S2-08: runtime demo (within 35 h)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4 h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Historical partial evidence. Current master rerun open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Actual effort / variance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Not recorded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 schedule or productivity variance cannot be calculated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C923-DC6B-46F6-84E0-C5BDAE0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75 h is the supplied estimate, not actual effort. File presence alone does not establish acceptance.</a:t>
            </a:r>
          </a:p>
        </p:txBody>
      </p:sp>
    </p:spTree>
    <p:extLst>
      <p:ext uri="{BB962C8B-B14F-4D97-AF65-F5344CB8AC3E}">
        <p14:creationId xmlns:p14="http://schemas.microsoft.com/office/powerpoint/2010/main" val="506052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FEEBA-71F4-4FD4-917C-92D0E7B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Dependencies explain the integration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3AEF3-E6C0-4B5E-9D39-2136783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WU TONG YU    /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1B996-461E-4012-8A13-CB891DC6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What supported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D8AA1-37CD-4376-AA58-0CC90B5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Named first and second owners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Separate modules with shared variables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One integration coordinator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C1223-9BD9-4516-B3A5-7BEE58A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What weakened traceability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9D5DF-BA54-434B-B5FD-F6F3C26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Several test tasks owned by “Group”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No actual hours or dated completion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Runtime evidence not tied to final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920BB-B8DE-4F42-A621-8FCA92A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Lesson: acceptance needs an accountable owner and evidence from the same version.</a:t>
            </a:r>
          </a:p>
        </p:txBody>
      </p:sp>
    </p:spTree>
    <p:extLst>
      <p:ext uri="{BB962C8B-B14F-4D97-AF65-F5344CB8AC3E}">
        <p14:creationId xmlns:p14="http://schemas.microsoft.com/office/powerpoint/2010/main" val="6907334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2F6A-5BBE-4636-B303-A945D12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Clinic letters require clinical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71FF-9ECD-49D0-BCD7-57C1EA6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XIAO YU YING    /    17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85efda68e46b9"/>
          <a:stretch xmlns:a="http://schemas.openxmlformats.org/drawingml/2006/main"/>
        </p:blipFill>
        <p:spPr>
          <a:xfrm xmlns:a="http://schemas.openxmlformats.org/drawingml/2006/main">
            <a:off x="571500" y="2296583"/>
            <a:ext cx="7620000" cy="30744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583AF-0263-4A9F-A9AB-36DC72F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Approval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AF6A5-2831-47AF-9008-FD312BC6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0325"/>
            <a:ext cx="3000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Separate approval 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BPMN approval gateway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Worker rejects unapproved letters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7F885-9DB4-486B-82D0-8D0995C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P7D reminder exists. Letter age bands remain manual. The seven-day consultation target is not validated.</a:t>
            </a:r>
          </a:p>
        </p:txBody>
      </p:sp>
    </p:spTree>
    <p:extLst>
      <p:ext uri="{BB962C8B-B14F-4D97-AF65-F5344CB8AC3E}">
        <p14:creationId xmlns:p14="http://schemas.microsoft.com/office/powerpoint/2010/main" val="14962695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C5086-CA6E-4104-801C-3E9EC63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Remaining limits affect release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A078B-7151-4D44-B060-97334748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XIAO YU YING    /    18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05250"/>
                <a:gridCol w="390525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Direction for improvement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Simulated external services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No real booking, delivery or payment confirmation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Replace with verified service adapters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No task role assignments in BPMN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Lanes describe roles without enforcing access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Validate task permissions and audit evidence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Manual letter age and delayed start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Seven-day consultation target is uncertain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Anchor monitoring to consultation time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Permissive inputs and no durable idempotency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Invalid dates and duplicate effects remain possible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Validate inputs and persist transaction identity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968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EDA06-DE0B-42DA-A924-D045FC4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Evidence still needed for the second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1521-1F95-4295-8901-0A41B07D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XIAO YU YING    /    19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143750"/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 requirement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required to close the gap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Further development  25%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Identifiable releases and current-version normal/exception runs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Response to feedback  20%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Actual tutor feedback linked to decisions, actions and outcomes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Plan evaluation  25%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Dated progress, revised records, estimates versus actuals and risks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Standups / reviews  30%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SU3 and SU4 individual records. SR3 and SR4 preserved increments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147F6-BB8D-479C-AADF-AF26392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Specification delivery date: 22 October 2026. Exact live activity arrangements come from the module team.</a:t>
            </a:r>
          </a:p>
        </p:txBody>
      </p:sp>
    </p:spTree>
    <p:extLst>
      <p:ext uri="{BB962C8B-B14F-4D97-AF65-F5344CB8AC3E}">
        <p14:creationId xmlns:p14="http://schemas.microsoft.com/office/powerpoint/2010/main" val="3567096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648C-2158-4090-85AE-59DB196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Current result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F6AD9-DF1F-4F22-85A6-26D6FC2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XIAO YU YING    /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2B42-E772-491D-B4C3-1F88548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8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8879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3F9A3-E537-4FD2-8D8C-3314F37E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Five coordinated process areas</a:t>
            </a:r>
          </a:p>
          <a:p xmlns:a="http://schemas.openxmlformats.org/drawingml/2006/main">
            <a:pPr>
              <a:defRPr sz="27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Fourteen forms and six worker types</a:t>
            </a:r>
          </a:p>
          <a:p xmlns:a="http://schemas.openxmlformats.org/drawingml/2006/main">
            <a:pPr>
              <a:defRPr sz="27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Approval and retry improvements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0B746-D56E-4677-BD55-6F30AD23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8641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6419"/>
                </a:solidFill>
                <a:latin typeface="Arial"/>
                <a:ea typeface="Arial"/>
                <a:cs typeface="Arial"/>
              </a:rPr>
              <a:t>Next review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E6614-6E8D-49EC-9AF8-ECB02348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 validated current master journey and a traceable response to real feedback</a:t>
            </a:r>
          </a:p>
        </p:txBody>
      </p:sp>
    </p:spTree>
    <p:extLst>
      <p:ext uri="{BB962C8B-B14F-4D97-AF65-F5344CB8AC3E}">
        <p14:creationId xmlns:p14="http://schemas.microsoft.com/office/powerpoint/2010/main" val="17056410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52EF0-D60F-41F8-8A42-E0F30B1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Appendix: worker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0572-E6CD-4971-9F4F-5375783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APPENDIX    /    21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524250"/>
                <a:gridCol w="371475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Exact job type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input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output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search-appointment-slot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requestedSlotAvailable</a:t>
                      </a:r>
                    </a:p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requestedAppointmentDate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slotAvailable</a:t>
                      </a:r>
                    </a:p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appointmentWithinTwoWeeks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send-appointment-letter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Process context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appointmentLetterSent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check-treatment-resource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requestedTreatmentAvailable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treatmentAvailable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process-payment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paymentScenario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paymentStatus</a:t>
                      </a:r>
                    </a:p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paymentInvestigationRequired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process-refund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refundRequired</a:t>
                      </a:r>
                    </a:p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refundApproved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refundStatus</a:t>
                      </a:r>
                    </a:p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refundReference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send-clinic-letter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clinicLetterApproved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clinicLetterSent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827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5DD95-7971-4C82-9079-003D394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Appendix: test coverage and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D0097-57C9-42BC-9EF2-95441687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APPENDIX    /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87642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40005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tests passed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Important gaps</a:t>
                      </a:r>
                    </a:p>
                  </a:txBody>
                  <a:tcPr marL="133350" marR="133350" marT="123825" marB="85725" anchor="t">
                    <a:solidFill>
                      <a:srgbClr val="173E48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3: available, unavailable, corrected retry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0/14/15-day boundaries and past dates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2: unavailable and corrected retry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Engine approval and cycle routing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Payment / refund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4: success, lost confirmation, retry, approved refund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Invalid states, rejected refunds and idempotency</a:t>
                      </a:r>
                    </a:p>
                  </a:txBody>
                  <a:tcPr marL="133350" marR="133350" marT="123825" marB="85725" anchor="t">
                    <a:solidFill>
                      <a:srgbClr val="FFFFFF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 letter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2: unapproved rejection and approved result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Timer, escalation and master integration</a:t>
                      </a:r>
                    </a:p>
                  </a:txBody>
                  <a:tcPr marL="133350" marR="133350" marT="123825" marB="85725" anchor="t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B1C81-2D6F-457F-B028-4EFE27A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The 26 scenarios in the supplied plan are planned coverage. Eleven local Java tests are executed evidence.</a:t>
            </a:r>
          </a:p>
        </p:txBody>
      </p:sp>
    </p:spTree>
    <p:extLst>
      <p:ext uri="{BB962C8B-B14F-4D97-AF65-F5344CB8AC3E}">
        <p14:creationId xmlns:p14="http://schemas.microsoft.com/office/powerpoint/2010/main" val="11690906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74AEF-5A40-412F-9EDC-709F5AA0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Appendix: local demonstration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9831-0BDF-4169-9C03-4A08A27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APPENDIX    /   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20077-27F7-4890-BCE2-199E2ED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1   Deploy 6 BPMN models and 14 forms to the matching Camunda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BFD6-F18C-42D9-A951-7FD007C7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2   From the External_Workers directory, with JDK 17+ and Maven: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22FF7-7516-4D0A-BB5D-D46A146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57600"/>
            <a:ext cx="10572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mvn test package</a:t>
            </a:r>
          </a:p>
          <a:p xmlns:a="http://schemas.openxmlformats.org/drawingml/2006/main">
            <a:pPr>
              <a:defRPr sz="2025" b="0">
                <a:solidFill>
                  <a:srgbClr val="173E48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73E48"/>
                </a:solidFill>
                <a:latin typeface="Consolas"/>
                <a:ea typeface="Consolas"/>
                <a:cs typeface="Consolas"/>
              </a:rPr>
              <a:t>java -jar target/hospital-external-workers-1.0.0.jar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B14B6-4CEE-4048-A98E-547B9B8F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3   Start Process_Hospital_Master, complete tasks, and retain instance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CB4D0-6DCA-45A0-87A5-9035EE7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Default gateway: 127.0.0.1:26500 via ZEEBE_ADDRESS. Local plaintext configuration. Maven commands not run here.</a:t>
            </a:r>
          </a:p>
        </p:txBody>
      </p:sp>
    </p:spTree>
    <p:extLst>
      <p:ext uri="{BB962C8B-B14F-4D97-AF65-F5344CB8AC3E}">
        <p14:creationId xmlns:p14="http://schemas.microsoft.com/office/powerpoint/2010/main" val="10770109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DB34-D1EA-4DF7-A0CE-345C75B8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References and supporting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91DD-164A-4D81-B744-B79374C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APPENDIX    /   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F848A-629C-4EEB-9E61-4CE3039A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UWE Bristol (2026)  UFCEP6-0-3 Presentation Assessment Specification, V2.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UWE Bristol (n.d.)  Hospital Patient Referral, Treatment and Administration System.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Project team (2026)  Plan and contribution. Initial Release project and test plan.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Project team (2026)  Strengths and Weaknesses of the Developed BPM. Sprint 02.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Project team (2026)  BPMN, Camunda Forms and Java workers. Current workspace.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Project team (2026)  Earlier local Sprint 2 ZIP and 25–26 September screenshots.</a:t>
            </a:r>
          </a:p>
          <a:p xmlns:a="http://schemas.openxmlformats.org/drawingml/2006/main">
            <a:pPr>
              <a:defRPr sz="1950" b="0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48"/>
                </a:solidFill>
                <a:latin typeface="Arial"/>
                <a:ea typeface="Arial"/>
                <a:cs typeface="Arial"/>
              </a:rPr>
              <a:t>Local verification (2026)  Original JUnit tests: 11 passed on 28 September.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F2025-1CCA-4BCA-962F-1AE7BF73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6C"/>
                </a:solidFill>
                <a:latin typeface="Arial"/>
                <a:ea typeface="Arial"/>
                <a:cs typeface="Arial"/>
              </a:rPr>
              <a:t>Exact supporting paths are in slide notes and the companion evidence index. An accessible repository URL was not supplied.</a:t>
            </a:r>
          </a:p>
        </p:txBody>
      </p:sp>
    </p:spTree>
    <p:extLst>
      <p:ext uri="{BB962C8B-B14F-4D97-AF65-F5344CB8AC3E}">
        <p14:creationId xmlns:p14="http://schemas.microsoft.com/office/powerpoint/2010/main" val="1520494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2026-09-28T04:52:21.1240000Z</dcterms:created>
  <dcterms:modified xsi:type="dcterms:W3CDTF">2026-09-28T04:52:21.1240000Z</dcterms:modified>
</coreProperties>
</file>