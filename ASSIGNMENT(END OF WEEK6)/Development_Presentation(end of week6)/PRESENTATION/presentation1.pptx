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70" r:id="rId11"/>
    <p:sldId id="271" r:id="rId12"/>
    <p:sldId id="262" r:id="rId13"/>
    <p:sldId id="263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09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0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Project Plan: Baseline, Actual Progress and Changes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01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81150"/>
            <a:ext cx="342900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008C95"/>
                </a:solidFill>
              </a:defRPr>
            </a:defPPr>
            <a:lvl1pPr algn="ctr">
              <a:buNone/>
              <a:defRPr sz="1050" b="1">
                <a:solidFill>
                  <a:srgbClr val="008C95"/>
                </a:solidFill>
              </a:defRPr>
            </a:lvl1pPr>
            <a:lvl2pPr algn="ctr">
              <a:buNone/>
              <a:defRPr sz="1050" b="1">
                <a:solidFill>
                  <a:srgbClr val="008C95"/>
                </a:solidFill>
              </a:defRPr>
            </a:lvl2pPr>
            <a:lvl3pPr algn="ctr">
              <a:buNone/>
              <a:defRPr sz="1050" b="1">
                <a:solidFill>
                  <a:srgbClr val="008C95"/>
                </a:solidFill>
              </a:defRPr>
            </a:lvl3pPr>
            <a:lvl4pPr algn="ctr">
              <a:buNone/>
              <a:defRPr sz="1050" b="1">
                <a:solidFill>
                  <a:srgbClr val="008C95"/>
                </a:solidFill>
              </a:defRPr>
            </a:lvl4pPr>
            <a:lvl5pPr algn="ctr">
              <a:buNone/>
              <a:defRPr sz="1050" b="1">
                <a:solidFill>
                  <a:srgbClr val="008C95"/>
                </a:solidFill>
              </a:defRPr>
            </a:lvl5pPr>
            <a:lvl6pPr algn="ctr">
              <a:buNone/>
              <a:defRPr sz="1050" b="1">
                <a:solidFill>
                  <a:srgbClr val="008C95"/>
                </a:solidFill>
              </a:defRPr>
            </a:lvl6pPr>
            <a:lvl7pPr algn="ctr">
              <a:buNone/>
              <a:defRPr sz="1050" b="1">
                <a:solidFill>
                  <a:srgbClr val="008C95"/>
                </a:solidFill>
              </a:defRPr>
            </a:lvl7pPr>
            <a:lvl8pPr algn="ctr">
              <a:buNone/>
              <a:defRPr sz="1050" b="1">
                <a:solidFill>
                  <a:srgbClr val="008C95"/>
                </a:solidFill>
              </a:defRPr>
            </a:lvl8pPr>
            <a:lvl9pPr algn="ctr">
              <a:buNone/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Project plan evaluation for the final presentation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2171700"/>
            <a:ext cx="2286000" cy="685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02A43"/>
                </a:solidFill>
              </a:defRPr>
            </a:defPPr>
            <a:lvl1pPr algn="ctr">
              <a:buNone/>
              <a:defRPr sz="1275" b="1">
                <a:solidFill>
                  <a:srgbClr val="102A43"/>
                </a:solidFill>
              </a:defRPr>
            </a:lvl1pPr>
            <a:lvl2pPr algn="ctr">
              <a:buNone/>
              <a:defRPr sz="1275" b="1">
                <a:solidFill>
                  <a:srgbClr val="102A43"/>
                </a:solidFill>
              </a:defRPr>
            </a:lvl2pPr>
            <a:lvl3pPr algn="ctr">
              <a:buNone/>
              <a:defRPr sz="1275" b="1">
                <a:solidFill>
                  <a:srgbClr val="102A43"/>
                </a:solidFill>
              </a:defRPr>
            </a:lvl3pPr>
            <a:lvl4pPr algn="ctr">
              <a:buNone/>
              <a:defRPr sz="1275" b="1">
                <a:solidFill>
                  <a:srgbClr val="102A43"/>
                </a:solidFill>
              </a:defRPr>
            </a:lvl4pPr>
            <a:lvl5pPr algn="ctr">
              <a:buNone/>
              <a:defRPr sz="1275" b="1">
                <a:solidFill>
                  <a:srgbClr val="102A43"/>
                </a:solidFill>
              </a:defRPr>
            </a:lvl5pPr>
            <a:lvl6pPr algn="ctr">
              <a:buNone/>
              <a:defRPr sz="1275" b="1">
                <a:solidFill>
                  <a:srgbClr val="102A43"/>
                </a:solidFill>
              </a:defRPr>
            </a:lvl6pPr>
            <a:lvl7pPr algn="ctr">
              <a:buNone/>
              <a:defRPr sz="1275" b="1">
                <a:solidFill>
                  <a:srgbClr val="102A43"/>
                </a:solidFill>
              </a:defRPr>
            </a:lvl7pPr>
            <a:lvl8pPr algn="ctr">
              <a:buNone/>
              <a:defRPr sz="1275" b="1">
                <a:solidFill>
                  <a:srgbClr val="102A43"/>
                </a:solidFill>
              </a:defRPr>
            </a:lvl8pPr>
            <a:lvl9pPr algn="ctr">
              <a:buNone/>
              <a:defRPr sz="1275" b="1">
                <a:solidFill>
                  <a:srgbClr val="102A43"/>
                </a:solidFill>
              </a:defRPr>
            </a:lvl9pPr>
          </a:lstStyle>
          <a:p>
            <a:pPr algn="ct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Sprint 1 baseline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238500" y="220980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72B4D"/>
                </a:solidFill>
              </a:defRPr>
            </a:defPPr>
            <a:lvl1pPr algn="l">
              <a:buNone/>
              <a:defRPr sz="1275" b="0">
                <a:solidFill>
                  <a:srgbClr val="172B4D"/>
                </a:solidFill>
              </a:defRPr>
            </a:lvl1pPr>
            <a:lvl2pPr algn="l">
              <a:buNone/>
              <a:defRPr sz="1275" b="0">
                <a:solidFill>
                  <a:srgbClr val="172B4D"/>
                </a:solidFill>
              </a:defRPr>
            </a:lvl2pPr>
            <a:lvl3pPr algn="l">
              <a:buNone/>
              <a:defRPr sz="1275" b="0">
                <a:solidFill>
                  <a:srgbClr val="172B4D"/>
                </a:solidFill>
              </a:defRPr>
            </a:lvl3pPr>
            <a:lvl4pPr algn="l">
              <a:buNone/>
              <a:defRPr sz="1275" b="0">
                <a:solidFill>
                  <a:srgbClr val="172B4D"/>
                </a:solidFill>
              </a:defRPr>
            </a:lvl4pPr>
            <a:lvl5pPr algn="l">
              <a:buNone/>
              <a:defRPr sz="1275" b="0">
                <a:solidFill>
                  <a:srgbClr val="172B4D"/>
                </a:solidFill>
              </a:defRPr>
            </a:lvl5pPr>
            <a:lvl6pPr algn="l">
              <a:buNone/>
              <a:defRPr sz="1275" b="0">
                <a:solidFill>
                  <a:srgbClr val="172B4D"/>
                </a:solidFill>
              </a:defRPr>
            </a:lvl6pPr>
            <a:lvl7pPr algn="l">
              <a:buNone/>
              <a:defRPr sz="1275" b="0">
                <a:solidFill>
                  <a:srgbClr val="172B4D"/>
                </a:solidFill>
              </a:defRPr>
            </a:lvl7pPr>
            <a:lvl8pPr algn="l">
              <a:buNone/>
              <a:defRPr sz="1275" b="0">
                <a:solidFill>
                  <a:srgbClr val="172B4D"/>
                </a:solidFill>
              </a:defRPr>
            </a:lvl8pPr>
            <a:lvl9pPr algn="l">
              <a:buNone/>
              <a:defRPr sz="1275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Plan: define the referral to treatment journey, assign pathway ownership and agree how the pathways depend on each other.</a:t>
            </a:r>
            <a:endParaRPr sz="1275" b="0">
              <a:solidFill>
                <a:srgbClr val="172B4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524750" y="2209800"/>
            <a:ext cx="347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2616B"/>
                </a:solidFill>
              </a:defRPr>
            </a:defPPr>
            <a:lvl1pPr algn="l">
              <a:buNone/>
              <a:defRPr sz="1275" b="0">
                <a:solidFill>
                  <a:srgbClr val="52616B"/>
                </a:solidFill>
              </a:defRPr>
            </a:lvl1pPr>
            <a:lvl2pPr algn="l">
              <a:buNone/>
              <a:defRPr sz="1275" b="0">
                <a:solidFill>
                  <a:srgbClr val="52616B"/>
                </a:solidFill>
              </a:defRPr>
            </a:lvl2pPr>
            <a:lvl3pPr algn="l">
              <a:buNone/>
              <a:defRPr sz="1275" b="0">
                <a:solidFill>
                  <a:srgbClr val="52616B"/>
                </a:solidFill>
              </a:defRPr>
            </a:lvl3pPr>
            <a:lvl4pPr algn="l">
              <a:buNone/>
              <a:defRPr sz="1275" b="0">
                <a:solidFill>
                  <a:srgbClr val="52616B"/>
                </a:solidFill>
              </a:defRPr>
            </a:lvl4pPr>
            <a:lvl5pPr algn="l">
              <a:buNone/>
              <a:defRPr sz="1275" b="0">
                <a:solidFill>
                  <a:srgbClr val="52616B"/>
                </a:solidFill>
              </a:defRPr>
            </a:lvl5pPr>
            <a:lvl6pPr algn="l">
              <a:buNone/>
              <a:defRPr sz="1275" b="0">
                <a:solidFill>
                  <a:srgbClr val="52616B"/>
                </a:solidFill>
              </a:defRPr>
            </a:lvl6pPr>
            <a:lvl7pPr algn="l">
              <a:buNone/>
              <a:defRPr sz="1275" b="0">
                <a:solidFill>
                  <a:srgbClr val="52616B"/>
                </a:solidFill>
              </a:defRPr>
            </a:lvl7pPr>
            <a:lvl8pPr algn="l">
              <a:buNone/>
              <a:defRPr sz="1275" b="0">
                <a:solidFill>
                  <a:srgbClr val="52616B"/>
                </a:solidFill>
              </a:defRPr>
            </a:lvl8pPr>
            <a:lvl9pPr algn="l">
              <a:buNone/>
              <a:defRPr sz="1275" b="0">
                <a:solidFill>
                  <a:srgbClr val="52616B"/>
                </a:solidFill>
              </a:defRPr>
            </a:lvl9pPr>
          </a:lstStyle>
          <a:p>
            <a:pPr algn="l">
              <a:buNone/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Progress: the group established the shared process architecture before each member developed their own pathway.</a:t>
            </a:r>
            <a:endParaRPr sz="1275" b="0">
              <a:solidFill>
                <a:srgbClr val="52616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66750" y="3105150"/>
            <a:ext cx="2286000" cy="685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02A43"/>
                </a:solidFill>
              </a:defRPr>
            </a:defPPr>
            <a:lvl1pPr algn="ctr">
              <a:buNone/>
              <a:defRPr sz="1275" b="1">
                <a:solidFill>
                  <a:srgbClr val="102A43"/>
                </a:solidFill>
              </a:defRPr>
            </a:lvl1pPr>
            <a:lvl2pPr algn="ctr">
              <a:buNone/>
              <a:defRPr sz="1275" b="1">
                <a:solidFill>
                  <a:srgbClr val="102A43"/>
                </a:solidFill>
              </a:defRPr>
            </a:lvl2pPr>
            <a:lvl3pPr algn="ctr">
              <a:buNone/>
              <a:defRPr sz="1275" b="1">
                <a:solidFill>
                  <a:srgbClr val="102A43"/>
                </a:solidFill>
              </a:defRPr>
            </a:lvl3pPr>
            <a:lvl4pPr algn="ctr">
              <a:buNone/>
              <a:defRPr sz="1275" b="1">
                <a:solidFill>
                  <a:srgbClr val="102A43"/>
                </a:solidFill>
              </a:defRPr>
            </a:lvl4pPr>
            <a:lvl5pPr algn="ctr">
              <a:buNone/>
              <a:defRPr sz="1275" b="1">
                <a:solidFill>
                  <a:srgbClr val="102A43"/>
                </a:solidFill>
              </a:defRPr>
            </a:lvl5pPr>
            <a:lvl6pPr algn="ctr">
              <a:buNone/>
              <a:defRPr sz="1275" b="1">
                <a:solidFill>
                  <a:srgbClr val="102A43"/>
                </a:solidFill>
              </a:defRPr>
            </a:lvl6pPr>
            <a:lvl7pPr algn="ctr">
              <a:buNone/>
              <a:defRPr sz="1275" b="1">
                <a:solidFill>
                  <a:srgbClr val="102A43"/>
                </a:solidFill>
              </a:defRPr>
            </a:lvl7pPr>
            <a:lvl8pPr algn="ctr">
              <a:buNone/>
              <a:defRPr sz="1275" b="1">
                <a:solidFill>
                  <a:srgbClr val="102A43"/>
                </a:solidFill>
              </a:defRPr>
            </a:lvl8pPr>
            <a:lvl9pPr algn="ctr">
              <a:buNone/>
              <a:defRPr sz="1275" b="1">
                <a:solidFill>
                  <a:srgbClr val="102A43"/>
                </a:solidFill>
              </a:defRPr>
            </a:lvl9pPr>
          </a:lstStyle>
          <a:p>
            <a:pPr algn="ct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Sprint 2 and Release 1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0" y="314325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72B4D"/>
                </a:solidFill>
              </a:defRPr>
            </a:defPPr>
            <a:lvl1pPr algn="l">
              <a:buNone/>
              <a:defRPr sz="1275" b="0">
                <a:solidFill>
                  <a:srgbClr val="172B4D"/>
                </a:solidFill>
              </a:defRPr>
            </a:lvl1pPr>
            <a:lvl2pPr algn="l">
              <a:buNone/>
              <a:defRPr sz="1275" b="0">
                <a:solidFill>
                  <a:srgbClr val="172B4D"/>
                </a:solidFill>
              </a:defRPr>
            </a:lvl2pPr>
            <a:lvl3pPr algn="l">
              <a:buNone/>
              <a:defRPr sz="1275" b="0">
                <a:solidFill>
                  <a:srgbClr val="172B4D"/>
                </a:solidFill>
              </a:defRPr>
            </a:lvl3pPr>
            <a:lvl4pPr algn="l">
              <a:buNone/>
              <a:defRPr sz="1275" b="0">
                <a:solidFill>
                  <a:srgbClr val="172B4D"/>
                </a:solidFill>
              </a:defRPr>
            </a:lvl4pPr>
            <a:lvl5pPr algn="l">
              <a:buNone/>
              <a:defRPr sz="1275" b="0">
                <a:solidFill>
                  <a:srgbClr val="172B4D"/>
                </a:solidFill>
              </a:defRPr>
            </a:lvl5pPr>
            <a:lvl6pPr algn="l">
              <a:buNone/>
              <a:defRPr sz="1275" b="0">
                <a:solidFill>
                  <a:srgbClr val="172B4D"/>
                </a:solidFill>
              </a:defRPr>
            </a:lvl6pPr>
            <a:lvl7pPr algn="l">
              <a:buNone/>
              <a:defRPr sz="1275" b="0">
                <a:solidFill>
                  <a:srgbClr val="172B4D"/>
                </a:solidFill>
              </a:defRPr>
            </a:lvl7pPr>
            <a:lvl8pPr algn="l">
              <a:buNone/>
              <a:defRPr sz="1275" b="0">
                <a:solidFill>
                  <a:srgbClr val="172B4D"/>
                </a:solidFill>
              </a:defRPr>
            </a:lvl8pPr>
            <a:lvl9pPr algn="l">
              <a:buNone/>
              <a:defRPr sz="1275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Plan: connect forms, worker logic and gateway conditions so the separate pathways can run as one patient journey.</a:t>
            </a:r>
            <a:endParaRPr sz="1275" b="0">
              <a:solidFill>
                <a:srgbClr val="172B4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24750" y="3143250"/>
            <a:ext cx="347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2616B"/>
                </a:solidFill>
              </a:defRPr>
            </a:defPPr>
            <a:lvl1pPr algn="l">
              <a:buNone/>
              <a:defRPr sz="1275" b="0">
                <a:solidFill>
                  <a:srgbClr val="52616B"/>
                </a:solidFill>
              </a:defRPr>
            </a:lvl1pPr>
            <a:lvl2pPr algn="l">
              <a:buNone/>
              <a:defRPr sz="1275" b="0">
                <a:solidFill>
                  <a:srgbClr val="52616B"/>
                </a:solidFill>
              </a:defRPr>
            </a:lvl2pPr>
            <a:lvl3pPr algn="l">
              <a:buNone/>
              <a:defRPr sz="1275" b="0">
                <a:solidFill>
                  <a:srgbClr val="52616B"/>
                </a:solidFill>
              </a:defRPr>
            </a:lvl3pPr>
            <a:lvl4pPr algn="l">
              <a:buNone/>
              <a:defRPr sz="1275" b="0">
                <a:solidFill>
                  <a:srgbClr val="52616B"/>
                </a:solidFill>
              </a:defRPr>
            </a:lvl4pPr>
            <a:lvl5pPr algn="l">
              <a:buNone/>
              <a:defRPr sz="1275" b="0">
                <a:solidFill>
                  <a:srgbClr val="52616B"/>
                </a:solidFill>
              </a:defRPr>
            </a:lvl5pPr>
            <a:lvl6pPr algn="l">
              <a:buNone/>
              <a:defRPr sz="1275" b="0">
                <a:solidFill>
                  <a:srgbClr val="52616B"/>
                </a:solidFill>
              </a:defRPr>
            </a:lvl6pPr>
            <a:lvl7pPr algn="l">
              <a:buNone/>
              <a:defRPr sz="1275" b="0">
                <a:solidFill>
                  <a:srgbClr val="52616B"/>
                </a:solidFill>
              </a:defRPr>
            </a:lvl7pPr>
            <a:lvl8pPr algn="l">
              <a:buNone/>
              <a:defRPr sz="1275" b="0">
                <a:solidFill>
                  <a:srgbClr val="52616B"/>
                </a:solidFill>
              </a:defRPr>
            </a:lvl8pPr>
            <a:lvl9pPr algn="l">
              <a:buNone/>
              <a:defRPr sz="1275" b="0">
                <a:solidFill>
                  <a:srgbClr val="52616B"/>
                </a:solidFill>
              </a:defRPr>
            </a:lvl9pPr>
          </a:lstStyle>
          <a:p>
            <a:pPr algn="l">
              <a:buNone/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Progress: integration exposed where a user decision, a form value or a process path needed clearer control.</a:t>
            </a:r>
            <a:endParaRPr sz="1275" b="0">
              <a:solidFill>
                <a:srgbClr val="52616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4038600"/>
            <a:ext cx="2286000" cy="685800"/>
          </a:xfrm>
          <a:prstGeom prst="roundRect">
            <a:avLst>
              <a:gd name="adj" fmla="val 6250"/>
            </a:avLst>
          </a:prstGeom>
          <a:solidFill>
            <a:srgbClr val="D8F3F0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8C95"/>
                </a:solidFill>
              </a:defRPr>
            </a:defPPr>
            <a:lvl1pPr algn="ctr">
              <a:buNone/>
              <a:defRPr sz="1275" b="1">
                <a:solidFill>
                  <a:srgbClr val="008C95"/>
                </a:solidFill>
              </a:defRPr>
            </a:lvl1pPr>
            <a:lvl2pPr algn="ctr">
              <a:buNone/>
              <a:defRPr sz="1275" b="1">
                <a:solidFill>
                  <a:srgbClr val="008C95"/>
                </a:solidFill>
              </a:defRPr>
            </a:lvl2pPr>
            <a:lvl3pPr algn="ctr">
              <a:buNone/>
              <a:defRPr sz="1275" b="1">
                <a:solidFill>
                  <a:srgbClr val="008C95"/>
                </a:solidFill>
              </a:defRPr>
            </a:lvl3pPr>
            <a:lvl4pPr algn="ctr">
              <a:buNone/>
              <a:defRPr sz="1275" b="1">
                <a:solidFill>
                  <a:srgbClr val="008C95"/>
                </a:solidFill>
              </a:defRPr>
            </a:lvl4pPr>
            <a:lvl5pPr algn="ctr">
              <a:buNone/>
              <a:defRPr sz="1275" b="1">
                <a:solidFill>
                  <a:srgbClr val="008C95"/>
                </a:solidFill>
              </a:defRPr>
            </a:lvl5pPr>
            <a:lvl6pPr algn="ctr">
              <a:buNone/>
              <a:defRPr sz="1275" b="1">
                <a:solidFill>
                  <a:srgbClr val="008C95"/>
                </a:solidFill>
              </a:defRPr>
            </a:lvl6pPr>
            <a:lvl7pPr algn="ctr">
              <a:buNone/>
              <a:defRPr sz="1275" b="1">
                <a:solidFill>
                  <a:srgbClr val="008C95"/>
                </a:solidFill>
              </a:defRPr>
            </a:lvl7pPr>
            <a:lvl8pPr algn="ctr">
              <a:buNone/>
              <a:defRPr sz="1275" b="1">
                <a:solidFill>
                  <a:srgbClr val="008C95"/>
                </a:solidFill>
              </a:defRPr>
            </a:lvl8pPr>
            <a:lvl9pPr algn="ctr">
              <a:buNone/>
              <a:defRPr sz="1275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Actual Release 2</a:t>
            </a:r>
            <a:endParaRPr sz="1275" b="1">
              <a:solidFill>
                <a:srgbClr val="008C9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38500" y="403860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72B4D"/>
                </a:solidFill>
              </a:defRPr>
            </a:defPPr>
            <a:lvl1pPr algn="l">
              <a:buNone/>
              <a:defRPr sz="1275" b="0">
                <a:solidFill>
                  <a:srgbClr val="172B4D"/>
                </a:solidFill>
              </a:defRPr>
            </a:lvl1pPr>
            <a:lvl2pPr algn="l">
              <a:buNone/>
              <a:defRPr sz="1275" b="0">
                <a:solidFill>
                  <a:srgbClr val="172B4D"/>
                </a:solidFill>
              </a:defRPr>
            </a:lvl2pPr>
            <a:lvl3pPr algn="l">
              <a:buNone/>
              <a:defRPr sz="1275" b="0">
                <a:solidFill>
                  <a:srgbClr val="172B4D"/>
                </a:solidFill>
              </a:defRPr>
            </a:lvl3pPr>
            <a:lvl4pPr algn="l">
              <a:buNone/>
              <a:defRPr sz="1275" b="0">
                <a:solidFill>
                  <a:srgbClr val="172B4D"/>
                </a:solidFill>
              </a:defRPr>
            </a:lvl4pPr>
            <a:lvl5pPr algn="l">
              <a:buNone/>
              <a:defRPr sz="1275" b="0">
                <a:solidFill>
                  <a:srgbClr val="172B4D"/>
                </a:solidFill>
              </a:defRPr>
            </a:lvl5pPr>
            <a:lvl6pPr algn="l">
              <a:buNone/>
              <a:defRPr sz="1275" b="0">
                <a:solidFill>
                  <a:srgbClr val="172B4D"/>
                </a:solidFill>
              </a:defRPr>
            </a:lvl6pPr>
            <a:lvl7pPr algn="l">
              <a:buNone/>
              <a:defRPr sz="1275" b="0">
                <a:solidFill>
                  <a:srgbClr val="172B4D"/>
                </a:solidFill>
              </a:defRPr>
            </a:lvl7pPr>
            <a:lvl8pPr algn="l">
              <a:buNone/>
              <a:defRPr sz="1275" b="0">
                <a:solidFill>
                  <a:srgbClr val="172B4D"/>
                </a:solidFill>
              </a:defRPr>
            </a:lvl8pPr>
            <a:lvl9pPr algn="l">
              <a:buNone/>
              <a:defRPr sz="1275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Change: tutor feedback moved validation, route merging, missing business choices and persistent patient data to the top priority.</a:t>
            </a:r>
            <a:endParaRPr sz="1275" b="0">
              <a:solidFill>
                <a:srgbClr val="172B4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524750" y="4038600"/>
            <a:ext cx="347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2616B"/>
                </a:solidFill>
              </a:defRPr>
            </a:defPPr>
            <a:lvl1pPr algn="l">
              <a:buNone/>
              <a:defRPr sz="1275" b="0">
                <a:solidFill>
                  <a:srgbClr val="52616B"/>
                </a:solidFill>
              </a:defRPr>
            </a:lvl1pPr>
            <a:lvl2pPr algn="l">
              <a:buNone/>
              <a:defRPr sz="1275" b="0">
                <a:solidFill>
                  <a:srgbClr val="52616B"/>
                </a:solidFill>
              </a:defRPr>
            </a:lvl2pPr>
            <a:lvl3pPr algn="l">
              <a:buNone/>
              <a:defRPr sz="1275" b="0">
                <a:solidFill>
                  <a:srgbClr val="52616B"/>
                </a:solidFill>
              </a:defRPr>
            </a:lvl3pPr>
            <a:lvl4pPr algn="l">
              <a:buNone/>
              <a:defRPr sz="1275" b="0">
                <a:solidFill>
                  <a:srgbClr val="52616B"/>
                </a:solidFill>
              </a:defRPr>
            </a:lvl4pPr>
            <a:lvl5pPr algn="l">
              <a:buNone/>
              <a:defRPr sz="1275" b="0">
                <a:solidFill>
                  <a:srgbClr val="52616B"/>
                </a:solidFill>
              </a:defRPr>
            </a:lvl5pPr>
            <a:lvl6pPr algn="l">
              <a:buNone/>
              <a:defRPr sz="1275" b="0">
                <a:solidFill>
                  <a:srgbClr val="52616B"/>
                </a:solidFill>
              </a:defRPr>
            </a:lvl6pPr>
            <a:lvl7pPr algn="l">
              <a:buNone/>
              <a:defRPr sz="1275" b="0">
                <a:solidFill>
                  <a:srgbClr val="52616B"/>
                </a:solidFill>
              </a:defRPr>
            </a:lvl7pPr>
            <a:lvl8pPr algn="l">
              <a:buNone/>
              <a:defRPr sz="1275" b="0">
                <a:solidFill>
                  <a:srgbClr val="52616B"/>
                </a:solidFill>
              </a:defRPr>
            </a:lvl8pPr>
            <a:lvl9pPr algn="l">
              <a:buNone/>
              <a:defRPr sz="1275" b="0">
                <a:solidFill>
                  <a:srgbClr val="52616B"/>
                </a:solidFill>
              </a:defRPr>
            </a:lvl9pPr>
          </a:lstStyle>
          <a:p>
            <a:pPr algn="l">
              <a:buNone/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Result: the final release supports safer input, clearer process flow and patient information that remains available after a worker restarts.</a:t>
            </a:r>
            <a:endParaRPr sz="1275" b="0">
              <a:solidFill>
                <a:srgbClr val="52616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5105400"/>
            <a:ext cx="1028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008C95"/>
                </a:solidFill>
              </a:defRPr>
            </a:defPPr>
            <a:lvl1pPr algn="l">
              <a:buNone/>
              <a:defRPr sz="1200" b="1">
                <a:solidFill>
                  <a:srgbClr val="008C95"/>
                </a:solidFill>
              </a:defRPr>
            </a:lvl1pPr>
            <a:lvl2pPr algn="l">
              <a:buNone/>
              <a:defRPr sz="1200" b="1">
                <a:solidFill>
                  <a:srgbClr val="008C95"/>
                </a:solidFill>
              </a:defRPr>
            </a:lvl2pPr>
            <a:lvl3pPr algn="l">
              <a:buNone/>
              <a:defRPr sz="1200" b="1">
                <a:solidFill>
                  <a:srgbClr val="008C95"/>
                </a:solidFill>
              </a:defRPr>
            </a:lvl3pPr>
            <a:lvl4pPr algn="l">
              <a:buNone/>
              <a:defRPr sz="1200" b="1">
                <a:solidFill>
                  <a:srgbClr val="008C95"/>
                </a:solidFill>
              </a:defRPr>
            </a:lvl4pPr>
            <a:lvl5pPr algn="l">
              <a:buNone/>
              <a:defRPr sz="1200" b="1">
                <a:solidFill>
                  <a:srgbClr val="008C95"/>
                </a:solidFill>
              </a:defRPr>
            </a:lvl5pPr>
            <a:lvl6pPr algn="l">
              <a:buNone/>
              <a:defRPr sz="1200" b="1">
                <a:solidFill>
                  <a:srgbClr val="008C95"/>
                </a:solidFill>
              </a:defRPr>
            </a:lvl6pPr>
            <a:lvl7pPr algn="l">
              <a:buNone/>
              <a:defRPr sz="1200" b="1">
                <a:solidFill>
                  <a:srgbClr val="008C95"/>
                </a:solidFill>
              </a:defRPr>
            </a:lvl7pPr>
            <a:lvl8pPr algn="l">
              <a:buNone/>
              <a:defRPr sz="1200" b="1">
                <a:solidFill>
                  <a:srgbClr val="008C95"/>
                </a:solidFill>
              </a:defRPr>
            </a:lvl8pPr>
            <a:lvl9pPr algn="l">
              <a:buNone/>
              <a:defRPr sz="1200" b="1">
                <a:solidFill>
                  <a:srgbClr val="008C95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P</a:t>
            </a:r>
            <a:r>
              <a:rPr sz="1050" b="1">
                <a:solidFill>
                  <a:srgbClr val="008C95"/>
                </a:solidFill>
              </a:rPr>
              <a:t>lan changed: after initial integration, we prioritised the issues that decide whether a patient journey can run safely. Valid form input comes first, then alternative paths rejoin cleanly, then the system keeps patient data after a restart. This order keeps human choices under control and gives later tasks the information they need.</a:t>
            </a:r>
            <a:endParaRPr sz="1200" b="1">
              <a:solidFill>
                <a:srgbClr val="008C9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19240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008C95"/>
                </a:solidFill>
              </a:defRPr>
            </a:defPPr>
            <a:lvl1pPr algn="ctr">
              <a:buNone/>
              <a:defRPr sz="900" b="1">
                <a:solidFill>
                  <a:srgbClr val="008C95"/>
                </a:solidFill>
              </a:defRPr>
            </a:lvl1pPr>
            <a:lvl2pPr algn="ctr">
              <a:buNone/>
              <a:defRPr sz="900" b="1">
                <a:solidFill>
                  <a:srgbClr val="008C95"/>
                </a:solidFill>
              </a:defRPr>
            </a:lvl2pPr>
            <a:lvl3pPr algn="ctr">
              <a:buNone/>
              <a:defRPr sz="900" b="1">
                <a:solidFill>
                  <a:srgbClr val="008C95"/>
                </a:solidFill>
              </a:defRPr>
            </a:lvl3pPr>
            <a:lvl4pPr algn="ctr">
              <a:buNone/>
              <a:defRPr sz="900" b="1">
                <a:solidFill>
                  <a:srgbClr val="008C95"/>
                </a:solidFill>
              </a:defRPr>
            </a:lvl4pPr>
            <a:lvl5pPr algn="ctr">
              <a:buNone/>
              <a:defRPr sz="900" b="1">
                <a:solidFill>
                  <a:srgbClr val="008C95"/>
                </a:solidFill>
              </a:defRPr>
            </a:lvl5pPr>
            <a:lvl6pPr algn="ctr">
              <a:buNone/>
              <a:defRPr sz="900" b="1">
                <a:solidFill>
                  <a:srgbClr val="008C95"/>
                </a:solidFill>
              </a:defRPr>
            </a:lvl6pPr>
            <a:lvl7pPr algn="ctr">
              <a:buNone/>
              <a:defRPr sz="900" b="1">
                <a:solidFill>
                  <a:srgbClr val="008C95"/>
                </a:solidFill>
              </a:defRPr>
            </a:lvl7pPr>
            <a:lvl8pPr algn="ctr">
              <a:buNone/>
              <a:defRPr sz="900" b="1">
                <a:solidFill>
                  <a:srgbClr val="008C95"/>
                </a:solidFill>
              </a:defRPr>
            </a:lvl8pPr>
            <a:lvl9pPr algn="ctr">
              <a:buNone/>
              <a:defRPr sz="900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MILESTONE</a:t>
            </a:r>
            <a:endParaRPr sz="900" b="1">
              <a:solidFill>
                <a:srgbClr val="008C9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38500" y="1924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008C95"/>
                </a:solidFill>
              </a:defRPr>
            </a:defPPr>
            <a:lvl1pPr algn="l">
              <a:buNone/>
              <a:defRPr sz="900" b="1">
                <a:solidFill>
                  <a:srgbClr val="008C95"/>
                </a:solidFill>
              </a:defRPr>
            </a:lvl1pPr>
            <a:lvl2pPr algn="l">
              <a:buNone/>
              <a:defRPr sz="900" b="1">
                <a:solidFill>
                  <a:srgbClr val="008C95"/>
                </a:solidFill>
              </a:defRPr>
            </a:lvl2pPr>
            <a:lvl3pPr algn="l">
              <a:buNone/>
              <a:defRPr sz="900" b="1">
                <a:solidFill>
                  <a:srgbClr val="008C95"/>
                </a:solidFill>
              </a:defRPr>
            </a:lvl3pPr>
            <a:lvl4pPr algn="l">
              <a:buNone/>
              <a:defRPr sz="900" b="1">
                <a:solidFill>
                  <a:srgbClr val="008C95"/>
                </a:solidFill>
              </a:defRPr>
            </a:lvl4pPr>
            <a:lvl5pPr algn="l">
              <a:buNone/>
              <a:defRPr sz="900" b="1">
                <a:solidFill>
                  <a:srgbClr val="008C95"/>
                </a:solidFill>
              </a:defRPr>
            </a:lvl5pPr>
            <a:lvl6pPr algn="l">
              <a:buNone/>
              <a:defRPr sz="900" b="1">
                <a:solidFill>
                  <a:srgbClr val="008C95"/>
                </a:solidFill>
              </a:defRPr>
            </a:lvl6pPr>
            <a:lvl7pPr algn="l">
              <a:buNone/>
              <a:defRPr sz="900" b="1">
                <a:solidFill>
                  <a:srgbClr val="008C95"/>
                </a:solidFill>
              </a:defRPr>
            </a:lvl7pPr>
            <a:lvl8pPr algn="l">
              <a:buNone/>
              <a:defRPr sz="900" b="1">
                <a:solidFill>
                  <a:srgbClr val="008C95"/>
                </a:solidFill>
              </a:defRPr>
            </a:lvl8pPr>
            <a:lvl9pPr algn="l">
              <a:buNone/>
              <a:defRPr sz="900" b="1">
                <a:solidFill>
                  <a:srgbClr val="008C95"/>
                </a:solidFill>
              </a:defRPr>
            </a:lvl9pPr>
          </a:lstStyle>
          <a:p>
            <a:pPr algn="l">
              <a:buNone/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ORIGINAL PLAN</a:t>
            </a:r>
            <a:endParaRPr sz="900" b="1">
              <a:solidFill>
                <a:srgbClr val="008C9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24750" y="1924050"/>
            <a:ext cx="3476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008C95"/>
                </a:solidFill>
              </a:defRPr>
            </a:defPPr>
            <a:lvl1pPr algn="l">
              <a:buNone/>
              <a:defRPr sz="900" b="1">
                <a:solidFill>
                  <a:srgbClr val="008C95"/>
                </a:solidFill>
              </a:defRPr>
            </a:lvl1pPr>
            <a:lvl2pPr algn="l">
              <a:buNone/>
              <a:defRPr sz="900" b="1">
                <a:solidFill>
                  <a:srgbClr val="008C95"/>
                </a:solidFill>
              </a:defRPr>
            </a:lvl2pPr>
            <a:lvl3pPr algn="l">
              <a:buNone/>
              <a:defRPr sz="900" b="1">
                <a:solidFill>
                  <a:srgbClr val="008C95"/>
                </a:solidFill>
              </a:defRPr>
            </a:lvl3pPr>
            <a:lvl4pPr algn="l">
              <a:buNone/>
              <a:defRPr sz="900" b="1">
                <a:solidFill>
                  <a:srgbClr val="008C95"/>
                </a:solidFill>
              </a:defRPr>
            </a:lvl4pPr>
            <a:lvl5pPr algn="l">
              <a:buNone/>
              <a:defRPr sz="900" b="1">
                <a:solidFill>
                  <a:srgbClr val="008C95"/>
                </a:solidFill>
              </a:defRPr>
            </a:lvl5pPr>
            <a:lvl6pPr algn="l">
              <a:buNone/>
              <a:defRPr sz="900" b="1">
                <a:solidFill>
                  <a:srgbClr val="008C95"/>
                </a:solidFill>
              </a:defRPr>
            </a:lvl6pPr>
            <a:lvl7pPr algn="l">
              <a:buNone/>
              <a:defRPr sz="900" b="1">
                <a:solidFill>
                  <a:srgbClr val="008C95"/>
                </a:solidFill>
              </a:defRPr>
            </a:lvl7pPr>
            <a:lvl8pPr algn="l">
              <a:buNone/>
              <a:defRPr sz="900" b="1">
                <a:solidFill>
                  <a:srgbClr val="008C95"/>
                </a:solidFill>
              </a:defRPr>
            </a:lvl8pPr>
            <a:lvl9pPr algn="l">
              <a:buNone/>
              <a:defRPr sz="900" b="1">
                <a:solidFill>
                  <a:srgbClr val="008C95"/>
                </a:solidFill>
              </a:defRPr>
            </a:lvl9pPr>
          </a:lstStyle>
          <a:p>
            <a:pPr algn="l">
              <a:buNone/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ACTUAL PROGRESS AND REASON</a:t>
            </a:r>
            <a:endParaRPr sz="900" b="1">
              <a:solidFill>
                <a:srgbClr val="008C9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 anchor="ctr"/>
          <a:lstStyle>
            <a:defPPr algn="l"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FE2F3"/>
                </a:solidFill>
                <a:latin typeface="Aptos"/>
                <a:ea typeface="Aptos"/>
                <a:cs typeface="Aptos"/>
              </a:rPr>
              <a:t>603 DEVELOPMENT PRESENTATION</a:t>
            </a:r>
            <a:endParaRPr sz="1050" b="1">
              <a:solidFill>
                <a:srgbClr val="CFE2F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 Plan and Acceptance Criteria</a:t>
            </a:r>
            <a:endParaRPr sz="2250" b="1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02</a:t>
            </a:r>
            <a:endParaRPr sz="1350" b="1">
              <a:solidFill>
                <a:srgbClr val="1F6F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  <p:txBody>
          <a:bodyPr anchor="ctr"/>
          <a:lstStyle>
            <a:defPPr algn="l"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0" b="0">
                <a:solidFill>
                  <a:srgbClr val="C9D2DC"/>
                </a:solidFill>
                <a:latin typeface="Aptos"/>
                <a:ea typeface="Aptos"/>
                <a:cs typeface="Aptos"/>
              </a:defRPr>
            </a:lvl9pPr>
          </a:lstStyle>
          <a:p/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81150"/>
            <a:ext cx="4095750" cy="295275"/>
          </a:xfrm>
          <a:prstGeom prst="roundRect">
            <a:avLst>
              <a:gd name="adj" fmla="val 25806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What the test plan checks before the live demonstration</a:t>
            </a:r>
            <a:endParaRPr sz="105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2057400"/>
            <a:ext cx="1619250" cy="323850"/>
          </a:xfrm>
          <a:prstGeom prst="roundRect">
            <a:avLst>
              <a:gd name="adj" fmla="val 2352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  <a:endParaRPr sz="11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76500" y="20193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The test plan proves that the hospital workflow accepts valid information, handles business exceptions safely, and preserves the patient record for later work.</a:t>
            </a:r>
            <a:endParaRPr sz="1125" b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62890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AREA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2628900"/>
            <a:ext cx="3857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SCENARIO WE TEST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0" y="26289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PASS CONDITION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66750" y="2895600"/>
            <a:ext cx="176212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Referral</a:t>
            </a:r>
            <a:endParaRPr sz="975" b="1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571750" y="2895600"/>
            <a:ext cx="3857625" cy="438150"/>
          </a:xfrm>
          <a:prstGeom prst="roundRect">
            <a:avLst>
              <a:gd name="adj" fmla="val 1739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Complete or missing information, valid reference, accept, reject, redirect</a:t>
            </a:r>
            <a:endParaRPr sz="900" b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667500" y="2895600"/>
            <a:ext cx="4381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The route reaches consultant review or the correct missing-information / decision path.</a:t>
            </a:r>
            <a:endParaRPr sz="900" b="0">
              <a:solidFill>
                <a:srgbClr val="5261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66750" y="3390900"/>
            <a:ext cx="176212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Appointment</a:t>
            </a:r>
            <a:endParaRPr sz="975" b="1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571750" y="3390900"/>
            <a:ext cx="3857625" cy="438150"/>
          </a:xfrm>
          <a:prstGeom prst="roundRect">
            <a:avLst>
              <a:gd name="adj" fmla="val 1739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Suitable slot, no slot, appointment within 14 days, contact outcome</a:t>
            </a:r>
            <a:endParaRPr sz="900" b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667500" y="3390900"/>
            <a:ext cx="4381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The process records the outcome and asks for a revised request or telephone contact when required.</a:t>
            </a:r>
            <a:endParaRPr sz="900" b="0">
              <a:solidFill>
                <a:srgbClr val="5261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66750" y="3886200"/>
            <a:ext cx="176212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Treatment</a:t>
            </a:r>
            <a:endParaRPr sz="975" b="1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571750" y="3886200"/>
            <a:ext cx="3857625" cy="438150"/>
          </a:xfrm>
          <a:prstGeom prst="roundRect">
            <a:avLst>
              <a:gd name="adj" fmla="val 1739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Consent, unauthorised request, unavailable resource, clinical decision</a:t>
            </a:r>
            <a:endParaRPr sz="900" b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667500" y="3886200"/>
            <a:ext cx="4381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Only authorised treatment proceeds. Unavailable resources create a controlled pending or retry route.</a:t>
            </a:r>
            <a:endParaRPr sz="900" b="0">
              <a:solidFill>
                <a:srgbClr val="5261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66750" y="4381500"/>
            <a:ext cx="176212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Funding and payment</a:t>
            </a:r>
            <a:endParaRPr sz="975" b="1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2571750" y="4381500"/>
            <a:ext cx="3857625" cy="438150"/>
          </a:xfrm>
          <a:prstGeom prst="roundRect">
            <a:avLst>
              <a:gd name="adj" fmla="val 1739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Funding route, successful or declined payment, confirmation loss, refund approval</a:t>
            </a:r>
            <a:endParaRPr sz="900" b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67500" y="4381500"/>
            <a:ext cx="4381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The process avoids automatic recharging and only sends an approved refund to the refund worker.</a:t>
            </a:r>
            <a:endParaRPr sz="900" b="0">
              <a:solidFill>
                <a:srgbClr val="5261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" y="4876800"/>
            <a:ext cx="176212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Enquiry and clinic letter</a:t>
            </a:r>
            <a:endParaRPr sz="975" b="1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571750" y="4876800"/>
            <a:ext cx="3857625" cy="438150"/>
          </a:xfrm>
          <a:prstGeom prst="roundRect">
            <a:avLst>
              <a:gd name="adj" fmla="val 1739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Team routing, urgent clinical concern, approval, delay and age-band escalation</a:t>
            </a:r>
            <a:endParaRPr sz="900" b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667500" y="4876800"/>
            <a:ext cx="4381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The process sends work to the right team and never distributes an unapproved clinic letter.</a:t>
            </a:r>
            <a:endParaRPr sz="900" b="0">
              <a:solidFill>
                <a:srgbClr val="5261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66750" y="5372100"/>
            <a:ext cx="176212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Technical checks</a:t>
            </a:r>
            <a:endParaRPr sz="975" b="1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2571750" y="5372100"/>
            <a:ext cx="3857625" cy="438150"/>
          </a:xfrm>
          <a:prstGeom prst="roundRect">
            <a:avLst>
              <a:gd name="adj" fmla="val 1739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BPMN / form / worker linkage, worker behaviour, persistence and deployment</a:t>
            </a:r>
            <a:endParaRPr sz="900" b="0">
              <a:solidFill>
                <a:srgbClr val="172B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667500" y="5372100"/>
            <a:ext cx="4381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Every binding resolves, worker outputs update variables, and patient data can be retrieved by patient ID.</a:t>
            </a:r>
            <a:endParaRPr sz="900" b="0">
              <a:solidFill>
                <a:srgbClr val="5261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6750" y="600075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Acceptance decision: configuration, worker logic, persistence and deployment must pass first. The live demonstration then shows one normal journey and one exception / retry journey in Tasklist, including the submitted decision and the resulting BPMN path.</a:t>
            </a:r>
            <a:endParaRPr sz="105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03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9380" y="1988820"/>
            <a:ext cx="3184525" cy="3535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master process coordinates referral, appointment, finance, treatment, and clinic-letter work as one patient journey.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A positive decision in one area creates the data and control needed by the next area.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Human decisions stay in forms. Automated checks run through Camunda workers.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This integrated design prevents a treatment activity from starting before relevant referral, appointment and financial decisions are available.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857875" y="1809750"/>
            <a:ext cx="5238750" cy="3714750"/>
          </a:xfrm>
          <a:prstGeom prst="roundRect">
            <a:avLst>
              <a:gd name="adj" fmla="val 1538"/>
            </a:avLst>
          </a:prstGeom>
          <a:solidFill>
            <a:srgbClr val="EDF2F7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5280" y="866775"/>
            <a:ext cx="4705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buNone/>
              <a:defRPr sz="1500" b="1">
                <a:solidFill>
                  <a:srgbClr val="102A43"/>
                </a:solidFill>
              </a:defRPr>
            </a:lvl1pPr>
            <a:lvl2pPr algn="ctr">
              <a:buNone/>
              <a:defRPr sz="1500" b="1">
                <a:solidFill>
                  <a:srgbClr val="102A43"/>
                </a:solidFill>
              </a:defRPr>
            </a:lvl2pPr>
            <a:lvl3pPr algn="ctr">
              <a:buNone/>
              <a:defRPr sz="1500" b="1">
                <a:solidFill>
                  <a:srgbClr val="102A43"/>
                </a:solidFill>
              </a:defRPr>
            </a:lvl3pPr>
            <a:lvl4pPr algn="ctr">
              <a:buNone/>
              <a:defRPr sz="1500" b="1">
                <a:solidFill>
                  <a:srgbClr val="102A43"/>
                </a:solidFill>
              </a:defRPr>
            </a:lvl4pPr>
            <a:lvl5pPr algn="ctr">
              <a:buNone/>
              <a:defRPr sz="1500" b="1">
                <a:solidFill>
                  <a:srgbClr val="102A43"/>
                </a:solidFill>
              </a:defRPr>
            </a:lvl5pPr>
            <a:lvl6pPr algn="ctr">
              <a:buNone/>
              <a:defRPr sz="1500" b="1">
                <a:solidFill>
                  <a:srgbClr val="102A43"/>
                </a:solidFill>
              </a:defRPr>
            </a:lvl6pPr>
            <a:lvl7pPr algn="ctr">
              <a:buNone/>
              <a:defRPr sz="1500" b="1">
                <a:solidFill>
                  <a:srgbClr val="102A43"/>
                </a:solidFill>
              </a:defRPr>
            </a:lvl7pPr>
            <a:lvl8pPr algn="ctr">
              <a:buNone/>
              <a:defRPr sz="1500" b="1">
                <a:solidFill>
                  <a:srgbClr val="102A43"/>
                </a:solidFill>
              </a:defRPr>
            </a:lvl8pPr>
            <a:lvl9pPr algn="ctr">
              <a:buNone/>
              <a:defRPr sz="1500" b="1">
                <a:solidFill>
                  <a:srgbClr val="102A43"/>
                </a:solidFill>
              </a:defRPr>
            </a:lvl9pPr>
          </a:lstStyle>
          <a:p>
            <a:pPr algn="ctr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Hospital Master BPMN</a:t>
            </a:r>
            <a:endParaRPr sz="1500" b="1">
              <a:solidFill>
                <a:srgbClr val="102A43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7890" y="1445895"/>
            <a:ext cx="8729980" cy="4961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Strategic BPMN: The Hospital Pathway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04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6990" y="1772920"/>
            <a:ext cx="3112770" cy="215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strategic view starts with a referral and moves through booking, funding, treatment and follow-up communication.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It shows why each operational process exists and where a patient depends on the next service.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The operational BPMN models implement these stages with tasks, gateways, forms and workers.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5940" y="1485265"/>
            <a:ext cx="8990965" cy="4474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Strategic Dependency Model: Who Depends on Whom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05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63525" y="1628775"/>
            <a:ext cx="3237230" cy="290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SD model contains six actors: Patient and Referrer, Referral and Consultant Review, Appointment and Patient Communication, Finance, Treatment and Chemotherapy, and Enquiry Clinic Letter and Monitoring.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Dependencies make hand-offs visible. Examples include referral details, accepted referral and booking requirements, financial clearance, consultation outcome and clinic letter updates.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The SD model supports accountability because each dependency has a depender, a dependee and a concrete dependum.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365" y="1557020"/>
            <a:ext cx="8230235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Strategic Rationale Model: Goals and Decisions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06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1409700"/>
            <a:ext cx="3142615" cy="3518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SR model explains why each actor performs its tasks.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Referral work supports a safe referral decision and complete, traceable referral.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Appointment work supports a timely confirmed appointment and clear patient communication. Finance supports financial clearance before treatment. Treatment supports clinical safety. Enquiry and letter work supports accurate, timely updates.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AND refinements show activities that must work together. OR refinements show alternative ways to achieve a goal.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615" y="1485265"/>
            <a:ext cx="8782685" cy="4964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Further Development: External API and Patient Confirmation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09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91135" y="1485265"/>
            <a:ext cx="217424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local mock exposes GET /patients/next and returns one patient record for the BPMN route.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Retrieve Patient Details maps patientId, patientName, referralType and referralStatus into process variables.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The reviewer sees these values in Tasklist and actively chooses whether the imported data is correct. The XOR gateway only routes after this choice.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</a:t>
            </a:r>
            <a:r>
              <a:rPr sz="1350" b="0">
                <a:solidFill>
                  <a:srgbClr val="172B4D"/>
                </a:solidFill>
              </a:rPr>
              <a:t>U</a:t>
            </a:r>
            <a:r>
              <a:rPr sz="1350" b="0">
                <a:solidFill>
                  <a:srgbClr val="172B4D"/>
                </a:solidFill>
              </a:rPr>
              <a:t>pdate: the route was tested from API response to Tasklist confirmation, including a controlled missing-data branch.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05" y="1562735"/>
            <a:ext cx="5034915" cy="35153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320" y="1568450"/>
            <a:ext cx="4457065" cy="3541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885950"/>
            <a:ext cx="5048250" cy="1762125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119380" y="18859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endParaRPr sz="2250" b="1">
              <a:solidFill>
                <a:srgbClr val="102A43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885950"/>
            <a:ext cx="5048250" cy="1762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210050"/>
            <a:ext cx="5048250" cy="1762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210050"/>
            <a:ext cx="5048250" cy="1762125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1714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866775"/>
            <a:ext cx="9858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75" b="1">
                <a:solidFill>
                  <a:srgbClr val="102A43"/>
                </a:solidFill>
              </a:defRPr>
            </a:defPPr>
            <a:lvl1pPr algn="l">
              <a:buNone/>
              <a:defRPr sz="2175" b="1">
                <a:solidFill>
                  <a:srgbClr val="102A43"/>
                </a:solidFill>
              </a:defRPr>
            </a:lvl1pPr>
            <a:lvl2pPr algn="l">
              <a:buNone/>
              <a:defRPr sz="2175" b="1">
                <a:solidFill>
                  <a:srgbClr val="102A43"/>
                </a:solidFill>
              </a:defRPr>
            </a:lvl2pPr>
            <a:lvl3pPr algn="l">
              <a:buNone/>
              <a:defRPr sz="2175" b="1">
                <a:solidFill>
                  <a:srgbClr val="102A43"/>
                </a:solidFill>
              </a:defRPr>
            </a:lvl3pPr>
            <a:lvl4pPr algn="l">
              <a:buNone/>
              <a:defRPr sz="2175" b="1">
                <a:solidFill>
                  <a:srgbClr val="102A43"/>
                </a:solidFill>
              </a:defRPr>
            </a:lvl4pPr>
            <a:lvl5pPr algn="l">
              <a:buNone/>
              <a:defRPr sz="2175" b="1">
                <a:solidFill>
                  <a:srgbClr val="102A43"/>
                </a:solidFill>
              </a:defRPr>
            </a:lvl5pPr>
            <a:lvl6pPr algn="l">
              <a:buNone/>
              <a:defRPr sz="2175" b="1">
                <a:solidFill>
                  <a:srgbClr val="102A43"/>
                </a:solidFill>
              </a:defRPr>
            </a:lvl6pPr>
            <a:lvl7pPr algn="l">
              <a:buNone/>
              <a:defRPr sz="2175" b="1">
                <a:solidFill>
                  <a:srgbClr val="102A43"/>
                </a:solidFill>
              </a:defRPr>
            </a:lvl7pPr>
            <a:lvl8pPr algn="l">
              <a:buNone/>
              <a:defRPr sz="2175" b="1">
                <a:solidFill>
                  <a:srgbClr val="102A43"/>
                </a:solidFill>
              </a:defRPr>
            </a:lvl8pPr>
            <a:lvl9pPr algn="l">
              <a:buNone/>
              <a:defRPr sz="2175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Tasklist Evidence for Business Scenarios</a:t>
            </a:r>
            <a:endParaRPr sz="2175" b="1">
              <a:solidFill>
                <a:srgbClr val="102A4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144250" y="9048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15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552450" y="1581150"/>
            <a:ext cx="295275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</a:defRPr>
            </a:defPPr>
            <a:lvl1pPr algn="ctr">
              <a:buNone/>
              <a:defRPr sz="1050" b="1">
                <a:solidFill>
                  <a:srgbClr val="008C95"/>
                </a:solidFill>
              </a:defRPr>
            </a:lvl1pPr>
            <a:lvl2pPr algn="ctr">
              <a:buNone/>
              <a:defRPr sz="1050" b="1">
                <a:solidFill>
                  <a:srgbClr val="008C95"/>
                </a:solidFill>
              </a:defRPr>
            </a:lvl2pPr>
            <a:lvl3pPr algn="ctr">
              <a:buNone/>
              <a:defRPr sz="1050" b="1">
                <a:solidFill>
                  <a:srgbClr val="008C95"/>
                </a:solidFill>
              </a:defRPr>
            </a:lvl3pPr>
            <a:lvl4pPr algn="ctr">
              <a:buNone/>
              <a:defRPr sz="1050" b="1">
                <a:solidFill>
                  <a:srgbClr val="008C95"/>
                </a:solidFill>
              </a:defRPr>
            </a:lvl4pPr>
            <a:lvl5pPr algn="ctr">
              <a:buNone/>
              <a:defRPr sz="1050" b="1">
                <a:solidFill>
                  <a:srgbClr val="008C95"/>
                </a:solidFill>
              </a:defRPr>
            </a:lvl5pPr>
            <a:lvl6pPr algn="ctr">
              <a:buNone/>
              <a:defRPr sz="1050" b="1">
                <a:solidFill>
                  <a:srgbClr val="008C95"/>
                </a:solidFill>
              </a:defRPr>
            </a:lvl6pPr>
            <a:lvl7pPr algn="ctr">
              <a:buNone/>
              <a:defRPr sz="1050" b="1">
                <a:solidFill>
                  <a:srgbClr val="008C95"/>
                </a:solidFill>
              </a:defRPr>
            </a:lvl7pPr>
            <a:lvl8pPr algn="ctr">
              <a:buNone/>
              <a:defRPr sz="1050" b="1">
                <a:solidFill>
                  <a:srgbClr val="008C95"/>
                </a:solidFill>
              </a:defRPr>
            </a:lvl8pPr>
            <a:lvl9pPr algn="ctr">
              <a:buNone/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Response to Feedback | Tasklist evidence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66750" y="3676650"/>
            <a:ext cx="50482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API integration BPMN: Review Imported Patient Data task, before the dataConfirmed gateway.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286500" y="3676650"/>
            <a:ext cx="50482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Referral BPMN: Check Supporting Information task, before the referral-validation decision.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6750" y="6000750"/>
            <a:ext cx="50482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Treatment BPMN: Record Patient Consent task, before the authorised treatment request.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286500" y="6000750"/>
            <a:ext cx="50482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Funding BPMN: Record Funding / Payment Details task, before funding and payment gateways.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Technical Implementation: API to BPMN Decision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16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81150"/>
            <a:ext cx="266700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</a:defRPr>
            </a:defPPr>
            <a:lvl1pPr algn="ctr">
              <a:buNone/>
              <a:defRPr sz="1050" b="1">
                <a:solidFill>
                  <a:srgbClr val="008C95"/>
                </a:solidFill>
              </a:defRPr>
            </a:lvl1pPr>
            <a:lvl2pPr algn="ctr">
              <a:buNone/>
              <a:defRPr sz="1050" b="1">
                <a:solidFill>
                  <a:srgbClr val="008C95"/>
                </a:solidFill>
              </a:defRPr>
            </a:lvl2pPr>
            <a:lvl3pPr algn="ctr">
              <a:buNone/>
              <a:defRPr sz="1050" b="1">
                <a:solidFill>
                  <a:srgbClr val="008C95"/>
                </a:solidFill>
              </a:defRPr>
            </a:lvl3pPr>
            <a:lvl4pPr algn="ctr">
              <a:buNone/>
              <a:defRPr sz="1050" b="1">
                <a:solidFill>
                  <a:srgbClr val="008C95"/>
                </a:solidFill>
              </a:defRPr>
            </a:lvl4pPr>
            <a:lvl5pPr algn="ctr">
              <a:buNone/>
              <a:defRPr sz="1050" b="1">
                <a:solidFill>
                  <a:srgbClr val="008C95"/>
                </a:solidFill>
              </a:defRPr>
            </a:lvl5pPr>
            <a:lvl6pPr algn="ctr">
              <a:buNone/>
              <a:defRPr sz="1050" b="1">
                <a:solidFill>
                  <a:srgbClr val="008C95"/>
                </a:solidFill>
              </a:defRPr>
            </a:lvl6pPr>
            <a:lvl7pPr algn="ctr">
              <a:buNone/>
              <a:defRPr sz="1050" b="1">
                <a:solidFill>
                  <a:srgbClr val="008C95"/>
                </a:solidFill>
              </a:defRPr>
            </a:lvl7pPr>
            <a:lvl8pPr algn="ctr">
              <a:buNone/>
              <a:defRPr sz="1050" b="1">
                <a:solidFill>
                  <a:srgbClr val="008C95"/>
                </a:solidFill>
              </a:defRPr>
            </a:lvl8pPr>
            <a:lvl9pPr algn="ctr">
              <a:buNone/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How the API actually works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57200" y="486918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The Mock API returns one BPMN-safe patient object. The HTTP connector stores the JSON fields as process variables. Tasklist then captures the human decision. The XOR gateway evaluates that decision.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67715" y="2428875"/>
            <a:ext cx="1571625" cy="523875"/>
          </a:xfrm>
          <a:prstGeom prst="roundRect">
            <a:avLst>
              <a:gd name="adj" fmla="val 10909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08C95"/>
                </a:solidFill>
              </a:defRPr>
            </a:defPPr>
            <a:lvl1pPr algn="ctr">
              <a:buNone/>
              <a:defRPr sz="1350" b="1">
                <a:solidFill>
                  <a:srgbClr val="008C95"/>
                </a:solidFill>
              </a:defRPr>
            </a:lvl1pPr>
            <a:lvl2pPr algn="ctr">
              <a:buNone/>
              <a:defRPr sz="1350" b="1">
                <a:solidFill>
                  <a:srgbClr val="008C95"/>
                </a:solidFill>
              </a:defRPr>
            </a:lvl2pPr>
            <a:lvl3pPr algn="ctr">
              <a:buNone/>
              <a:defRPr sz="1350" b="1">
                <a:solidFill>
                  <a:srgbClr val="008C95"/>
                </a:solidFill>
              </a:defRPr>
            </a:lvl3pPr>
            <a:lvl4pPr algn="ctr">
              <a:buNone/>
              <a:defRPr sz="1350" b="1">
                <a:solidFill>
                  <a:srgbClr val="008C95"/>
                </a:solidFill>
              </a:defRPr>
            </a:lvl4pPr>
            <a:lvl5pPr algn="ctr">
              <a:buNone/>
              <a:defRPr sz="1350" b="1">
                <a:solidFill>
                  <a:srgbClr val="008C95"/>
                </a:solidFill>
              </a:defRPr>
            </a:lvl5pPr>
            <a:lvl6pPr algn="ctr">
              <a:buNone/>
              <a:defRPr sz="1350" b="1">
                <a:solidFill>
                  <a:srgbClr val="008C95"/>
                </a:solidFill>
              </a:defRPr>
            </a:lvl6pPr>
            <a:lvl7pPr algn="ctr">
              <a:buNone/>
              <a:defRPr sz="1350" b="1">
                <a:solidFill>
                  <a:srgbClr val="008C95"/>
                </a:solidFill>
              </a:defRPr>
            </a:lvl7pPr>
            <a:lvl8pPr algn="ctr">
              <a:buNone/>
              <a:defRPr sz="1350" b="1">
                <a:solidFill>
                  <a:srgbClr val="008C95"/>
                </a:solidFill>
              </a:defRPr>
            </a:lvl8pPr>
            <a:lvl9pPr algn="ctr">
              <a:buNone/>
              <a:defRPr sz="1350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Postman Mock</a:t>
            </a:r>
            <a:endParaRPr sz="1350" b="1">
              <a:solidFill>
                <a:srgbClr val="008C9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219450" y="2428875"/>
            <a:ext cx="1571625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buNone/>
              <a:defRPr sz="1350" b="1">
                <a:solidFill>
                  <a:srgbClr val="102A43"/>
                </a:solidFill>
              </a:defRPr>
            </a:lvl1pPr>
            <a:lvl2pPr algn="ctr">
              <a:buNone/>
              <a:defRPr sz="1350" b="1">
                <a:solidFill>
                  <a:srgbClr val="102A43"/>
                </a:solidFill>
              </a:defRPr>
            </a:lvl2pPr>
            <a:lvl3pPr algn="ctr">
              <a:buNone/>
              <a:defRPr sz="1350" b="1">
                <a:solidFill>
                  <a:srgbClr val="102A43"/>
                </a:solidFill>
              </a:defRPr>
            </a:lvl3pPr>
            <a:lvl4pPr algn="ctr">
              <a:buNone/>
              <a:defRPr sz="1350" b="1">
                <a:solidFill>
                  <a:srgbClr val="102A43"/>
                </a:solidFill>
              </a:defRPr>
            </a:lvl4pPr>
            <a:lvl5pPr algn="ctr">
              <a:buNone/>
              <a:defRPr sz="1350" b="1">
                <a:solidFill>
                  <a:srgbClr val="102A43"/>
                </a:solidFill>
              </a:defRPr>
            </a:lvl5pPr>
            <a:lvl6pPr algn="ctr">
              <a:buNone/>
              <a:defRPr sz="1350" b="1">
                <a:solidFill>
                  <a:srgbClr val="102A43"/>
                </a:solidFill>
              </a:defRPr>
            </a:lvl6pPr>
            <a:lvl7pPr algn="ctr">
              <a:buNone/>
              <a:defRPr sz="1350" b="1">
                <a:solidFill>
                  <a:srgbClr val="102A43"/>
                </a:solidFill>
              </a:defRPr>
            </a:lvl7pPr>
            <a:lvl8pPr algn="ctr">
              <a:buNone/>
              <a:defRPr sz="1350" b="1">
                <a:solidFill>
                  <a:srgbClr val="102A43"/>
                </a:solidFill>
              </a:defRPr>
            </a:lvl8pPr>
            <a:lvl9pPr algn="ctr">
              <a:buNone/>
              <a:defRPr sz="1350" b="1">
                <a:solidFill>
                  <a:srgbClr val="102A43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HTTP JSON</a:t>
            </a:r>
            <a:endParaRPr sz="1350" b="1">
              <a:solidFill>
                <a:srgbClr val="102A43"/>
              </a:solidFill>
            </a:endParaRPr>
          </a:p>
          <a:p>
            <a:pPr algn="ctr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connector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952490" y="2420620"/>
            <a:ext cx="1571625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buNone/>
              <a:defRPr sz="1350" b="1">
                <a:solidFill>
                  <a:srgbClr val="102A43"/>
                </a:solidFill>
              </a:defRPr>
            </a:lvl1pPr>
            <a:lvl2pPr algn="ctr">
              <a:buNone/>
              <a:defRPr sz="1350" b="1">
                <a:solidFill>
                  <a:srgbClr val="102A43"/>
                </a:solidFill>
              </a:defRPr>
            </a:lvl2pPr>
            <a:lvl3pPr algn="ctr">
              <a:buNone/>
              <a:defRPr sz="1350" b="1">
                <a:solidFill>
                  <a:srgbClr val="102A43"/>
                </a:solidFill>
              </a:defRPr>
            </a:lvl3pPr>
            <a:lvl4pPr algn="ctr">
              <a:buNone/>
              <a:defRPr sz="1350" b="1">
                <a:solidFill>
                  <a:srgbClr val="102A43"/>
                </a:solidFill>
              </a:defRPr>
            </a:lvl4pPr>
            <a:lvl5pPr algn="ctr">
              <a:buNone/>
              <a:defRPr sz="1350" b="1">
                <a:solidFill>
                  <a:srgbClr val="102A43"/>
                </a:solidFill>
              </a:defRPr>
            </a:lvl5pPr>
            <a:lvl6pPr algn="ctr">
              <a:buNone/>
              <a:defRPr sz="1350" b="1">
                <a:solidFill>
                  <a:srgbClr val="102A43"/>
                </a:solidFill>
              </a:defRPr>
            </a:lvl6pPr>
            <a:lvl7pPr algn="ctr">
              <a:buNone/>
              <a:defRPr sz="1350" b="1">
                <a:solidFill>
                  <a:srgbClr val="102A43"/>
                </a:solidFill>
              </a:defRPr>
            </a:lvl7pPr>
            <a:lvl8pPr algn="ctr">
              <a:buNone/>
              <a:defRPr sz="1350" b="1">
                <a:solidFill>
                  <a:srgbClr val="102A43"/>
                </a:solidFill>
              </a:defRPr>
            </a:lvl8pPr>
            <a:lvl9pPr algn="ctr">
              <a:buNone/>
              <a:defRPr sz="1350" b="1">
                <a:solidFill>
                  <a:srgbClr val="102A43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BPMN variables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67715" y="3716655"/>
            <a:ext cx="19526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buNone/>
              <a:defRPr sz="1350" b="1">
                <a:solidFill>
                  <a:srgbClr val="102A43"/>
                </a:solidFill>
              </a:defRPr>
            </a:lvl1pPr>
            <a:lvl2pPr algn="ctr">
              <a:buNone/>
              <a:defRPr sz="1350" b="1">
                <a:solidFill>
                  <a:srgbClr val="102A43"/>
                </a:solidFill>
              </a:defRPr>
            </a:lvl2pPr>
            <a:lvl3pPr algn="ctr">
              <a:buNone/>
              <a:defRPr sz="1350" b="1">
                <a:solidFill>
                  <a:srgbClr val="102A43"/>
                </a:solidFill>
              </a:defRPr>
            </a:lvl3pPr>
            <a:lvl4pPr algn="ctr">
              <a:buNone/>
              <a:defRPr sz="1350" b="1">
                <a:solidFill>
                  <a:srgbClr val="102A43"/>
                </a:solidFill>
              </a:defRPr>
            </a:lvl4pPr>
            <a:lvl5pPr algn="ctr">
              <a:buNone/>
              <a:defRPr sz="1350" b="1">
                <a:solidFill>
                  <a:srgbClr val="102A43"/>
                </a:solidFill>
              </a:defRPr>
            </a:lvl5pPr>
            <a:lvl6pPr algn="ctr">
              <a:buNone/>
              <a:defRPr sz="1350" b="1">
                <a:solidFill>
                  <a:srgbClr val="102A43"/>
                </a:solidFill>
              </a:defRPr>
            </a:lvl6pPr>
            <a:lvl7pPr algn="ctr">
              <a:buNone/>
              <a:defRPr sz="1350" b="1">
                <a:solidFill>
                  <a:srgbClr val="102A43"/>
                </a:solidFill>
              </a:defRPr>
            </a:lvl7pPr>
            <a:lvl8pPr algn="ctr">
              <a:buNone/>
              <a:defRPr sz="1350" b="1">
                <a:solidFill>
                  <a:srgbClr val="102A43"/>
                </a:solidFill>
              </a:defRPr>
            </a:lvl8pPr>
            <a:lvl9pPr algn="ctr">
              <a:buNone/>
              <a:defRPr sz="1350" b="1">
                <a:solidFill>
                  <a:srgbClr val="102A43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Tasklist confirmation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432175" y="3789045"/>
            <a:ext cx="1952625" cy="552450"/>
          </a:xfrm>
          <a:prstGeom prst="roundRect">
            <a:avLst>
              <a:gd name="adj" fmla="val 1034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08C95"/>
                </a:solidFill>
              </a:defRPr>
            </a:defPPr>
            <a:lvl1pPr algn="ctr">
              <a:buNone/>
              <a:defRPr sz="1350" b="1">
                <a:solidFill>
                  <a:srgbClr val="008C95"/>
                </a:solidFill>
              </a:defRPr>
            </a:lvl1pPr>
            <a:lvl2pPr algn="ctr">
              <a:buNone/>
              <a:defRPr sz="1350" b="1">
                <a:solidFill>
                  <a:srgbClr val="008C95"/>
                </a:solidFill>
              </a:defRPr>
            </a:lvl2pPr>
            <a:lvl3pPr algn="ctr">
              <a:buNone/>
              <a:defRPr sz="1350" b="1">
                <a:solidFill>
                  <a:srgbClr val="008C95"/>
                </a:solidFill>
              </a:defRPr>
            </a:lvl3pPr>
            <a:lvl4pPr algn="ctr">
              <a:buNone/>
              <a:defRPr sz="1350" b="1">
                <a:solidFill>
                  <a:srgbClr val="008C95"/>
                </a:solidFill>
              </a:defRPr>
            </a:lvl4pPr>
            <a:lvl5pPr algn="ctr">
              <a:buNone/>
              <a:defRPr sz="1350" b="1">
                <a:solidFill>
                  <a:srgbClr val="008C95"/>
                </a:solidFill>
              </a:defRPr>
            </a:lvl5pPr>
            <a:lvl6pPr algn="ctr">
              <a:buNone/>
              <a:defRPr sz="1350" b="1">
                <a:solidFill>
                  <a:srgbClr val="008C95"/>
                </a:solidFill>
              </a:defRPr>
            </a:lvl6pPr>
            <a:lvl7pPr algn="ctr">
              <a:buNone/>
              <a:defRPr sz="1350" b="1">
                <a:solidFill>
                  <a:srgbClr val="008C95"/>
                </a:solidFill>
              </a:defRPr>
            </a:lvl7pPr>
            <a:lvl8pPr algn="ctr">
              <a:buNone/>
              <a:defRPr sz="1350" b="1">
                <a:solidFill>
                  <a:srgbClr val="008C95"/>
                </a:solidFill>
              </a:defRPr>
            </a:lvl8pPr>
            <a:lvl9pPr algn="ctr">
              <a:buNone/>
              <a:defRPr sz="1350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dataConfirmed</a:t>
            </a:r>
            <a:endParaRPr sz="1350" b="1">
              <a:solidFill>
                <a:srgbClr val="008C95"/>
              </a:solidFill>
            </a:endParaRPr>
          </a:p>
          <a:p>
            <a:pPr algn="ctr">
              <a:buNone/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XOR gateway</a:t>
            </a:r>
            <a:endParaRPr sz="1350" b="1">
              <a:solidFill>
                <a:srgbClr val="008C9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664200" y="3860800"/>
            <a:ext cx="574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1">
                <a:solidFill>
                  <a:srgbClr val="008C95"/>
                </a:solidFill>
              </a:defRPr>
            </a:defPPr>
            <a:lvl1pPr algn="l">
              <a:buNone/>
              <a:defRPr sz="1275" b="1">
                <a:solidFill>
                  <a:srgbClr val="008C95"/>
                </a:solidFill>
              </a:defRPr>
            </a:lvl1pPr>
            <a:lvl2pPr algn="l">
              <a:buNone/>
              <a:defRPr sz="1275" b="1">
                <a:solidFill>
                  <a:srgbClr val="008C95"/>
                </a:solidFill>
              </a:defRPr>
            </a:lvl2pPr>
            <a:lvl3pPr algn="l">
              <a:buNone/>
              <a:defRPr sz="1275" b="1">
                <a:solidFill>
                  <a:srgbClr val="008C95"/>
                </a:solidFill>
              </a:defRPr>
            </a:lvl3pPr>
            <a:lvl4pPr algn="l">
              <a:buNone/>
              <a:defRPr sz="1275" b="1">
                <a:solidFill>
                  <a:srgbClr val="008C95"/>
                </a:solidFill>
              </a:defRPr>
            </a:lvl4pPr>
            <a:lvl5pPr algn="l">
              <a:buNone/>
              <a:defRPr sz="1275" b="1">
                <a:solidFill>
                  <a:srgbClr val="008C95"/>
                </a:solidFill>
              </a:defRPr>
            </a:lvl5pPr>
            <a:lvl6pPr algn="l">
              <a:buNone/>
              <a:defRPr sz="1275" b="1">
                <a:solidFill>
                  <a:srgbClr val="008C95"/>
                </a:solidFill>
              </a:defRPr>
            </a:lvl6pPr>
            <a:lvl7pPr algn="l">
              <a:buNone/>
              <a:defRPr sz="1275" b="1">
                <a:solidFill>
                  <a:srgbClr val="008C95"/>
                </a:solidFill>
              </a:defRPr>
            </a:lvl7pPr>
            <a:lvl8pPr algn="l">
              <a:buNone/>
              <a:defRPr sz="1275" b="1">
                <a:solidFill>
                  <a:srgbClr val="008C95"/>
                </a:solidFill>
              </a:defRPr>
            </a:lvl8pPr>
            <a:lvl9pPr algn="l">
              <a:buNone/>
              <a:defRPr sz="1275" b="1">
                <a:solidFill>
                  <a:srgbClr val="008C95"/>
                </a:solidFill>
              </a:defRPr>
            </a:lvl9pPr>
          </a:lstStyle>
          <a:p>
            <a:pPr algn="l">
              <a:buNone/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The API does not choose Yes or No. It only supplies patient data. A user makes the choice in Tasklist, and the gateway follows the value submitted by the form.</a:t>
            </a:r>
            <a:endParaRPr sz="1275" b="1">
              <a:solidFill>
                <a:srgbClr val="008C9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930" y="1562735"/>
            <a:ext cx="8667750" cy="4714875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623570" y="405130"/>
            <a:ext cx="6096000" cy="434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47625" y="1917065"/>
            <a:ext cx="2503805" cy="1337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>
                <a:solidFill>
                  <a:srgbClr val="172B4D"/>
                </a:solidFill>
              </a:rPr>
              <a:t>The referral and consultant-review route. The Validate Referral Reference worker checks the reference and writes the outcome by patientId.</a:t>
            </a:r>
            <a:endParaRPr sz="1350">
              <a:solidFill>
                <a:srgbClr val="172B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714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866775"/>
            <a:ext cx="9858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75" b="1">
                <a:solidFill>
                  <a:srgbClr val="102A43"/>
                </a:solidFill>
              </a:defRPr>
            </a:defPPr>
            <a:lvl1pPr algn="l">
              <a:buNone/>
              <a:defRPr sz="2175" b="1">
                <a:solidFill>
                  <a:srgbClr val="102A43"/>
                </a:solidFill>
              </a:defRPr>
            </a:lvl1pPr>
            <a:lvl2pPr algn="l">
              <a:buNone/>
              <a:defRPr sz="2175" b="1">
                <a:solidFill>
                  <a:srgbClr val="102A43"/>
                </a:solidFill>
              </a:defRPr>
            </a:lvl2pPr>
            <a:lvl3pPr algn="l">
              <a:buNone/>
              <a:defRPr sz="2175" b="1">
                <a:solidFill>
                  <a:srgbClr val="102A43"/>
                </a:solidFill>
              </a:defRPr>
            </a:lvl3pPr>
            <a:lvl4pPr algn="l">
              <a:buNone/>
              <a:defRPr sz="2175" b="1">
                <a:solidFill>
                  <a:srgbClr val="102A43"/>
                </a:solidFill>
              </a:defRPr>
            </a:lvl4pPr>
            <a:lvl5pPr algn="l">
              <a:buNone/>
              <a:defRPr sz="2175" b="1">
                <a:solidFill>
                  <a:srgbClr val="102A43"/>
                </a:solidFill>
              </a:defRPr>
            </a:lvl5pPr>
            <a:lvl6pPr algn="l">
              <a:buNone/>
              <a:defRPr sz="2175" b="1">
                <a:solidFill>
                  <a:srgbClr val="102A43"/>
                </a:solidFill>
              </a:defRPr>
            </a:lvl6pPr>
            <a:lvl7pPr algn="l">
              <a:buNone/>
              <a:defRPr sz="2175" b="1">
                <a:solidFill>
                  <a:srgbClr val="102A43"/>
                </a:solidFill>
              </a:defRPr>
            </a:lvl7pPr>
            <a:lvl8pPr algn="l">
              <a:buNone/>
              <a:defRPr sz="2175" b="1">
                <a:solidFill>
                  <a:srgbClr val="102A43"/>
                </a:solidFill>
              </a:defRPr>
            </a:lvl8pPr>
            <a:lvl9pPr algn="l">
              <a:buNone/>
              <a:defRPr sz="2175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Referral and Consultant Review</a:t>
            </a:r>
            <a:endParaRPr sz="2175" b="1">
              <a:solidFill>
                <a:srgbClr val="102A4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44250" y="9048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07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552450" y="1581150"/>
            <a:ext cx="295275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</a:defRPr>
            </a:defPPr>
            <a:lvl1pPr algn="ctr">
              <a:buNone/>
              <a:defRPr sz="1050" b="1">
                <a:solidFill>
                  <a:srgbClr val="008C95"/>
                </a:solidFill>
              </a:defRPr>
            </a:lvl1pPr>
            <a:lvl2pPr algn="ctr">
              <a:buNone/>
              <a:defRPr sz="1050" b="1">
                <a:solidFill>
                  <a:srgbClr val="008C95"/>
                </a:solidFill>
              </a:defRPr>
            </a:lvl2pPr>
            <a:lvl3pPr algn="ctr">
              <a:buNone/>
              <a:defRPr sz="1050" b="1">
                <a:solidFill>
                  <a:srgbClr val="008C95"/>
                </a:solidFill>
              </a:defRPr>
            </a:lvl3pPr>
            <a:lvl4pPr algn="ctr">
              <a:buNone/>
              <a:defRPr sz="1050" b="1">
                <a:solidFill>
                  <a:srgbClr val="008C95"/>
                </a:solidFill>
              </a:defRPr>
            </a:lvl4pPr>
            <a:lvl5pPr algn="ctr">
              <a:buNone/>
              <a:defRPr sz="1050" b="1">
                <a:solidFill>
                  <a:srgbClr val="008C95"/>
                </a:solidFill>
              </a:defRPr>
            </a:lvl5pPr>
            <a:lvl6pPr algn="ctr">
              <a:buNone/>
              <a:defRPr sz="1050" b="1">
                <a:solidFill>
                  <a:srgbClr val="008C95"/>
                </a:solidFill>
              </a:defRPr>
            </a:lvl6pPr>
            <a:lvl7pPr algn="ctr">
              <a:buNone/>
              <a:defRPr sz="1050" b="1">
                <a:solidFill>
                  <a:srgbClr val="008C95"/>
                </a:solidFill>
              </a:defRPr>
            </a:lvl7pPr>
            <a:lvl8pPr algn="ctr">
              <a:buNone/>
              <a:defRPr sz="1050" b="1">
                <a:solidFill>
                  <a:srgbClr val="008C95"/>
                </a:solidFill>
              </a:defRPr>
            </a:lvl8pPr>
            <a:lvl9pPr algn="ctr">
              <a:buNone/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buNone/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Further Development | Dengjinwang Deng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91770" y="3255010"/>
            <a:ext cx="2667000" cy="266700"/>
          </a:xfrm>
          <a:prstGeom prst="roundRect">
            <a:avLst>
              <a:gd name="adj" fmla="val 28571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9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H2 record written by Validate Referral Reference</a:t>
            </a:r>
            <a:endParaRPr sz="900" b="1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" y="3591560"/>
            <a:ext cx="3818890" cy="306705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Appointment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08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" y="1485265"/>
            <a:ext cx="2223135" cy="26739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  appointment confirmation and the patient-facing communication route. Explain how an appointment outcome becomes a controlled process decision.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update:</a:t>
            </a:r>
            <a:r>
              <a:rPr sz="1350" b="0">
                <a:solidFill>
                  <a:srgbClr val="172B4D"/>
                </a:solidFill>
              </a:rPr>
              <a:t>M</a:t>
            </a:r>
            <a:r>
              <a:rPr sz="1350" b="0">
                <a:solidFill>
                  <a:srgbClr val="172B4D"/>
                </a:solidFill>
              </a:rPr>
              <a:t>odelled and connected. The next action was to verify their forms and integration conditions.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665" y="1772920"/>
            <a:ext cx="9635490" cy="4310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Further Development: Funding, Payment and Refund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10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6990" y="1485265"/>
            <a:ext cx="251714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Wu Tongyu developed the Funding, Payment and Refund route.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The form captures funding type, organisation, approval reference and payment scenario.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The process branches to hospital, insurer or patient funding and uses a controlled retry task after a declined payment.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Confirmation loss is investigated rather than automatically charged again. A refund reaches the worker only after Finance approval.</a:t>
            </a:r>
            <a:endParaRPr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8875" y="1714500"/>
            <a:ext cx="9191625" cy="40957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9525"/>
            <a:ext cx="9525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Teacher Feedback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11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1905000"/>
            <a:ext cx="3429000" cy="400050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buNone/>
              <a:defRPr sz="1275" b="1">
                <a:solidFill>
                  <a:srgbClr val="FFFFFF"/>
                </a:solidFill>
              </a:defRPr>
            </a:lvl1pPr>
            <a:lvl2pPr algn="ctr">
              <a:buNone/>
              <a:defRPr sz="1275" b="1">
                <a:solidFill>
                  <a:srgbClr val="FFFFFF"/>
                </a:solidFill>
              </a:defRPr>
            </a:lvl2pPr>
            <a:lvl3pPr algn="ctr">
              <a:buNone/>
              <a:defRPr sz="1275" b="1">
                <a:solidFill>
                  <a:srgbClr val="FFFFFF"/>
                </a:solidFill>
              </a:defRPr>
            </a:lvl3pPr>
            <a:lvl4pPr algn="ctr">
              <a:buNone/>
              <a:defRPr sz="1275" b="1">
                <a:solidFill>
                  <a:srgbClr val="FFFFFF"/>
                </a:solidFill>
              </a:defRPr>
            </a:lvl4pPr>
            <a:lvl5pPr algn="ctr">
              <a:buNone/>
              <a:defRPr sz="1275" b="1">
                <a:solidFill>
                  <a:srgbClr val="FFFFFF"/>
                </a:solidFill>
              </a:defRPr>
            </a:lvl5pPr>
            <a:lvl6pPr algn="ctr">
              <a:buNone/>
              <a:defRPr sz="1275" b="1">
                <a:solidFill>
                  <a:srgbClr val="FFFFFF"/>
                </a:solidFill>
              </a:defRPr>
            </a:lvl6pPr>
            <a:lvl7pPr algn="ctr">
              <a:buNone/>
              <a:defRPr sz="1275" b="1">
                <a:solidFill>
                  <a:srgbClr val="FFFFFF"/>
                </a:solidFill>
              </a:defRPr>
            </a:lvl7pPr>
            <a:lvl8pPr algn="ctr">
              <a:buNone/>
              <a:defRPr sz="1275" b="1">
                <a:solidFill>
                  <a:srgbClr val="FFFFFF"/>
                </a:solidFill>
              </a:defRPr>
            </a:lvl8pPr>
            <a:lvl9pPr algn="ctr">
              <a:buNone/>
              <a:defRPr sz="1275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Feedback point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095750" y="1905000"/>
            <a:ext cx="6667500" cy="400050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buNone/>
              <a:defRPr sz="1275" b="1">
                <a:solidFill>
                  <a:srgbClr val="FFFFFF"/>
                </a:solidFill>
              </a:defRPr>
            </a:lvl1pPr>
            <a:lvl2pPr algn="l">
              <a:buNone/>
              <a:defRPr sz="1275" b="1">
                <a:solidFill>
                  <a:srgbClr val="FFFFFF"/>
                </a:solidFill>
              </a:defRPr>
            </a:lvl2pPr>
            <a:lvl3pPr algn="l">
              <a:buNone/>
              <a:defRPr sz="1275" b="1">
                <a:solidFill>
                  <a:srgbClr val="FFFFFF"/>
                </a:solidFill>
              </a:defRPr>
            </a:lvl3pPr>
            <a:lvl4pPr algn="l">
              <a:buNone/>
              <a:defRPr sz="1275" b="1">
                <a:solidFill>
                  <a:srgbClr val="FFFFFF"/>
                </a:solidFill>
              </a:defRPr>
            </a:lvl4pPr>
            <a:lvl5pPr algn="l">
              <a:buNone/>
              <a:defRPr sz="1275" b="1">
                <a:solidFill>
                  <a:srgbClr val="FFFFFF"/>
                </a:solidFill>
              </a:defRPr>
            </a:lvl5pPr>
            <a:lvl6pPr algn="l">
              <a:buNone/>
              <a:defRPr sz="1275" b="1">
                <a:solidFill>
                  <a:srgbClr val="FFFFFF"/>
                </a:solidFill>
              </a:defRPr>
            </a:lvl6pPr>
            <a:lvl7pPr algn="l">
              <a:buNone/>
              <a:defRPr sz="1275" b="1">
                <a:solidFill>
                  <a:srgbClr val="FFFFFF"/>
                </a:solidFill>
              </a:defRPr>
            </a:lvl7pPr>
            <a:lvl8pPr algn="l">
              <a:buNone/>
              <a:defRPr sz="1275" b="1">
                <a:solidFill>
                  <a:srgbClr val="FFFFFF"/>
                </a:solidFill>
              </a:defRPr>
            </a:lvl8pPr>
            <a:lvl9pPr algn="l">
              <a:buNone/>
              <a:defRPr sz="1275" b="1">
                <a:solidFill>
                  <a:srgbClr val="FFFFFF"/>
                </a:solidFill>
              </a:defRPr>
            </a:lvl9pPr>
          </a:lstStyle>
          <a:p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Priority decision and planned action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26289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buNone/>
              <a:defRPr sz="1350" b="0">
                <a:solidFill>
                  <a:srgbClr val="102A43"/>
                </a:solidFill>
              </a:defRPr>
            </a:lvl1pPr>
            <a:lvl2pPr algn="l">
              <a:buNone/>
              <a:defRPr sz="1350" b="0">
                <a:solidFill>
                  <a:srgbClr val="102A43"/>
                </a:solidFill>
              </a:defRPr>
            </a:lvl2pPr>
            <a:lvl3pPr algn="l">
              <a:buNone/>
              <a:defRPr sz="1350" b="0">
                <a:solidFill>
                  <a:srgbClr val="102A43"/>
                </a:solidFill>
              </a:defRPr>
            </a:lvl3pPr>
            <a:lvl4pPr algn="l">
              <a:buNone/>
              <a:defRPr sz="1350" b="0">
                <a:solidFill>
                  <a:srgbClr val="102A43"/>
                </a:solidFill>
              </a:defRPr>
            </a:lvl4pPr>
            <a:lvl5pPr algn="l">
              <a:buNone/>
              <a:defRPr sz="1350" b="0">
                <a:solidFill>
                  <a:srgbClr val="102A43"/>
                </a:solidFill>
              </a:defRPr>
            </a:lvl5pPr>
            <a:lvl6pPr algn="l">
              <a:buNone/>
              <a:defRPr sz="1350" b="0">
                <a:solidFill>
                  <a:srgbClr val="102A43"/>
                </a:solidFill>
              </a:defRPr>
            </a:lvl6pPr>
            <a:lvl7pPr algn="l">
              <a:buNone/>
              <a:defRPr sz="1350" b="0">
                <a:solidFill>
                  <a:srgbClr val="102A43"/>
                </a:solidFill>
              </a:defRPr>
            </a:lvl7pPr>
            <a:lvl8pPr algn="l">
              <a:buNone/>
              <a:defRPr sz="1350" b="0">
                <a:solidFill>
                  <a:srgbClr val="102A43"/>
                </a:solidFill>
              </a:defRPr>
            </a:lvl8pPr>
            <a:lvl9pPr algn="l">
              <a:buNone/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Form validation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95750" y="26289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R</a:t>
            </a:r>
            <a:r>
              <a:rPr sz="1350" b="0">
                <a:solidFill>
                  <a:srgbClr val="172B4D"/>
                </a:solidFill>
              </a:rPr>
              <a:t>equire valid inputs and use controlled options for routing values.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66750" y="33528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buNone/>
              <a:defRPr sz="1350" b="0">
                <a:solidFill>
                  <a:srgbClr val="102A43"/>
                </a:solidFill>
              </a:defRPr>
            </a:lvl1pPr>
            <a:lvl2pPr algn="l">
              <a:buNone/>
              <a:defRPr sz="1350" b="0">
                <a:solidFill>
                  <a:srgbClr val="102A43"/>
                </a:solidFill>
              </a:defRPr>
            </a:lvl2pPr>
            <a:lvl3pPr algn="l">
              <a:buNone/>
              <a:defRPr sz="1350" b="0">
                <a:solidFill>
                  <a:srgbClr val="102A43"/>
                </a:solidFill>
              </a:defRPr>
            </a:lvl3pPr>
            <a:lvl4pPr algn="l">
              <a:buNone/>
              <a:defRPr sz="1350" b="0">
                <a:solidFill>
                  <a:srgbClr val="102A43"/>
                </a:solidFill>
              </a:defRPr>
            </a:lvl4pPr>
            <a:lvl5pPr algn="l">
              <a:buNone/>
              <a:defRPr sz="1350" b="0">
                <a:solidFill>
                  <a:srgbClr val="102A43"/>
                </a:solidFill>
              </a:defRPr>
            </a:lvl5pPr>
            <a:lvl6pPr algn="l">
              <a:buNone/>
              <a:defRPr sz="1350" b="0">
                <a:solidFill>
                  <a:srgbClr val="102A43"/>
                </a:solidFill>
              </a:defRPr>
            </a:lvl6pPr>
            <a:lvl7pPr algn="l">
              <a:buNone/>
              <a:defRPr sz="1350" b="0">
                <a:solidFill>
                  <a:srgbClr val="102A43"/>
                </a:solidFill>
              </a:defRPr>
            </a:lvl7pPr>
            <a:lvl8pPr algn="l">
              <a:buNone/>
              <a:defRPr sz="1350" b="0">
                <a:solidFill>
                  <a:srgbClr val="102A43"/>
                </a:solidFill>
              </a:defRPr>
            </a:lvl8pPr>
            <a:lvl9pPr algn="l">
              <a:buNone/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Merging gateways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095750" y="33528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R</a:t>
            </a:r>
            <a:r>
              <a:rPr sz="1350" b="0">
                <a:solidFill>
                  <a:srgbClr val="172B4D"/>
                </a:solidFill>
              </a:rPr>
              <a:t>emove duplicate downstream paths and converge alternatives safely.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40767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buNone/>
              <a:defRPr sz="1350" b="0">
                <a:solidFill>
                  <a:srgbClr val="102A43"/>
                </a:solidFill>
              </a:defRPr>
            </a:lvl1pPr>
            <a:lvl2pPr algn="l">
              <a:buNone/>
              <a:defRPr sz="1350" b="0">
                <a:solidFill>
                  <a:srgbClr val="102A43"/>
                </a:solidFill>
              </a:defRPr>
            </a:lvl2pPr>
            <a:lvl3pPr algn="l">
              <a:buNone/>
              <a:defRPr sz="1350" b="0">
                <a:solidFill>
                  <a:srgbClr val="102A43"/>
                </a:solidFill>
              </a:defRPr>
            </a:lvl3pPr>
            <a:lvl4pPr algn="l">
              <a:buNone/>
              <a:defRPr sz="1350" b="0">
                <a:solidFill>
                  <a:srgbClr val="102A43"/>
                </a:solidFill>
              </a:defRPr>
            </a:lvl4pPr>
            <a:lvl5pPr algn="l">
              <a:buNone/>
              <a:defRPr sz="1350" b="0">
                <a:solidFill>
                  <a:srgbClr val="102A43"/>
                </a:solidFill>
              </a:defRPr>
            </a:lvl5pPr>
            <a:lvl6pPr algn="l">
              <a:buNone/>
              <a:defRPr sz="1350" b="0">
                <a:solidFill>
                  <a:srgbClr val="102A43"/>
                </a:solidFill>
              </a:defRPr>
            </a:lvl6pPr>
            <a:lvl7pPr algn="l">
              <a:buNone/>
              <a:defRPr sz="1350" b="0">
                <a:solidFill>
                  <a:srgbClr val="102A43"/>
                </a:solidFill>
              </a:defRPr>
            </a:lvl7pPr>
            <a:lvl8pPr algn="l">
              <a:buNone/>
              <a:defRPr sz="1350" b="0">
                <a:solidFill>
                  <a:srgbClr val="102A43"/>
                </a:solidFill>
              </a:defRPr>
            </a:lvl8pPr>
            <a:lvl9pPr algn="l">
              <a:buNone/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Forms for scenarios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095750" y="40767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P</a:t>
            </a:r>
            <a:r>
              <a:rPr sz="1350" b="0">
                <a:solidFill>
                  <a:srgbClr val="172B4D"/>
                </a:solidFill>
              </a:rPr>
              <a:t>rovide normal, exception and retry decisions in Tasklist.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66750" y="48006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buNone/>
              <a:defRPr sz="1350" b="0">
                <a:solidFill>
                  <a:srgbClr val="102A43"/>
                </a:solidFill>
              </a:defRPr>
            </a:lvl1pPr>
            <a:lvl2pPr algn="l">
              <a:buNone/>
              <a:defRPr sz="1350" b="0">
                <a:solidFill>
                  <a:srgbClr val="102A43"/>
                </a:solidFill>
              </a:defRPr>
            </a:lvl2pPr>
            <a:lvl3pPr algn="l">
              <a:buNone/>
              <a:defRPr sz="1350" b="0">
                <a:solidFill>
                  <a:srgbClr val="102A43"/>
                </a:solidFill>
              </a:defRPr>
            </a:lvl3pPr>
            <a:lvl4pPr algn="l">
              <a:buNone/>
              <a:defRPr sz="1350" b="0">
                <a:solidFill>
                  <a:srgbClr val="102A43"/>
                </a:solidFill>
              </a:defRPr>
            </a:lvl4pPr>
            <a:lvl5pPr algn="l">
              <a:buNone/>
              <a:defRPr sz="1350" b="0">
                <a:solidFill>
                  <a:srgbClr val="102A43"/>
                </a:solidFill>
              </a:defRPr>
            </a:lvl5pPr>
            <a:lvl6pPr algn="l">
              <a:buNone/>
              <a:defRPr sz="1350" b="0">
                <a:solidFill>
                  <a:srgbClr val="102A43"/>
                </a:solidFill>
              </a:defRPr>
            </a:lvl6pPr>
            <a:lvl7pPr algn="l">
              <a:buNone/>
              <a:defRPr sz="1350" b="0">
                <a:solidFill>
                  <a:srgbClr val="102A43"/>
                </a:solidFill>
              </a:defRPr>
            </a:lvl7pPr>
            <a:lvl8pPr algn="l">
              <a:buNone/>
              <a:defRPr sz="1350" b="0">
                <a:solidFill>
                  <a:srgbClr val="102A43"/>
                </a:solidFill>
              </a:defRPr>
            </a:lvl8pPr>
            <a:lvl9pPr algn="l">
              <a:buNone/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Data persistence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095750" y="48006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K</a:t>
            </a:r>
            <a:r>
              <a:rPr sz="1350" b="0">
                <a:solidFill>
                  <a:srgbClr val="172B4D"/>
                </a:solidFill>
              </a:rPr>
              <a:t>eep application data after worker restart and retrieve it by patientId.</a:t>
            </a:r>
            <a:endParaRPr sz="1350" b="0">
              <a:solidFill>
                <a:srgbClr val="172B4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Feedback Improvement: Clinical Form Validation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12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9380" y="1485265"/>
            <a:ext cx="225171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Lin Jiaqiang developed the treatment and chemotherapy route and strengthened clinical task validation.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Required patient, clinical, decision and outcome fields prevent a task from completing with missing values.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Controlled selections give gateways predictable values rather than relying on free text.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The improvement protects clinical safety because the process does not progress until required information is present.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05" y="1557020"/>
            <a:ext cx="9488805" cy="3438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Feedback Improvement: Merging Gateways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13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63525" y="1628775"/>
            <a:ext cx="235204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A merging gateway brings alternative paths back into one controlled downstream path.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This prevents duplicated tasks after successful and corrected outcomes.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Release 2 uses named convergence points in Appointment, Finance, Treatment and Clinic Letter processes.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</a:t>
            </a:r>
            <a:r>
              <a:rPr sz="1350" b="0">
                <a:solidFill>
                  <a:srgbClr val="172B4D"/>
                </a:solidFill>
              </a:rPr>
              <a:t>T</a:t>
            </a:r>
            <a:r>
              <a:rPr sz="1350" b="0">
                <a:solidFill>
                  <a:srgbClr val="172B4D"/>
                </a:solidFill>
              </a:rPr>
              <a:t>he appointment merge: separate booking outcomes converge before the shared notification or follow-up activity.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565" y="1657350"/>
            <a:ext cx="8965565" cy="4236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buNone/>
              <a:defRPr sz="1050" b="1">
                <a:solidFill>
                  <a:srgbClr val="CFE2F3"/>
                </a:solidFill>
              </a:defRPr>
            </a:lvl1pPr>
            <a:lvl2pPr algn="l">
              <a:buNone/>
              <a:defRPr sz="1050" b="1">
                <a:solidFill>
                  <a:srgbClr val="CFE2F3"/>
                </a:solidFill>
              </a:defRPr>
            </a:lvl2pPr>
            <a:lvl3pPr algn="l">
              <a:buNone/>
              <a:defRPr sz="1050" b="1">
                <a:solidFill>
                  <a:srgbClr val="CFE2F3"/>
                </a:solidFill>
              </a:defRPr>
            </a:lvl3pPr>
            <a:lvl4pPr algn="l">
              <a:buNone/>
              <a:defRPr sz="1050" b="1">
                <a:solidFill>
                  <a:srgbClr val="CFE2F3"/>
                </a:solidFill>
              </a:defRPr>
            </a:lvl4pPr>
            <a:lvl5pPr algn="l">
              <a:buNone/>
              <a:defRPr sz="1050" b="1">
                <a:solidFill>
                  <a:srgbClr val="CFE2F3"/>
                </a:solidFill>
              </a:defRPr>
            </a:lvl5pPr>
            <a:lvl6pPr algn="l">
              <a:buNone/>
              <a:defRPr sz="1050" b="1">
                <a:solidFill>
                  <a:srgbClr val="CFE2F3"/>
                </a:solidFill>
              </a:defRPr>
            </a:lvl6pPr>
            <a:lvl7pPr algn="l">
              <a:buNone/>
              <a:defRPr sz="1050" b="1">
                <a:solidFill>
                  <a:srgbClr val="CFE2F3"/>
                </a:solidFill>
              </a:defRPr>
            </a:lvl7pPr>
            <a:lvl8pPr algn="l">
              <a:buNone/>
              <a:defRPr sz="1050" b="1">
                <a:solidFill>
                  <a:srgbClr val="CFE2F3"/>
                </a:solidFill>
              </a:defRPr>
            </a:lvl8pPr>
            <a:lvl9pPr algn="l">
              <a:buNone/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buNone/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buNone/>
              <a:defRPr sz="2250" b="1">
                <a:solidFill>
                  <a:srgbClr val="102A43"/>
                </a:solidFill>
              </a:defRPr>
            </a:lvl1pPr>
            <a:lvl2pPr algn="l">
              <a:buNone/>
              <a:defRPr sz="2250" b="1">
                <a:solidFill>
                  <a:srgbClr val="102A43"/>
                </a:solidFill>
              </a:defRPr>
            </a:lvl2pPr>
            <a:lvl3pPr algn="l">
              <a:buNone/>
              <a:defRPr sz="2250" b="1">
                <a:solidFill>
                  <a:srgbClr val="102A43"/>
                </a:solidFill>
              </a:defRPr>
            </a:lvl3pPr>
            <a:lvl4pPr algn="l">
              <a:buNone/>
              <a:defRPr sz="2250" b="1">
                <a:solidFill>
                  <a:srgbClr val="102A43"/>
                </a:solidFill>
              </a:defRPr>
            </a:lvl4pPr>
            <a:lvl5pPr algn="l">
              <a:buNone/>
              <a:defRPr sz="2250" b="1">
                <a:solidFill>
                  <a:srgbClr val="102A43"/>
                </a:solidFill>
              </a:defRPr>
            </a:lvl5pPr>
            <a:lvl6pPr algn="l">
              <a:buNone/>
              <a:defRPr sz="2250" b="1">
                <a:solidFill>
                  <a:srgbClr val="102A43"/>
                </a:solidFill>
              </a:defRPr>
            </a:lvl6pPr>
            <a:lvl7pPr algn="l">
              <a:buNone/>
              <a:defRPr sz="2250" b="1">
                <a:solidFill>
                  <a:srgbClr val="102A43"/>
                </a:solidFill>
              </a:defRPr>
            </a:lvl7pPr>
            <a:lvl8pPr algn="l">
              <a:buNone/>
              <a:defRPr sz="2250" b="1">
                <a:solidFill>
                  <a:srgbClr val="102A43"/>
                </a:solidFill>
              </a:defRPr>
            </a:lvl8pPr>
            <a:lvl9pPr algn="l">
              <a:buNone/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Feedback Improvement: Forms for Business Scenarios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buNone/>
              <a:defRPr sz="1350" b="1">
                <a:solidFill>
                  <a:srgbClr val="1F6FEB"/>
                </a:solidFill>
              </a:defRPr>
            </a:lvl1pPr>
            <a:lvl2pPr algn="r">
              <a:buNone/>
              <a:defRPr sz="1350" b="1">
                <a:solidFill>
                  <a:srgbClr val="1F6FEB"/>
                </a:solidFill>
              </a:defRPr>
            </a:lvl2pPr>
            <a:lvl3pPr algn="r">
              <a:buNone/>
              <a:defRPr sz="1350" b="1">
                <a:solidFill>
                  <a:srgbClr val="1F6FEB"/>
                </a:solidFill>
              </a:defRPr>
            </a:lvl3pPr>
            <a:lvl4pPr algn="r">
              <a:buNone/>
              <a:defRPr sz="1350" b="1">
                <a:solidFill>
                  <a:srgbClr val="1F6FEB"/>
                </a:solidFill>
              </a:defRPr>
            </a:lvl4pPr>
            <a:lvl5pPr algn="r">
              <a:buNone/>
              <a:defRPr sz="1350" b="1">
                <a:solidFill>
                  <a:srgbClr val="1F6FEB"/>
                </a:solidFill>
              </a:defRPr>
            </a:lvl5pPr>
            <a:lvl6pPr algn="r">
              <a:buNone/>
              <a:defRPr sz="1350" b="1">
                <a:solidFill>
                  <a:srgbClr val="1F6FEB"/>
                </a:solidFill>
              </a:defRPr>
            </a:lvl6pPr>
            <a:lvl7pPr algn="r">
              <a:buNone/>
              <a:defRPr sz="1350" b="1">
                <a:solidFill>
                  <a:srgbClr val="1F6FEB"/>
                </a:solidFill>
              </a:defRPr>
            </a:lvl7pPr>
            <a:lvl8pPr algn="r">
              <a:buNone/>
              <a:defRPr sz="1350" b="1">
                <a:solidFill>
                  <a:srgbClr val="1F6FEB"/>
                </a:solidFill>
              </a:defRPr>
            </a:lvl8pPr>
            <a:lvl9pPr algn="r">
              <a:buNone/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buNone/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14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9380" y="1447800"/>
            <a:ext cx="262001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buNone/>
              <a:defRPr sz="1350" b="0">
                <a:solidFill>
                  <a:srgbClr val="172B4D"/>
                </a:solidFill>
              </a:defRPr>
            </a:lvl1pPr>
            <a:lvl2pPr algn="l">
              <a:buNone/>
              <a:defRPr sz="1350" b="0">
                <a:solidFill>
                  <a:srgbClr val="172B4D"/>
                </a:solidFill>
              </a:defRPr>
            </a:lvl2pPr>
            <a:lvl3pPr algn="l">
              <a:buNone/>
              <a:defRPr sz="1350" b="0">
                <a:solidFill>
                  <a:srgbClr val="172B4D"/>
                </a:solidFill>
              </a:defRPr>
            </a:lvl3pPr>
            <a:lvl4pPr algn="l">
              <a:buNone/>
              <a:defRPr sz="1350" b="0">
                <a:solidFill>
                  <a:srgbClr val="172B4D"/>
                </a:solidFill>
              </a:defRPr>
            </a:lvl4pPr>
            <a:lvl5pPr algn="l">
              <a:buNone/>
              <a:defRPr sz="1350" b="0">
                <a:solidFill>
                  <a:srgbClr val="172B4D"/>
                </a:solidFill>
              </a:defRPr>
            </a:lvl5pPr>
            <a:lvl6pPr algn="l">
              <a:buNone/>
              <a:defRPr sz="1350" b="0">
                <a:solidFill>
                  <a:srgbClr val="172B4D"/>
                </a:solidFill>
              </a:defRPr>
            </a:lvl6pPr>
            <a:lvl7pPr algn="l">
              <a:buNone/>
              <a:defRPr sz="1350" b="0">
                <a:solidFill>
                  <a:srgbClr val="172B4D"/>
                </a:solidFill>
              </a:defRPr>
            </a:lvl7pPr>
            <a:lvl8pPr algn="l">
              <a:buNone/>
              <a:defRPr sz="1350" b="0">
                <a:solidFill>
                  <a:srgbClr val="172B4D"/>
                </a:solidFill>
              </a:defRPr>
            </a:lvl8pPr>
            <a:lvl9pPr algn="l">
              <a:buNone/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developed enquiry, clinic-letter and monitoring work.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The forms cover normal communication as well as delayed, missing or rejected information scenarios.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Each exception form captures the user decision needed to retry, escalate or end the route safely.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The forms turn business rules into visible and testable Tasklist behaviour.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9695" y="1701165"/>
            <a:ext cx="9507855" cy="49193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9420</Words>
  <Application>WPS 演示</Application>
  <PresentationFormat>Converted Presentation</PresentationFormat>
  <Paragraphs>300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going</cp:lastModifiedBy>
  <cp:revision>1</cp:revision>
  <dcterms:created xsi:type="dcterms:W3CDTF">2026-10-21T12:03:29Z</dcterms:created>
  <dcterms:modified xsi:type="dcterms:W3CDTF">2026-10-21T12:03:29Z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BB562561050B483BB2246D1B52B76E15_12</vt:lpwstr>
  </property>
  <property fmtid="{D5CDD505-2E9C-101B-9397-08002B2CF9AE}" pid="3" name="KSOProductBuildVer">
    <vt:lpwstr>2052-12.1.0.28505</vt:lpwstr>
  </property>
</Properties>
</file>